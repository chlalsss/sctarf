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648" r:id="rId1"/>
  </p:sldMasterIdLst>
  <p:notesMasterIdLst>
    <p:notesMasterId r:id="rId16"/>
  </p:notesMasterIdLst>
  <p:handoutMasterIdLst>
    <p:handoutMasterId r:id="rId17"/>
  </p:handoutMasterIdLst>
  <p:sldIdLst>
    <p:sldId id="2291" r:id="rId2"/>
    <p:sldId id="2289" r:id="rId3"/>
    <p:sldId id="2286" r:id="rId4"/>
    <p:sldId id="2272" r:id="rId5"/>
    <p:sldId id="2269" r:id="rId6"/>
    <p:sldId id="2273" r:id="rId7"/>
    <p:sldId id="2270" r:id="rId8"/>
    <p:sldId id="2283" r:id="rId9"/>
    <p:sldId id="2275" r:id="rId10"/>
    <p:sldId id="2293" r:id="rId11"/>
    <p:sldId id="2294" r:id="rId12"/>
    <p:sldId id="2295" r:id="rId13"/>
    <p:sldId id="2292" r:id="rId14"/>
    <p:sldId id="2290" r:id="rId15"/>
  </p:sldIdLst>
  <p:sldSz cx="12192000" cy="6858000"/>
  <p:notesSz cx="6784975" cy="99187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469" userDrawn="1">
          <p15:clr>
            <a:srgbClr val="A4A3A4"/>
          </p15:clr>
        </p15:guide>
        <p15:guide id="3" orient="horz" pos="4201" userDrawn="1">
          <p15:clr>
            <a:srgbClr val="A4A3A4"/>
          </p15:clr>
        </p15:guide>
        <p15:guide id="4" pos="21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xp" initials="cx" lastIdx="0" clrIdx="0"/>
  <p:cmAuthor id="2" name="Fengxian WU" initials="F" lastIdx="0" clrIdx="1"/>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8281" autoAdjust="0"/>
  </p:normalViewPr>
  <p:slideViewPr>
    <p:cSldViewPr snapToGrid="0" showGuides="1">
      <p:cViewPr varScale="1">
        <p:scale>
          <a:sx n="97" d="100"/>
          <a:sy n="97" d="100"/>
        </p:scale>
        <p:origin x="296" y="72"/>
      </p:cViewPr>
      <p:guideLst>
        <p:guide orient="horz" pos="2160"/>
        <p:guide pos="7469"/>
        <p:guide orient="horz" pos="4201"/>
        <p:guide pos="211"/>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60"/>
    </p:cViewPr>
  </p:sorterViewPr>
  <p:notesViewPr>
    <p:cSldViewPr snapToGrid="0">
      <p:cViewPr varScale="1">
        <p:scale>
          <a:sx n="113" d="100"/>
          <a:sy n="113" d="100"/>
        </p:scale>
        <p:origin x="4986"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3249" y="0"/>
            <a:ext cx="2940156" cy="497658"/>
          </a:xfrm>
          <a:prstGeom prst="rect">
            <a:avLst/>
          </a:prstGeom>
        </p:spPr>
        <p:txBody>
          <a:bodyPr vert="horz" lIns="91440" tIns="45720" rIns="91440" bIns="45720" rtlCol="0"/>
          <a:lstStyle>
            <a:lvl1pPr algn="r">
              <a:defRPr sz="1200"/>
            </a:lvl1pPr>
          </a:lstStyle>
          <a:p>
            <a:fld id="{3CC7F54C-37C4-4BF4-BFE3-C27AF4B991CA}" type="datetimeFigureOut">
              <a:rPr lang="zh-CN" altLang="en-US" smtClean="0"/>
              <a:t>2026/3/15</a:t>
            </a:fld>
            <a:endParaRPr lang="zh-CN" altLang="en-US"/>
          </a:p>
        </p:txBody>
      </p:sp>
      <p:sp>
        <p:nvSpPr>
          <p:cNvPr id="4" name="页脚占位符 3"/>
          <p:cNvSpPr>
            <a:spLocks noGrp="1"/>
          </p:cNvSpPr>
          <p:nvPr>
            <p:ph type="ftr" sz="quarter" idx="2"/>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3249" y="9421044"/>
            <a:ext cx="2940156" cy="497656"/>
          </a:xfrm>
          <a:prstGeom prst="rect">
            <a:avLst/>
          </a:prstGeom>
        </p:spPr>
        <p:txBody>
          <a:bodyPr vert="horz" lIns="91440" tIns="45720" rIns="91440" bIns="45720" rtlCol="0" anchor="b"/>
          <a:lstStyle>
            <a:lvl1pPr algn="r">
              <a:defRPr sz="1200"/>
            </a:lvl1pPr>
          </a:lstStyle>
          <a:p>
            <a:fld id="{46B49DDB-6E2D-4EBF-BA11-33B59819744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3249" y="0"/>
            <a:ext cx="2940156" cy="497658"/>
          </a:xfrm>
          <a:prstGeom prst="rect">
            <a:avLst/>
          </a:prstGeom>
        </p:spPr>
        <p:txBody>
          <a:bodyPr vert="horz" lIns="91440" tIns="45720" rIns="91440" bIns="45720" rtlCol="0"/>
          <a:lstStyle>
            <a:lvl1pPr algn="r">
              <a:defRPr sz="1200"/>
            </a:lvl1pPr>
          </a:lstStyle>
          <a:p>
            <a:fld id="{4E31F4A4-A522-43EE-BB05-ADEFB8783349}" type="datetimeFigureOut">
              <a:rPr lang="zh-CN" altLang="en-US" smtClean="0"/>
              <a:t>2026/3/15</a:t>
            </a:fld>
            <a:endParaRPr lang="zh-CN" altLang="en-US"/>
          </a:p>
        </p:txBody>
      </p:sp>
      <p:sp>
        <p:nvSpPr>
          <p:cNvPr id="4" name="幻灯片图像占位符 3"/>
          <p:cNvSpPr>
            <a:spLocks noGrp="1" noRot="1" noChangeAspect="1"/>
          </p:cNvSpPr>
          <p:nvPr>
            <p:ph type="sldImg" idx="2"/>
          </p:nvPr>
        </p:nvSpPr>
        <p:spPr>
          <a:xfrm>
            <a:off x="417513" y="1239838"/>
            <a:ext cx="5949950" cy="3348037"/>
          </a:xfrm>
          <a:prstGeom prst="rect">
            <a:avLst/>
          </a:prstGeom>
          <a:noFill/>
          <a:ln w="12700">
            <a:solidFill>
              <a:prstClr val="black"/>
            </a:solidFill>
          </a:ln>
        </p:spPr>
      </p:sp>
      <p:sp>
        <p:nvSpPr>
          <p:cNvPr id="5" name="备注占位符 4"/>
          <p:cNvSpPr>
            <a:spLocks noGrp="1"/>
          </p:cNvSpPr>
          <p:nvPr>
            <p:ph type="body" sz="quarter" idx="3"/>
          </p:nvPr>
        </p:nvSpPr>
        <p:spPr>
          <a:xfrm>
            <a:off x="678498" y="4773374"/>
            <a:ext cx="5427980" cy="390548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3249" y="9421044"/>
            <a:ext cx="2940156" cy="497656"/>
          </a:xfrm>
          <a:prstGeom prst="rect">
            <a:avLst/>
          </a:prstGeom>
        </p:spPr>
        <p:txBody>
          <a:bodyPr vert="horz" lIns="91440" tIns="45720" rIns="91440" bIns="45720" rtlCol="0" anchor="b"/>
          <a:lstStyle>
            <a:lvl1pPr algn="r">
              <a:defRPr sz="1200"/>
            </a:lvl1pPr>
          </a:lstStyle>
          <a:p>
            <a:fld id="{AD80470A-4597-4319-87FD-3AB9665446A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部分内容开展报告</a:t>
            </a:r>
            <a:endParaRPr lang="en-US" altLang="zh-CN"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schemeClr val="bg1"/>
              </a:solidFill>
            </a:endParaRPr>
          </a:p>
        </p:txBody>
      </p:sp>
      <p:sp>
        <p:nvSpPr>
          <p:cNvPr id="4" name="灯片编号占位符 3"/>
          <p:cNvSpPr>
            <a:spLocks noGrp="1"/>
          </p:cNvSpPr>
          <p:nvPr>
            <p:ph type="sldNum" sz="quarter" idx="5"/>
          </p:nvPr>
        </p:nvSpPr>
        <p:spPr/>
        <p:txBody>
          <a:bodyPr/>
          <a:lstStyle/>
          <a:p>
            <a:fld id="{AD80470A-4597-4319-87FD-3AB9665446AB}" type="slidenum">
              <a:rPr lang="zh-CN" altLang="en-US" smtClean="0"/>
              <a:t>4</a:t>
            </a:fld>
            <a:endParaRPr lang="zh-CN" altLang="en-US"/>
          </a:p>
        </p:txBody>
      </p:sp>
    </p:spTree>
    <p:extLst>
      <p:ext uri="{BB962C8B-B14F-4D97-AF65-F5344CB8AC3E}">
        <p14:creationId xmlns:p14="http://schemas.microsoft.com/office/powerpoint/2010/main" val="4212602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FDBA-3DDD-967C-C814-2E48B8B1AD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BE6BEF-81F5-3F56-2EF7-A492BEFA3E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534882-4DD1-BBC2-AC98-903DD0F7127C}"/>
              </a:ext>
            </a:extLst>
          </p:cNvPr>
          <p:cNvSpPr>
            <a:spLocks noGrp="1"/>
          </p:cNvSpPr>
          <p:nvPr>
            <p:ph type="body" idx="1"/>
          </p:nvPr>
        </p:nvSpPr>
        <p:spPr/>
        <p:txBody>
          <a:bodyPr/>
          <a:lstStyle/>
          <a:p>
            <a:pPr marL="0" marR="0" lvl="0" indent="306070" algn="just" defTabSz="914400" rtl="0" eaLnBrk="1" fontAlgn="auto" latinLnBrk="0" hangingPunct="1">
              <a:lnSpc>
                <a:spcPts val="2000"/>
              </a:lnSpc>
              <a:spcBef>
                <a:spcPct val="0"/>
              </a:spcBef>
              <a:spcAft>
                <a:spcPct val="0"/>
              </a:spcAft>
              <a:buClrTx/>
              <a:buSzTx/>
              <a:buFontTx/>
              <a:buNone/>
              <a:defRPr/>
            </a:pPr>
            <a:endParaRPr lang="en-US" altLang="zh-CN" sz="28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灯片编号占位符 3">
            <a:extLst>
              <a:ext uri="{FF2B5EF4-FFF2-40B4-BE49-F238E27FC236}">
                <a16:creationId xmlns:a16="http://schemas.microsoft.com/office/drawing/2014/main" id="{FB3D783F-D417-09B4-0678-8EB4C95F80A2}"/>
              </a:ext>
            </a:extLst>
          </p:cNvPr>
          <p:cNvSpPr>
            <a:spLocks noGrp="1"/>
          </p:cNvSpPr>
          <p:nvPr>
            <p:ph type="sldNum" sz="quarter" idx="5"/>
          </p:nvPr>
        </p:nvSpPr>
        <p:spPr/>
        <p:txBody>
          <a:bodyPr/>
          <a:lstStyle/>
          <a:p>
            <a:fld id="{AD80470A-4597-4319-87FD-3AB9665446AB}" type="slidenum">
              <a:rPr lang="zh-CN" altLang="en-US" smtClean="0"/>
              <a:t>7</a:t>
            </a:fld>
            <a:endParaRPr lang="zh-CN" altLang="en-US"/>
          </a:p>
        </p:txBody>
      </p:sp>
    </p:spTree>
    <p:extLst>
      <p:ext uri="{BB962C8B-B14F-4D97-AF65-F5344CB8AC3E}">
        <p14:creationId xmlns:p14="http://schemas.microsoft.com/office/powerpoint/2010/main" val="63351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AD80470A-4597-4319-87FD-3AB9665446A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D80470A-4597-4319-87FD-3AB9665446A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C7A9-4987-6591-B597-7B2A91C117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1F9034-2E95-7940-3AA3-8A6C36FEFE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E45B9B-D1CF-28F3-EA00-C76796189522}"/>
              </a:ext>
            </a:extLst>
          </p:cNvPr>
          <p:cNvSpPr>
            <a:spLocks noGrp="1"/>
          </p:cNvSpPr>
          <p:nvPr>
            <p:ph type="body" idx="1"/>
          </p:nvPr>
        </p:nvSpPr>
        <p:spPr/>
        <p:txBody>
          <a:bodyPr/>
          <a:lstStyle/>
          <a:p>
            <a:pPr marL="0" indent="0">
              <a:buFont typeface="Arial" panose="020B0604020202020204" pitchFamily="34" charset="0"/>
              <a:buNone/>
            </a:pPr>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CA216EA-64DC-E674-EF59-4766CABF655D}"/>
              </a:ext>
            </a:extLst>
          </p:cNvPr>
          <p:cNvSpPr>
            <a:spLocks noGrp="1"/>
          </p:cNvSpPr>
          <p:nvPr>
            <p:ph type="sldNum" sz="quarter" idx="5"/>
          </p:nvPr>
        </p:nvSpPr>
        <p:spPr/>
        <p:txBody>
          <a:bodyPr/>
          <a:lstStyle/>
          <a:p>
            <a:fld id="{AD80470A-4597-4319-87FD-3AB9665446AB}" type="slidenum">
              <a:rPr lang="zh-CN" altLang="en-US" smtClean="0"/>
              <a:t>10</a:t>
            </a:fld>
            <a:endParaRPr lang="zh-CN" altLang="en-US"/>
          </a:p>
        </p:txBody>
      </p:sp>
    </p:spTree>
    <p:extLst>
      <p:ext uri="{BB962C8B-B14F-4D97-AF65-F5344CB8AC3E}">
        <p14:creationId xmlns:p14="http://schemas.microsoft.com/office/powerpoint/2010/main" val="1706851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D9AA-5720-6D1C-7AA5-66447C7F26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902774-D441-6CA5-517E-BEE18DA9C5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C267B-1869-A3BF-D12E-3C6D38EFF20A}"/>
              </a:ext>
            </a:extLst>
          </p:cNvPr>
          <p:cNvSpPr>
            <a:spLocks noGrp="1"/>
          </p:cNvSpPr>
          <p:nvPr>
            <p:ph type="body" idx="1"/>
          </p:nvPr>
        </p:nvSpPr>
        <p:spPr/>
        <p:txBody>
          <a:bodyPr/>
          <a:lstStyle/>
          <a:p>
            <a:pPr marL="0" indent="0">
              <a:buFont typeface="Arial" panose="020B0604020202020204" pitchFamily="34" charset="0"/>
              <a:buNone/>
            </a:pPr>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B11F294-84AA-D341-1D89-8CAE27ECAA3C}"/>
              </a:ext>
            </a:extLst>
          </p:cNvPr>
          <p:cNvSpPr>
            <a:spLocks noGrp="1"/>
          </p:cNvSpPr>
          <p:nvPr>
            <p:ph type="sldNum" sz="quarter" idx="5"/>
          </p:nvPr>
        </p:nvSpPr>
        <p:spPr/>
        <p:txBody>
          <a:bodyPr/>
          <a:lstStyle/>
          <a:p>
            <a:fld id="{AD80470A-4597-4319-87FD-3AB9665446AB}" type="slidenum">
              <a:rPr lang="zh-CN" altLang="en-US" smtClean="0"/>
              <a:t>11</a:t>
            </a:fld>
            <a:endParaRPr lang="zh-CN" altLang="en-US"/>
          </a:p>
        </p:txBody>
      </p:sp>
    </p:spTree>
    <p:extLst>
      <p:ext uri="{BB962C8B-B14F-4D97-AF65-F5344CB8AC3E}">
        <p14:creationId xmlns:p14="http://schemas.microsoft.com/office/powerpoint/2010/main" val="392484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3C6E0-1023-3F2E-79CB-1560AEA71C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E7FA63-34F9-7D49-0B3D-196B4E6C77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11CE2F-B3D9-D252-647F-00FD0C25A047}"/>
              </a:ext>
            </a:extLst>
          </p:cNvPr>
          <p:cNvSpPr>
            <a:spLocks noGrp="1"/>
          </p:cNvSpPr>
          <p:nvPr>
            <p:ph type="body" idx="1"/>
          </p:nvPr>
        </p:nvSpPr>
        <p:spPr/>
        <p:txBody>
          <a:bodyPr/>
          <a:lstStyle/>
          <a:p>
            <a:pPr marL="0" indent="0">
              <a:buFont typeface="Arial" panose="020B0604020202020204" pitchFamily="34" charset="0"/>
              <a:buNone/>
            </a:pPr>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1F685D2-E56B-0E65-111D-54060C068ED2}"/>
              </a:ext>
            </a:extLst>
          </p:cNvPr>
          <p:cNvSpPr>
            <a:spLocks noGrp="1"/>
          </p:cNvSpPr>
          <p:nvPr>
            <p:ph type="sldNum" sz="quarter" idx="5"/>
          </p:nvPr>
        </p:nvSpPr>
        <p:spPr/>
        <p:txBody>
          <a:bodyPr/>
          <a:lstStyle/>
          <a:p>
            <a:fld id="{AD80470A-4597-4319-87FD-3AB9665446AB}" type="slidenum">
              <a:rPr lang="zh-CN" altLang="en-US" smtClean="0"/>
              <a:t>12</a:t>
            </a:fld>
            <a:endParaRPr lang="zh-CN" altLang="en-US"/>
          </a:p>
        </p:txBody>
      </p:sp>
    </p:spTree>
    <p:extLst>
      <p:ext uri="{BB962C8B-B14F-4D97-AF65-F5344CB8AC3E}">
        <p14:creationId xmlns:p14="http://schemas.microsoft.com/office/powerpoint/2010/main" val="4188438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6552E-E061-F26B-632F-730614237B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2B7A47-20AB-841C-5634-9E07376FA5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ACEF93-4AC5-A9F2-2DBF-B96FBEF875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6944BDF-2501-9AD1-C78F-F857FA4465BD}"/>
              </a:ext>
            </a:extLst>
          </p:cNvPr>
          <p:cNvSpPr>
            <a:spLocks noGrp="1"/>
          </p:cNvSpPr>
          <p:nvPr>
            <p:ph type="sldNum" sz="quarter" idx="5"/>
          </p:nvPr>
        </p:nvSpPr>
        <p:spPr/>
        <p:txBody>
          <a:bodyPr/>
          <a:lstStyle/>
          <a:p>
            <a:fld id="{AD80470A-4597-4319-87FD-3AB9665446AB}" type="slidenum">
              <a:rPr lang="zh-CN" altLang="en-US" smtClean="0"/>
              <a:t>13</a:t>
            </a:fld>
            <a:endParaRPr lang="zh-CN" altLang="en-US"/>
          </a:p>
        </p:txBody>
      </p:sp>
    </p:spTree>
    <p:extLst>
      <p:ext uri="{BB962C8B-B14F-4D97-AF65-F5344CB8AC3E}">
        <p14:creationId xmlns:p14="http://schemas.microsoft.com/office/powerpoint/2010/main" val="3168549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2725" y="2302510"/>
            <a:ext cx="10515600" cy="1325563"/>
          </a:xfrm>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7AA5570-5C36-4F12-A1EB-4155A99A1666}"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sp>
        <p:nvSpPr>
          <p:cNvPr id="4" name="矩形 3"/>
          <p:cNvSpPr/>
          <p:nvPr userDrawn="1"/>
        </p:nvSpPr>
        <p:spPr>
          <a:xfrm>
            <a:off x="0" y="0"/>
            <a:ext cx="2448000" cy="65431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研究背景与意义</a:t>
            </a:r>
          </a:p>
        </p:txBody>
      </p:sp>
      <p:sp>
        <p:nvSpPr>
          <p:cNvPr id="5" name="矩形 4"/>
          <p:cNvSpPr/>
          <p:nvPr userDrawn="1"/>
        </p:nvSpPr>
        <p:spPr>
          <a:xfrm>
            <a:off x="2448000" y="0"/>
            <a:ext cx="2448000" cy="65431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研究规划与进度</a:t>
            </a:r>
          </a:p>
        </p:txBody>
      </p:sp>
      <p:sp>
        <p:nvSpPr>
          <p:cNvPr id="6" name="矩形 5"/>
          <p:cNvSpPr/>
          <p:nvPr userDrawn="1"/>
        </p:nvSpPr>
        <p:spPr>
          <a:xfrm>
            <a:off x="4896000" y="0"/>
            <a:ext cx="2448000" cy="65431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关键技术</a:t>
            </a:r>
          </a:p>
        </p:txBody>
      </p:sp>
      <p:sp>
        <p:nvSpPr>
          <p:cNvPr id="7" name="矩形 6"/>
          <p:cNvSpPr/>
          <p:nvPr userDrawn="1"/>
        </p:nvSpPr>
        <p:spPr>
          <a:xfrm>
            <a:off x="7344000" y="0"/>
            <a:ext cx="2448000" cy="65431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sp>
        <p:nvSpPr>
          <p:cNvPr id="8" name="矩形 7"/>
          <p:cNvSpPr/>
          <p:nvPr userDrawn="1"/>
        </p:nvSpPr>
        <p:spPr>
          <a:xfrm>
            <a:off x="9792000" y="0"/>
            <a:ext cx="2400000" cy="654312"/>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评估与改进</a:t>
            </a:r>
          </a:p>
        </p:txBody>
      </p:sp>
      <p:sp>
        <p:nvSpPr>
          <p:cNvPr id="10" name="灯片编号占位符 9"/>
          <p:cNvSpPr>
            <a:spLocks noGrp="1"/>
          </p:cNvSpPr>
          <p:nvPr>
            <p:ph type="sldNum" sz="quarter" idx="12"/>
          </p:nvPr>
        </p:nvSpPr>
        <p:spPr>
          <a:xfrm>
            <a:off x="9291669" y="6356350"/>
            <a:ext cx="2743200" cy="365125"/>
          </a:xfrm>
        </p:spPr>
        <p:txBody>
          <a:bodyPr/>
          <a:lstStyle>
            <a:lvl1pPr>
              <a:defRPr sz="1600" b="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stStyle>
          <a:p>
            <a:fld id="{5E2EABFD-C142-48D2-8272-3C2D8BEF2F38}" type="slidenum">
              <a:rPr lang="zh-CN" altLang="en-US" smtClean="0"/>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tags" Target="../tags/tag5.xml"/><Relationship Id="rId7" Type="http://schemas.openxmlformats.org/officeDocument/2006/relationships/notesSlide" Target="../notesSlides/notesSlide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0.xml"/><Relationship Id="rId5" Type="http://schemas.openxmlformats.org/officeDocument/2006/relationships/tags" Target="../tags/tag7.xml"/><Relationship Id="rId4"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tags" Target="../tags/tag10.xml"/><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tags" Target="../tags/tag9.xml"/><Relationship Id="rId16" Type="http://schemas.openxmlformats.org/officeDocument/2006/relationships/image" Target="../media/image17.png"/><Relationship Id="rId1" Type="http://schemas.openxmlformats.org/officeDocument/2006/relationships/tags" Target="../tags/tag8.xml"/><Relationship Id="rId6" Type="http://schemas.openxmlformats.org/officeDocument/2006/relationships/image" Target="../media/image1.jpg"/><Relationship Id="rId11" Type="http://schemas.openxmlformats.org/officeDocument/2006/relationships/image" Target="../media/image12.svg"/><Relationship Id="rId5" Type="http://schemas.openxmlformats.org/officeDocument/2006/relationships/notesSlide" Target="../notesSlides/notesSlide7.xml"/><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slideLayout" Target="../slideLayouts/slideLayout10.xml"/><Relationship Id="rId9" Type="http://schemas.openxmlformats.org/officeDocument/2006/relationships/image" Target="../media/image10.pn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jp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jp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40.png"/><Relationship Id="rId5" Type="http://schemas.openxmlformats.org/officeDocument/2006/relationships/image" Target="../media/image1.jp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 y="1847849"/>
            <a:ext cx="12192000" cy="26674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ct val="0"/>
              </a:spcBef>
              <a:spcAft>
                <a:spcPct val="0"/>
              </a:spcAft>
            </a:pPr>
            <a:endParaRPr lang="zh-CN" altLang="zh-CN" sz="4000">
              <a:solidFill>
                <a:schemeClr val="bg2"/>
              </a:solidFill>
              <a:effectLst/>
              <a:latin typeface="微软雅黑" panose="020B0503020204020204" pitchFamily="34" charset="-122"/>
              <a:ea typeface="微软雅黑" panose="020B0503020204020204" pitchFamily="34" charset="-122"/>
            </a:endParaRPr>
          </a:p>
        </p:txBody>
      </p:sp>
      <p:sp>
        <p:nvSpPr>
          <p:cNvPr id="8" name="文本框 7"/>
          <p:cNvSpPr txBox="1"/>
          <p:nvPr/>
        </p:nvSpPr>
        <p:spPr>
          <a:xfrm>
            <a:off x="0" y="222276"/>
            <a:ext cx="6450227" cy="581057"/>
          </a:xfrm>
          <a:prstGeom prst="rect">
            <a:avLst/>
          </a:prstGeom>
          <a:noFill/>
        </p:spPr>
        <p:txBody>
          <a:bodyPr wrap="square" rtlCol="0">
            <a:spAutoFit/>
          </a:bodyPr>
          <a:lstStyle/>
          <a:p>
            <a:pPr>
              <a:lnSpc>
                <a:spcPct val="150000"/>
              </a:lnSpc>
            </a:pPr>
            <a:r>
              <a:rPr lang="en-US"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  - </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毕业论文中期报告 </a:t>
            </a:r>
            <a:r>
              <a:rPr lang="en-US"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24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451700" y="1686242"/>
            <a:ext cx="11288594" cy="2715615"/>
          </a:xfrm>
          <a:prstGeom prst="rect">
            <a:avLst/>
          </a:prstGeom>
          <a:noFill/>
        </p:spPr>
        <p:txBody>
          <a:bodyPr wrap="square" rtlCol="0">
            <a:spAutoFit/>
          </a:bodyPr>
          <a:lstStyle/>
          <a:p>
            <a:pPr algn="ctr">
              <a:lnSpc>
                <a:spcPct val="150000"/>
              </a:lnSpc>
            </a:pPr>
            <a:r>
              <a:rPr lang="zh-CN" altLang="zh-CN" sz="4800" b="1" dirty="0">
                <a:solidFill>
                  <a:schemeClr val="bg1"/>
                </a:solidFill>
                <a:latin typeface="微软雅黑" panose="020B0503020204020204" pitchFamily="34" charset="-122"/>
                <a:ea typeface="微软雅黑" panose="020B0503020204020204" pitchFamily="34" charset="-122"/>
              </a:rPr>
              <a:t>基于图学习的细胞疾病风险</a:t>
            </a:r>
            <a:endParaRPr lang="en-US" altLang="zh-CN" sz="4800"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zh-CN" altLang="zh-CN" sz="4800" b="1" dirty="0">
                <a:solidFill>
                  <a:schemeClr val="bg1"/>
                </a:solidFill>
                <a:latin typeface="微软雅黑" panose="020B0503020204020204" pitchFamily="34" charset="-122"/>
                <a:ea typeface="微软雅黑" panose="020B0503020204020204" pitchFamily="34" charset="-122"/>
              </a:rPr>
              <a:t>量化方法研究</a:t>
            </a:r>
            <a:endParaRPr lang="en-US" altLang="zh-CN" sz="4800"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en-US" altLang="zh-CN" sz="2000" b="1" dirty="0">
                <a:solidFill>
                  <a:schemeClr val="bg1"/>
                </a:solidFill>
                <a:latin typeface="微软雅黑" panose="020B0503020204020204" pitchFamily="34" charset="-122"/>
                <a:ea typeface="微软雅黑" panose="020B0503020204020204" pitchFamily="34" charset="-122"/>
              </a:rPr>
              <a:t>Variant to function mapping at single-cell resolution through network propagation</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3499530993"/>
              </p:ext>
            </p:extLst>
          </p:nvPr>
        </p:nvGraphicFramePr>
        <p:xfrm>
          <a:off x="4108610" y="4811666"/>
          <a:ext cx="4683234" cy="1726311"/>
        </p:xfrm>
        <a:graphic>
          <a:graphicData uri="http://schemas.openxmlformats.org/drawingml/2006/table">
            <a:tbl>
              <a:tblPr firstRow="1" bandRow="1">
                <a:tableStyleId>{2D5ABB26-0587-4C30-8999-92F81FD0307C}</a:tableStyleId>
              </a:tblPr>
              <a:tblGrid>
                <a:gridCol w="1618531">
                  <a:extLst>
                    <a:ext uri="{9D8B030D-6E8A-4147-A177-3AD203B41FA5}">
                      <a16:colId xmlns:a16="http://schemas.microsoft.com/office/drawing/2014/main" val="20000"/>
                    </a:ext>
                  </a:extLst>
                </a:gridCol>
                <a:gridCol w="334254">
                  <a:extLst>
                    <a:ext uri="{9D8B030D-6E8A-4147-A177-3AD203B41FA5}">
                      <a16:colId xmlns:a16="http://schemas.microsoft.com/office/drawing/2014/main" val="20001"/>
                    </a:ext>
                  </a:extLst>
                </a:gridCol>
                <a:gridCol w="2730449">
                  <a:extLst>
                    <a:ext uri="{9D8B030D-6E8A-4147-A177-3AD203B41FA5}">
                      <a16:colId xmlns:a16="http://schemas.microsoft.com/office/drawing/2014/main" val="20002"/>
                    </a:ext>
                  </a:extLst>
                </a:gridCol>
              </a:tblGrid>
              <a:tr h="370840">
                <a:tc>
                  <a:txBody>
                    <a:bodyPr/>
                    <a:lstStyle/>
                    <a:p>
                      <a:pPr marL="0" algn="dist"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汇报人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冀雨杉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marL="0" algn="dist"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导师</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王炳波</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marL="0" algn="dist"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日期</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en-US" altLang="zh-CN" sz="2400" kern="1200" dirty="0">
                          <a:solidFill>
                            <a:schemeClr val="tx1"/>
                          </a:solidFill>
                          <a:latin typeface="微软雅黑" panose="020B0503020204020204" pitchFamily="34" charset="-122"/>
                          <a:ea typeface="微软雅黑" panose="020B0503020204020204" pitchFamily="34" charset="-122"/>
                          <a:cs typeface="+mn-cs"/>
                        </a:rPr>
                        <a:t>2026</a:t>
                      </a:r>
                      <a:r>
                        <a:rPr lang="zh-CN" altLang="en-US" sz="2400" kern="1200" dirty="0">
                          <a:solidFill>
                            <a:schemeClr val="tx1"/>
                          </a:solidFill>
                          <a:latin typeface="微软雅黑" panose="020B0503020204020204" pitchFamily="34" charset="-122"/>
                          <a:ea typeface="微软雅黑" panose="020B0503020204020204" pitchFamily="34" charset="-122"/>
                          <a:cs typeface="+mn-cs"/>
                        </a:rPr>
                        <a:t>年</a:t>
                      </a:r>
                      <a:r>
                        <a:rPr lang="en-US" altLang="zh-CN" sz="2400" kern="1200" dirty="0">
                          <a:solidFill>
                            <a:schemeClr val="tx1"/>
                          </a:solidFill>
                          <a:latin typeface="微软雅黑" panose="020B0503020204020204" pitchFamily="34" charset="-122"/>
                          <a:ea typeface="微软雅黑" panose="020B0503020204020204" pitchFamily="34" charset="-122"/>
                          <a:cs typeface="+mn-cs"/>
                        </a:rPr>
                        <a:t>3</a:t>
                      </a:r>
                      <a:r>
                        <a:rPr lang="zh-CN" altLang="en-US" sz="2400" kern="1200" dirty="0">
                          <a:solidFill>
                            <a:schemeClr val="tx1"/>
                          </a:solidFill>
                          <a:latin typeface="微软雅黑" panose="020B0503020204020204" pitchFamily="34" charset="-122"/>
                          <a:ea typeface="微软雅黑" panose="020B0503020204020204" pitchFamily="34" charset="-122"/>
                          <a:cs typeface="+mn-cs"/>
                        </a:rPr>
                        <a:t>月</a:t>
                      </a:r>
                      <a:r>
                        <a:rPr lang="en-US" altLang="zh-CN" sz="2400" kern="1200" dirty="0">
                          <a:solidFill>
                            <a:schemeClr val="tx1"/>
                          </a:solidFill>
                          <a:latin typeface="微软雅黑" panose="020B0503020204020204" pitchFamily="34" charset="-122"/>
                          <a:ea typeface="微软雅黑" panose="020B0503020204020204" pitchFamily="34" charset="-122"/>
                          <a:cs typeface="+mn-cs"/>
                        </a:rPr>
                        <a:t>16</a:t>
                      </a:r>
                      <a:r>
                        <a:rPr lang="zh-CN" altLang="en-US" sz="2400" kern="1200" dirty="0">
                          <a:solidFill>
                            <a:schemeClr val="tx1"/>
                          </a:solidFill>
                          <a:latin typeface="微软雅黑" panose="020B0503020204020204" pitchFamily="34" charset="-122"/>
                          <a:ea typeface="微软雅黑" panose="020B0503020204020204" pitchFamily="34" charset="-122"/>
                          <a:cs typeface="+mn-cs"/>
                        </a:rPr>
                        <a:t>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3" name="图片 2">
            <a:extLst>
              <a:ext uri="{FF2B5EF4-FFF2-40B4-BE49-F238E27FC236}">
                <a16:creationId xmlns:a16="http://schemas.microsoft.com/office/drawing/2014/main" id="{1483C2B9-9580-F8B9-E8CE-2C6F214FC731}"/>
              </a:ext>
            </a:extLst>
          </p:cNvPr>
          <p:cNvPicPr>
            <a:picLocks noChangeAspect="1"/>
          </p:cNvPicPr>
          <p:nvPr/>
        </p:nvPicPr>
        <p:blipFill>
          <a:blip r:embed="rId3"/>
          <a:stretch>
            <a:fillRect/>
          </a:stretch>
        </p:blipFill>
        <p:spPr>
          <a:xfrm>
            <a:off x="8791844" y="162513"/>
            <a:ext cx="3136701" cy="9121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21352"/>
    </mc:Choice>
    <mc:Fallback xmlns="" xmlns:a16="http://schemas.microsoft.com/office/drawing/2014/main">
      <p:transition advTm="2135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0263" y="944310"/>
            <a:ext cx="2608406" cy="46166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研究背景与意义</a:t>
            </a:r>
          </a:p>
        </p:txBody>
      </p:sp>
      <p:sp>
        <p:nvSpPr>
          <p:cNvPr id="3" name="矩形 2"/>
          <p:cNvSpPr/>
          <p:nvPr/>
        </p:nvSpPr>
        <p:spPr>
          <a:xfrm>
            <a:off x="4443665" y="815142"/>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微软雅黑" panose="020B0503020204020204" pitchFamily="34" charset="-122"/>
                <a:ea typeface="微软雅黑" panose="020B0503020204020204" pitchFamily="34" charset="-122"/>
              </a:rPr>
              <a:t>01</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390263" y="4244136"/>
            <a:ext cx="2608406" cy="46166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已开展研究内容</a:t>
            </a:r>
          </a:p>
        </p:txBody>
      </p:sp>
      <p:sp>
        <p:nvSpPr>
          <p:cNvPr id="7" name="矩形 6"/>
          <p:cNvSpPr/>
          <p:nvPr/>
        </p:nvSpPr>
        <p:spPr>
          <a:xfrm>
            <a:off x="4443665" y="4114968"/>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微软雅黑" panose="020B0503020204020204" pitchFamily="34" charset="-122"/>
                <a:ea typeface="微软雅黑" panose="020B0503020204020204" pitchFamily="34" charset="-122"/>
              </a:rPr>
              <a:t>04</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390263" y="2044252"/>
            <a:ext cx="2608406" cy="46166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研究规划与进度</a:t>
            </a:r>
          </a:p>
        </p:txBody>
      </p:sp>
      <p:sp>
        <p:nvSpPr>
          <p:cNvPr id="12" name="矩形 11"/>
          <p:cNvSpPr/>
          <p:nvPr/>
        </p:nvSpPr>
        <p:spPr>
          <a:xfrm>
            <a:off x="4443665" y="1915084"/>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微软雅黑" panose="020B0503020204020204" pitchFamily="34" charset="-122"/>
                <a:ea typeface="微软雅黑" panose="020B0503020204020204" pitchFamily="34" charset="-122"/>
              </a:rPr>
              <a:t>02</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390263" y="5344078"/>
            <a:ext cx="2608406" cy="46166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评估与改进方案</a:t>
            </a:r>
            <a:endParaRPr lang="zh-CN" altLang="en-US" sz="1800" b="1" spc="300" dirty="0">
              <a:latin typeface="微软雅黑" panose="020B0503020204020204" pitchFamily="34" charset="-122"/>
              <a:ea typeface="微软雅黑" panose="020B0503020204020204" pitchFamily="34" charset="-122"/>
            </a:endParaRPr>
          </a:p>
        </p:txBody>
      </p:sp>
      <p:sp>
        <p:nvSpPr>
          <p:cNvPr id="16" name="矩形 15"/>
          <p:cNvSpPr/>
          <p:nvPr/>
        </p:nvSpPr>
        <p:spPr>
          <a:xfrm>
            <a:off x="4443665" y="5214910"/>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微软雅黑" panose="020B0503020204020204" pitchFamily="34" charset="-122"/>
                <a:ea typeface="微软雅黑" panose="020B0503020204020204" pitchFamily="34" charset="-122"/>
              </a:rPr>
              <a:t>05</a:t>
            </a:r>
            <a:endParaRPr lang="zh-CN" altLang="en-US" sz="2800" b="1">
              <a:solidFill>
                <a:schemeClr val="bg1"/>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246602" y="793922"/>
            <a:ext cx="1620000" cy="1440000"/>
            <a:chOff x="886602" y="418195"/>
            <a:chExt cx="1620000" cy="1440000"/>
          </a:xfrm>
        </p:grpSpPr>
        <p:sp>
          <p:nvSpPr>
            <p:cNvPr id="18" name="矩形 17"/>
            <p:cNvSpPr/>
            <p:nvPr/>
          </p:nvSpPr>
          <p:spPr>
            <a:xfrm>
              <a:off x="886602" y="418195"/>
              <a:ext cx="720000" cy="720000"/>
            </a:xfrm>
            <a:prstGeom prst="rect">
              <a:avLst/>
            </a:prstGeom>
            <a:solidFill>
              <a:schemeClr val="accent1">
                <a:lumMod val="50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1066602" y="778195"/>
              <a:ext cx="1440000" cy="1080000"/>
              <a:chOff x="1066602" y="778195"/>
              <a:chExt cx="1440000" cy="1080000"/>
            </a:xfrm>
          </p:grpSpPr>
          <p:sp>
            <p:nvSpPr>
              <p:cNvPr id="20" name="矩形 19"/>
              <p:cNvSpPr/>
              <p:nvPr/>
            </p:nvSpPr>
            <p:spPr>
              <a:xfrm>
                <a:off x="1246602" y="778195"/>
                <a:ext cx="108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文本框 20"/>
              <p:cNvSpPr txBox="1"/>
              <p:nvPr/>
            </p:nvSpPr>
            <p:spPr>
              <a:xfrm>
                <a:off x="1066602" y="995030"/>
                <a:ext cx="1440000" cy="646331"/>
              </a:xfrm>
              <a:prstGeom prst="rect">
                <a:avLst/>
              </a:prstGeom>
              <a:noFill/>
            </p:spPr>
            <p:txBody>
              <a:bodyPr wrap="square" rtlCol="0" anchor="ctr">
                <a:spAutoFit/>
              </a:bodyPr>
              <a:lstStyle/>
              <a:p>
                <a:pPr algn="ctr"/>
                <a:r>
                  <a:rPr lang="zh-CN" altLang="en-US" sz="3600" b="1">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600" b="1">
                  <a:solidFill>
                    <a:schemeClr val="bg1"/>
                  </a:solidFill>
                  <a:latin typeface="微软雅黑" panose="020B0503020204020204" pitchFamily="34" charset="-122"/>
                  <a:ea typeface="微软雅黑" panose="020B0503020204020204" pitchFamily="34" charset="-122"/>
                </a:endParaRPr>
              </a:p>
            </p:txBody>
          </p:sp>
        </p:grpSp>
      </p:grpSp>
      <p:sp>
        <p:nvSpPr>
          <p:cNvPr id="22" name="文本框 21"/>
          <p:cNvSpPr txBox="1"/>
          <p:nvPr/>
        </p:nvSpPr>
        <p:spPr>
          <a:xfrm>
            <a:off x="5390263" y="3144194"/>
            <a:ext cx="1569660" cy="46166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关键技术</a:t>
            </a:r>
          </a:p>
        </p:txBody>
      </p:sp>
      <p:sp>
        <p:nvSpPr>
          <p:cNvPr id="23" name="矩形 22"/>
          <p:cNvSpPr/>
          <p:nvPr/>
        </p:nvSpPr>
        <p:spPr>
          <a:xfrm>
            <a:off x="4443665" y="3015026"/>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chemeClr val="bg1"/>
                </a:solidFill>
                <a:latin typeface="微软雅黑" panose="020B0503020204020204" pitchFamily="34" charset="-122"/>
                <a:ea typeface="微软雅黑" panose="020B0503020204020204" pitchFamily="34" charset="-122"/>
              </a:rPr>
              <a:t>03</a:t>
            </a:r>
            <a:endParaRPr lang="zh-CN" altLang="en-US" sz="2800" b="1">
              <a:solidFill>
                <a:schemeClr val="bg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F79720C-4E79-F115-0DCF-6205CF5C984E}"/>
              </a:ext>
            </a:extLst>
          </p:cNvPr>
          <p:cNvPicPr>
            <a:picLocks noChangeAspect="1"/>
          </p:cNvPicPr>
          <p:nvPr/>
        </p:nvPicPr>
        <p:blipFill>
          <a:blip r:embed="rId3"/>
          <a:stretch>
            <a:fillRect/>
          </a:stretch>
        </p:blipFill>
        <p:spPr>
          <a:xfrm>
            <a:off x="8791844" y="162513"/>
            <a:ext cx="3136701" cy="9121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21352"/>
    </mc:Choice>
    <mc:Fallback xmlns="">
      <p:transition advTm="2135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298443" y="2505019"/>
            <a:ext cx="5579849" cy="3113899"/>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概率最高的致病变异</a:t>
            </a:r>
            <a:endParaRPr lang="zh-CN" altLang="en-US">
              <a:latin typeface="微软雅黑" panose="020B0503020204020204" pitchFamily="34" charset="-122"/>
              <a:ea typeface="微软雅黑" panose="020B0503020204020204" pitchFamily="34" charset="-122"/>
            </a:endParaRPr>
          </a:p>
        </p:txBody>
      </p:sp>
      <p:sp>
        <p:nvSpPr>
          <p:cNvPr id="292" name="矩形: 圆角 291"/>
          <p:cNvSpPr/>
          <p:nvPr/>
        </p:nvSpPr>
        <p:spPr>
          <a:xfrm>
            <a:off x="6096000" y="2484457"/>
            <a:ext cx="5621721" cy="3134461"/>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96" name="文本框 295"/>
          <p:cNvSpPr txBox="1"/>
          <p:nvPr/>
        </p:nvSpPr>
        <p:spPr>
          <a:xfrm>
            <a:off x="1705212" y="2320265"/>
            <a:ext cx="2696051" cy="338554"/>
          </a:xfrm>
          <a:prstGeom prst="rect">
            <a:avLst/>
          </a:prstGeom>
          <a:solidFill>
            <a:schemeClr val="bg1"/>
          </a:solidFill>
        </p:spPr>
        <p:txBody>
          <a:bodyPr wrap="square" rtlCol="0">
            <a:spAutoFit/>
          </a:bodyPr>
          <a:lstStyle/>
          <a:p>
            <a:pPr algn="ctr"/>
            <a:r>
              <a:rPr lang="en-US" altLang="zh-CN" sz="1600" b="1" dirty="0">
                <a:latin typeface="微软雅黑" panose="020B0503020204020204" pitchFamily="34" charset="-122"/>
                <a:ea typeface="微软雅黑" panose="020B0503020204020204" pitchFamily="34" charset="-122"/>
                <a:cs typeface="Calibri" panose="020F0502020204030204" pitchFamily="34" charset="0"/>
              </a:rPr>
              <a:t>GWAS</a:t>
            </a:r>
            <a:r>
              <a:rPr lang="zh-CN" altLang="en-US" sz="1600" b="1" dirty="0">
                <a:latin typeface="微软雅黑" panose="020B0503020204020204" pitchFamily="34" charset="-122"/>
                <a:ea typeface="微软雅黑" panose="020B0503020204020204" pitchFamily="34" charset="-122"/>
                <a:cs typeface="Calibri" panose="020F0502020204030204" pitchFamily="34" charset="0"/>
              </a:rPr>
              <a:t>致病因果变异</a:t>
            </a:r>
          </a:p>
        </p:txBody>
      </p:sp>
      <p:sp>
        <p:nvSpPr>
          <p:cNvPr id="297" name="文本框 296"/>
          <p:cNvSpPr txBox="1"/>
          <p:nvPr/>
        </p:nvSpPr>
        <p:spPr>
          <a:xfrm>
            <a:off x="7768833" y="2306610"/>
            <a:ext cx="2054711" cy="338554"/>
          </a:xfrm>
          <a:prstGeom prst="rect">
            <a:avLst/>
          </a:prstGeom>
          <a:solidFill>
            <a:schemeClr val="bg1"/>
          </a:solid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Calibri" panose="020F0502020204030204" pitchFamily="34" charset="0"/>
              </a:rPr>
              <a:t>单细胞表观基因组</a:t>
            </a:r>
          </a:p>
        </p:txBody>
      </p:sp>
      <p:grpSp>
        <p:nvGrpSpPr>
          <p:cNvPr id="353" name="组合 352"/>
          <p:cNvGrpSpPr/>
          <p:nvPr/>
        </p:nvGrpSpPr>
        <p:grpSpPr>
          <a:xfrm>
            <a:off x="953237" y="5828036"/>
            <a:ext cx="10066616" cy="610779"/>
            <a:chOff x="403899" y="5579753"/>
            <a:chExt cx="10066616" cy="610779"/>
          </a:xfrm>
        </p:grpSpPr>
        <p:sp>
          <p:nvSpPr>
            <p:cNvPr id="354" name="矩形 353"/>
            <p:cNvSpPr/>
            <p:nvPr/>
          </p:nvSpPr>
          <p:spPr>
            <a:xfrm>
              <a:off x="1196949" y="5585061"/>
              <a:ext cx="9273566" cy="565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55" name="任意多边形: 形状 354"/>
            <p:cNvSpPr/>
            <p:nvPr/>
          </p:nvSpPr>
          <p:spPr>
            <a:xfrm rot="16200000">
              <a:off x="796007" y="5209889"/>
              <a:ext cx="565497" cy="1315842"/>
            </a:xfrm>
            <a:custGeom>
              <a:avLst/>
              <a:gdLst>
                <a:gd name="connsiteX0" fmla="*/ 0 w 10000"/>
                <a:gd name="connsiteY0" fmla="*/ 0 h 10000"/>
                <a:gd name="connsiteX1" fmla="*/ 10000 w 10000"/>
                <a:gd name="connsiteY1" fmla="*/ 0 h 10000"/>
                <a:gd name="connsiteX2" fmla="*/ 9877 w 10000"/>
                <a:gd name="connsiteY2" fmla="*/ 5975 h 10000"/>
                <a:gd name="connsiteX3" fmla="*/ 5000 w 10000"/>
                <a:gd name="connsiteY3" fmla="*/ 10000 h 10000"/>
                <a:gd name="connsiteX4" fmla="*/ 123 w 10000"/>
                <a:gd name="connsiteY4" fmla="*/ 6071 h 10000"/>
                <a:gd name="connsiteX5" fmla="*/ 0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0"/>
                  </a:moveTo>
                  <a:lnTo>
                    <a:pt x="10000" y="0"/>
                  </a:lnTo>
                  <a:lnTo>
                    <a:pt x="9877" y="5975"/>
                  </a:lnTo>
                  <a:lnTo>
                    <a:pt x="5000" y="10000"/>
                  </a:lnTo>
                  <a:lnTo>
                    <a:pt x="123" y="6071"/>
                  </a:lnTo>
                  <a:lnTo>
                    <a:pt x="0" y="0"/>
                  </a:lnTo>
                  <a:close/>
                </a:path>
              </a:pathLst>
            </a:custGeom>
            <a:solidFill>
              <a:schemeClr val="bg1"/>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56" name="文本框 355"/>
            <p:cNvSpPr txBox="1"/>
            <p:nvPr/>
          </p:nvSpPr>
          <p:spPr>
            <a:xfrm>
              <a:off x="1691833" y="5579753"/>
              <a:ext cx="8686006" cy="610779"/>
            </a:xfrm>
            <a:prstGeom prst="rect">
              <a:avLst/>
            </a:prstGeom>
            <a:noFill/>
            <a:ln>
              <a:noFill/>
            </a:ln>
          </p:spPr>
          <p:txBody>
            <a:bodyPr wrap="square" rtlCol="0" anchor="ctr" anchorCtr="0">
              <a:noAutofit/>
            </a:bodyPr>
            <a:lstStyle/>
            <a:p>
              <a:pPr algn="ctr">
                <a:lnSpc>
                  <a:spcPts val="2460"/>
                </a:lnSpc>
              </a:pPr>
              <a:r>
                <a:rPr lang="zh-CN" altLang="en-US" sz="2000" b="1" kern="100"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单细胞表观基因组数据的稀疏性和噪声较大</a:t>
              </a:r>
            </a:p>
          </p:txBody>
        </p:sp>
        <p:sp>
          <p:nvSpPr>
            <p:cNvPr id="357" name="文本框 356"/>
            <p:cNvSpPr txBox="1"/>
            <p:nvPr/>
          </p:nvSpPr>
          <p:spPr>
            <a:xfrm>
              <a:off x="403899" y="5606200"/>
              <a:ext cx="910037" cy="523220"/>
            </a:xfrm>
            <a:prstGeom prst="rect">
              <a:avLst/>
            </a:prstGeom>
            <a:noFill/>
          </p:spPr>
          <p:txBody>
            <a:bodyPr wrap="square">
              <a:spAutoFit/>
            </a:bodyPr>
            <a:lstStyle/>
            <a:p>
              <a:r>
                <a:rPr lang="zh-CN" altLang="en-US" sz="2800" b="1" dirty="0">
                  <a:solidFill>
                    <a:schemeClr val="accent1"/>
                  </a:solidFill>
                  <a:latin typeface="微软雅黑" panose="020B0503020204020204" pitchFamily="34" charset="-122"/>
                  <a:ea typeface="微软雅黑" panose="020B0503020204020204" pitchFamily="34" charset="-122"/>
                </a:rPr>
                <a:t>问题</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grpSp>
      <p:sp>
        <p:nvSpPr>
          <p:cNvPr id="360" name="矩形: 圆角 359"/>
          <p:cNvSpPr/>
          <p:nvPr/>
        </p:nvSpPr>
        <p:spPr>
          <a:xfrm>
            <a:off x="398472" y="896983"/>
            <a:ext cx="11398794" cy="1285002"/>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25000"/>
              </a:lnSpc>
              <a:buClr>
                <a:srgbClr val="9B0000"/>
              </a:buClr>
              <a:buFont typeface="Arial" panose="020B0604020202020204" pitchFamily="34" charset="0"/>
              <a:buChar char="•"/>
            </a:pPr>
            <a:r>
              <a:rPr lang="en-US" altLang="zh-CN" b="1" dirty="0">
                <a:solidFill>
                  <a:schemeClr val="tx1"/>
                </a:solidFill>
                <a:latin typeface="微软雅黑" panose="020B0503020204020204" pitchFamily="34" charset="-122"/>
                <a:ea typeface="微软雅黑" panose="020B0503020204020204" pitchFamily="34" charset="-122"/>
              </a:rPr>
              <a:t>GWAS</a:t>
            </a:r>
            <a:r>
              <a:rPr lang="zh-CN" altLang="en-US" b="1" dirty="0">
                <a:solidFill>
                  <a:schemeClr val="tx1"/>
                </a:solidFill>
                <a:latin typeface="微软雅黑" panose="020B0503020204020204" pitchFamily="34" charset="-122"/>
                <a:ea typeface="微软雅黑" panose="020B0503020204020204" pitchFamily="34" charset="-122"/>
              </a:rPr>
              <a:t>和精细定位能找到疾病相关变异，但其作用机制仍难解释。</a:t>
            </a:r>
            <a:endParaRPr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微软雅黑" panose="020B0503020204020204" pitchFamily="34" charset="-122"/>
                <a:ea typeface="微软雅黑" panose="020B0503020204020204" pitchFamily="34" charset="-122"/>
              </a:rPr>
              <a:t>单细胞组学能在单细胞水平解析细胞异质性，为发现疾病相关关键细胞群体提供新途径。</a:t>
            </a:r>
            <a:endParaRPr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25000"/>
              </a:lnSpc>
              <a:buClr>
                <a:srgbClr val="9B0000"/>
              </a:buClr>
              <a:buFont typeface="Arial" panose="020B0604020202020204" pitchFamily="34" charset="0"/>
              <a:buChar char="•"/>
            </a:pPr>
            <a:r>
              <a:rPr lang="zh-CN" altLang="en-US" b="1" dirty="0">
                <a:solidFill>
                  <a:schemeClr val="tx1"/>
                </a:solidFill>
                <a:latin typeface="微软雅黑" panose="020B0503020204020204" pitchFamily="34" charset="-122"/>
                <a:ea typeface="微软雅黑" panose="020B0503020204020204" pitchFamily="34" charset="-122"/>
              </a:rPr>
              <a:t>现有研究常将</a:t>
            </a:r>
            <a:r>
              <a:rPr lang="en-US" altLang="zh-CN" b="1" dirty="0">
                <a:solidFill>
                  <a:schemeClr val="tx1"/>
                </a:solidFill>
                <a:latin typeface="微软雅黑" panose="020B0503020204020204" pitchFamily="34" charset="-122"/>
                <a:ea typeface="微软雅黑" panose="020B0503020204020204" pitchFamily="34" charset="-122"/>
              </a:rPr>
              <a:t>GWAS</a:t>
            </a:r>
            <a:r>
              <a:rPr lang="zh-CN" altLang="en-US" b="1" dirty="0">
                <a:solidFill>
                  <a:schemeClr val="tx1"/>
                </a:solidFill>
                <a:latin typeface="微软雅黑" panose="020B0503020204020204" pitchFamily="34" charset="-122"/>
                <a:ea typeface="微软雅黑" panose="020B0503020204020204" pitchFamily="34" charset="-122"/>
              </a:rPr>
              <a:t>风险变异与单细胞组学调控信息整合，以推断其可能发挥作用的细胞类型和功能背景。</a:t>
            </a:r>
          </a:p>
        </p:txBody>
      </p:sp>
      <p:sp>
        <p:nvSpPr>
          <p:cNvPr id="2" name="灯片编号占位符 1"/>
          <p:cNvSpPr>
            <a:spLocks noGrp="1"/>
          </p:cNvSpPr>
          <p:nvPr>
            <p:ph type="sldNum" sz="quarter" idx="12"/>
          </p:nvPr>
        </p:nvSpPr>
        <p:spPr/>
        <p:txBody>
          <a:bodyPr/>
          <a:lstStyle/>
          <a:p>
            <a:fld id="{5E2EABFD-C142-48D2-8272-3C2D8BEF2F38}" type="slidenum">
              <a:rPr lang="zh-CN" altLang="en-US" smtClean="0"/>
              <a:t>3</a:t>
            </a:fld>
            <a:endParaRPr lang="zh-CN" altLang="en-US"/>
          </a:p>
        </p:txBody>
      </p:sp>
      <p:sp>
        <p:nvSpPr>
          <p:cNvPr id="4" name="矩形 3"/>
          <p:cNvSpPr/>
          <p:nvPr/>
        </p:nvSpPr>
        <p:spPr>
          <a:xfrm>
            <a:off x="0"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研究背景与意义</a:t>
            </a:r>
          </a:p>
        </p:txBody>
      </p:sp>
      <p:pic>
        <p:nvPicPr>
          <p:cNvPr id="3" name="图片 2">
            <a:extLst>
              <a:ext uri="{FF2B5EF4-FFF2-40B4-BE49-F238E27FC236}">
                <a16:creationId xmlns:a16="http://schemas.microsoft.com/office/drawing/2014/main" id="{2A2D8B2D-88DC-C8A9-ADEE-572BA1E3807E}"/>
              </a:ext>
            </a:extLst>
          </p:cNvPr>
          <p:cNvPicPr>
            <a:picLocks noChangeAspect="1"/>
          </p:cNvPicPr>
          <p:nvPr/>
        </p:nvPicPr>
        <p:blipFill>
          <a:blip r:embed="rId4"/>
          <a:stretch>
            <a:fillRect/>
          </a:stretch>
        </p:blipFill>
        <p:spPr>
          <a:xfrm>
            <a:off x="0" y="6540163"/>
            <a:ext cx="1019230" cy="296398"/>
          </a:xfrm>
          <a:prstGeom prst="rect">
            <a:avLst/>
          </a:prstGeom>
        </p:spPr>
      </p:pic>
      <p:pic>
        <p:nvPicPr>
          <p:cNvPr id="10" name="图片 9">
            <a:extLst>
              <a:ext uri="{FF2B5EF4-FFF2-40B4-BE49-F238E27FC236}">
                <a16:creationId xmlns:a16="http://schemas.microsoft.com/office/drawing/2014/main" id="{0C1A9E30-CFF7-17C3-B194-F9D3617FDF69}"/>
              </a:ext>
            </a:extLst>
          </p:cNvPr>
          <p:cNvPicPr>
            <a:picLocks noChangeAspect="1"/>
          </p:cNvPicPr>
          <p:nvPr/>
        </p:nvPicPr>
        <p:blipFill>
          <a:blip r:embed="rId5"/>
          <a:stretch>
            <a:fillRect/>
          </a:stretch>
        </p:blipFill>
        <p:spPr>
          <a:xfrm>
            <a:off x="939685" y="3271908"/>
            <a:ext cx="3200847" cy="1352739"/>
          </a:xfrm>
          <a:prstGeom prst="rect">
            <a:avLst/>
          </a:prstGeom>
        </p:spPr>
      </p:pic>
      <p:pic>
        <p:nvPicPr>
          <p:cNvPr id="12" name="图片 11">
            <a:extLst>
              <a:ext uri="{FF2B5EF4-FFF2-40B4-BE49-F238E27FC236}">
                <a16:creationId xmlns:a16="http://schemas.microsoft.com/office/drawing/2014/main" id="{F8E37712-F37D-9F00-DDA1-3C1381B8E863}"/>
              </a:ext>
            </a:extLst>
          </p:cNvPr>
          <p:cNvPicPr>
            <a:picLocks noChangeAspect="1"/>
          </p:cNvPicPr>
          <p:nvPr/>
        </p:nvPicPr>
        <p:blipFill>
          <a:blip r:embed="rId6"/>
          <a:stretch>
            <a:fillRect/>
          </a:stretch>
        </p:blipFill>
        <p:spPr>
          <a:xfrm>
            <a:off x="7111768" y="3162684"/>
            <a:ext cx="3343742" cy="1781424"/>
          </a:xfrm>
          <a:prstGeom prst="rect">
            <a:avLst/>
          </a:prstGeom>
        </p:spPr>
      </p:pic>
      <p:cxnSp>
        <p:nvCxnSpPr>
          <p:cNvPr id="13" name="直接箭头连接符 12">
            <a:extLst>
              <a:ext uri="{FF2B5EF4-FFF2-40B4-BE49-F238E27FC236}">
                <a16:creationId xmlns:a16="http://schemas.microsoft.com/office/drawing/2014/main" id="{2A87031B-866B-BC40-7D40-DF18C43992C5}"/>
              </a:ext>
            </a:extLst>
          </p:cNvPr>
          <p:cNvCxnSpPr>
            <a:cxnSpLocks/>
          </p:cNvCxnSpPr>
          <p:nvPr/>
        </p:nvCxnSpPr>
        <p:spPr>
          <a:xfrm>
            <a:off x="3773037" y="4332260"/>
            <a:ext cx="464942" cy="151369"/>
          </a:xfrm>
          <a:prstGeom prst="straightConnector1">
            <a:avLst/>
          </a:prstGeom>
          <a:ln w="28575">
            <a:solidFill>
              <a:srgbClr val="1A4E7E"/>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C94649CD-39F1-00C5-864E-D481D4A8A96F}"/>
              </a:ext>
            </a:extLst>
          </p:cNvPr>
          <p:cNvSpPr txBox="1"/>
          <p:nvPr/>
        </p:nvSpPr>
        <p:spPr>
          <a:xfrm>
            <a:off x="6278947" y="2737973"/>
            <a:ext cx="1663577" cy="338554"/>
          </a:xfrm>
          <a:prstGeom prst="rect">
            <a:avLst/>
          </a:prstGeom>
          <a:noFill/>
        </p:spPr>
        <p:txBody>
          <a:bodyPr wrap="square" rtlCol="0">
            <a:spAutoFit/>
          </a:bodyPr>
          <a:lstStyle/>
          <a:p>
            <a:r>
              <a:rPr lang="zh-CN" altLang="en-US" sz="1600" b="1" dirty="0"/>
              <a:t>行</a:t>
            </a:r>
            <a:r>
              <a:rPr lang="zh-CN" altLang="en-US" sz="1600" dirty="0"/>
              <a:t>：不同单细胞</a:t>
            </a:r>
            <a:endParaRPr lang="en-US" altLang="zh-CN" sz="1600" dirty="0"/>
          </a:p>
        </p:txBody>
      </p:sp>
      <p:sp>
        <p:nvSpPr>
          <p:cNvPr id="19" name="任意多边形: 形状 18">
            <a:extLst>
              <a:ext uri="{FF2B5EF4-FFF2-40B4-BE49-F238E27FC236}">
                <a16:creationId xmlns:a16="http://schemas.microsoft.com/office/drawing/2014/main" id="{0610E627-430A-295F-1696-5A87166FE9EE}"/>
              </a:ext>
            </a:extLst>
          </p:cNvPr>
          <p:cNvSpPr/>
          <p:nvPr/>
        </p:nvSpPr>
        <p:spPr>
          <a:xfrm>
            <a:off x="774808" y="3271908"/>
            <a:ext cx="329753" cy="1316209"/>
          </a:xfrm>
          <a:custGeom>
            <a:avLst/>
            <a:gdLst>
              <a:gd name="csX0" fmla="*/ 752464 w 752463"/>
              <a:gd name="csY0" fmla="*/ 581365 h 1472739"/>
              <a:gd name="csX1" fmla="*/ 604550 w 752463"/>
              <a:gd name="csY1" fmla="*/ 580621 h 1472739"/>
              <a:gd name="csX2" fmla="*/ 545657 w 752463"/>
              <a:gd name="csY2" fmla="*/ 630835 h 1472739"/>
              <a:gd name="csX3" fmla="*/ 401959 w 752463"/>
              <a:gd name="csY3" fmla="*/ 1421610 h 1472739"/>
              <a:gd name="csX4" fmla="*/ 378649 w 752463"/>
              <a:gd name="csY4" fmla="*/ 1472692 h 1472739"/>
              <a:gd name="csX5" fmla="*/ 349761 w 752463"/>
              <a:gd name="csY5" fmla="*/ 1420494 h 1472739"/>
              <a:gd name="csX6" fmla="*/ 207798 w 752463"/>
              <a:gd name="csY6" fmla="*/ 635670 h 1472739"/>
              <a:gd name="csX7" fmla="*/ 140599 w 752463"/>
              <a:gd name="csY7" fmla="*/ 580497 h 1472739"/>
              <a:gd name="csX8" fmla="*/ 0 w 752463"/>
              <a:gd name="csY8" fmla="*/ 581365 h 1472739"/>
              <a:gd name="csX9" fmla="*/ 376046 w 752463"/>
              <a:gd name="csY9" fmla="*/ 0 h 1472739"/>
              <a:gd name="csX10" fmla="*/ 752340 w 752463"/>
              <a:gd name="csY10" fmla="*/ 581365 h 14727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52463" h="1472739">
                <a:moveTo>
                  <a:pt x="752464" y="581365"/>
                </a:moveTo>
                <a:cubicBezTo>
                  <a:pt x="694439" y="581365"/>
                  <a:pt x="649184" y="584093"/>
                  <a:pt x="604550" y="580621"/>
                </a:cubicBezTo>
                <a:cubicBezTo>
                  <a:pt x="564875" y="577521"/>
                  <a:pt x="552352" y="592523"/>
                  <a:pt x="545657" y="630835"/>
                </a:cubicBezTo>
                <a:cubicBezTo>
                  <a:pt x="499411" y="894675"/>
                  <a:pt x="450561" y="1158142"/>
                  <a:pt x="401959" y="1421610"/>
                </a:cubicBezTo>
                <a:cubicBezTo>
                  <a:pt x="398487" y="1440580"/>
                  <a:pt x="404314" y="1471452"/>
                  <a:pt x="378649" y="1472692"/>
                </a:cubicBezTo>
                <a:cubicBezTo>
                  <a:pt x="346786" y="1474180"/>
                  <a:pt x="353481" y="1440704"/>
                  <a:pt x="349761" y="1420494"/>
                </a:cubicBezTo>
                <a:cubicBezTo>
                  <a:pt x="301655" y="1159010"/>
                  <a:pt x="253177" y="897650"/>
                  <a:pt x="207798" y="635670"/>
                </a:cubicBezTo>
                <a:cubicBezTo>
                  <a:pt x="200235" y="592028"/>
                  <a:pt x="184985" y="576158"/>
                  <a:pt x="140599" y="580497"/>
                </a:cubicBezTo>
                <a:cubicBezTo>
                  <a:pt x="98196" y="584713"/>
                  <a:pt x="55173" y="581365"/>
                  <a:pt x="0" y="581365"/>
                </a:cubicBezTo>
                <a:cubicBezTo>
                  <a:pt x="127084" y="384849"/>
                  <a:pt x="248342" y="197384"/>
                  <a:pt x="376046" y="0"/>
                </a:cubicBezTo>
                <a:cubicBezTo>
                  <a:pt x="502262" y="195028"/>
                  <a:pt x="623519" y="382245"/>
                  <a:pt x="752340" y="581365"/>
                </a:cubicBezTo>
                <a:close/>
              </a:path>
            </a:pathLst>
          </a:custGeom>
          <a:solidFill>
            <a:srgbClr val="0070C0"/>
          </a:solidFill>
          <a:ln>
            <a:noFill/>
          </a:ln>
        </p:spPr>
        <p:txBody>
          <a:bodyPr vert="horz" wrap="square" lIns="91440" tIns="45720" rIns="91440" bIns="45720" numCol="1" anchor="t" anchorCtr="0" compatLnSpc="1">
            <a:prstTxWarp prst="textNoShape">
              <a:avLst/>
            </a:prstTxWarp>
            <a:noAutofit/>
          </a:bodyPr>
          <a:lstStyle/>
          <a:p>
            <a:endParaRPr lang="zh-CN" altLang="en-US" sz="2400">
              <a:solidFill>
                <a:srgbClr val="0070C0"/>
              </a:solidFill>
            </a:endParaRPr>
          </a:p>
        </p:txBody>
      </p:sp>
      <p:sp>
        <p:nvSpPr>
          <p:cNvPr id="21" name="文本框 20">
            <a:extLst>
              <a:ext uri="{FF2B5EF4-FFF2-40B4-BE49-F238E27FC236}">
                <a16:creationId xmlns:a16="http://schemas.microsoft.com/office/drawing/2014/main" id="{EBE80853-5E34-4773-7D75-0225B36A2664}"/>
              </a:ext>
            </a:extLst>
          </p:cNvPr>
          <p:cNvSpPr txBox="1"/>
          <p:nvPr/>
        </p:nvSpPr>
        <p:spPr>
          <a:xfrm>
            <a:off x="635654" y="2805730"/>
            <a:ext cx="5239003" cy="338554"/>
          </a:xfrm>
          <a:prstGeom prst="rect">
            <a:avLst/>
          </a:prstGeom>
          <a:noFill/>
        </p:spPr>
        <p:txBody>
          <a:bodyPr wrap="square" rtlCol="0">
            <a:spAutoFit/>
          </a:bodyPr>
          <a:lstStyle/>
          <a:p>
            <a:r>
              <a:rPr lang="zh-CN" altLang="en-US" sz="1600" b="1" dirty="0"/>
              <a:t>山峰：</a:t>
            </a:r>
            <a:r>
              <a:rPr lang="zh-CN" altLang="en-US" sz="1600" dirty="0"/>
              <a:t> 越高代表这个位点与特征的相关性越高。</a:t>
            </a:r>
            <a:endParaRPr lang="en-US" altLang="zh-CN" sz="1600" dirty="0">
              <a:latin typeface="微软雅黑" panose="020B0503020204020204" pitchFamily="34" charset="-122"/>
              <a:ea typeface="微软雅黑" panose="020B0503020204020204" pitchFamily="34" charset="-122"/>
            </a:endParaRPr>
          </a:p>
        </p:txBody>
      </p:sp>
      <p:cxnSp>
        <p:nvCxnSpPr>
          <p:cNvPr id="26" name="直接箭头连接符 25">
            <a:extLst>
              <a:ext uri="{FF2B5EF4-FFF2-40B4-BE49-F238E27FC236}">
                <a16:creationId xmlns:a16="http://schemas.microsoft.com/office/drawing/2014/main" id="{4A4FE9E7-A8F2-83CD-3D39-78732B1CF211}"/>
              </a:ext>
            </a:extLst>
          </p:cNvPr>
          <p:cNvCxnSpPr>
            <a:cxnSpLocks/>
          </p:cNvCxnSpPr>
          <p:nvPr/>
        </p:nvCxnSpPr>
        <p:spPr>
          <a:xfrm>
            <a:off x="3586609" y="3785880"/>
            <a:ext cx="482264" cy="0"/>
          </a:xfrm>
          <a:prstGeom prst="straightConnector1">
            <a:avLst/>
          </a:prstGeom>
          <a:ln w="28575">
            <a:solidFill>
              <a:srgbClr val="1A4E7E"/>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4351187-F589-D783-3AAA-AFC4175594A7}"/>
              </a:ext>
            </a:extLst>
          </p:cNvPr>
          <p:cNvSpPr txBox="1"/>
          <p:nvPr/>
        </p:nvSpPr>
        <p:spPr>
          <a:xfrm>
            <a:off x="4042222" y="3280757"/>
            <a:ext cx="1542866" cy="1077218"/>
          </a:xfrm>
          <a:prstGeom prst="rect">
            <a:avLst/>
          </a:prstGeom>
          <a:noFill/>
        </p:spPr>
        <p:txBody>
          <a:bodyPr wrap="square" rtlCol="0">
            <a:spAutoFit/>
          </a:bodyPr>
          <a:lstStyle/>
          <a:p>
            <a:r>
              <a:rPr lang="zh-CN" altLang="en-US" sz="1600" i="1" dirty="0"/>
              <a:t>“精细定位”（</a:t>
            </a:r>
            <a:r>
              <a:rPr lang="en-US" altLang="zh-CN" sz="1600" i="1" dirty="0"/>
              <a:t>Fine-mapping</a:t>
            </a:r>
            <a:r>
              <a:rPr lang="zh-CN" altLang="en-US" sz="1600" i="1" dirty="0"/>
              <a:t>）</a:t>
            </a:r>
            <a:endParaRPr lang="en-US" altLang="zh-CN" sz="1600" i="1" dirty="0"/>
          </a:p>
          <a:p>
            <a:r>
              <a:rPr lang="zh-CN" altLang="en-US" sz="1600" dirty="0"/>
              <a:t>概率最高的致病变异</a:t>
            </a:r>
            <a:endParaRPr lang="en-US" altLang="zh-CN" sz="1600" dirty="0"/>
          </a:p>
        </p:txBody>
      </p:sp>
      <p:sp>
        <p:nvSpPr>
          <p:cNvPr id="33" name="文本框 32">
            <a:extLst>
              <a:ext uri="{FF2B5EF4-FFF2-40B4-BE49-F238E27FC236}">
                <a16:creationId xmlns:a16="http://schemas.microsoft.com/office/drawing/2014/main" id="{2C7C33CC-68D8-E434-5E9E-7E431E5D6B6A}"/>
              </a:ext>
            </a:extLst>
          </p:cNvPr>
          <p:cNvSpPr txBox="1"/>
          <p:nvPr/>
        </p:nvSpPr>
        <p:spPr>
          <a:xfrm>
            <a:off x="635654" y="4695677"/>
            <a:ext cx="3537421" cy="338554"/>
          </a:xfrm>
          <a:prstGeom prst="rect">
            <a:avLst/>
          </a:prstGeom>
          <a:noFill/>
        </p:spPr>
        <p:txBody>
          <a:bodyPr wrap="square" rtlCol="0">
            <a:spAutoFit/>
          </a:bodyPr>
          <a:lstStyle/>
          <a:p>
            <a:r>
              <a:rPr lang="en-US" altLang="zh-CN" sz="1600" dirty="0"/>
              <a:t>LD, linkage disequilibrium</a:t>
            </a:r>
            <a:r>
              <a:rPr lang="zh-CN" altLang="en-US" sz="1600" dirty="0"/>
              <a:t>（连锁不平衡）</a:t>
            </a:r>
            <a:endParaRPr lang="en-US" altLang="zh-CN" sz="1600" dirty="0"/>
          </a:p>
        </p:txBody>
      </p:sp>
      <p:sp>
        <p:nvSpPr>
          <p:cNvPr id="34" name="文本框 33">
            <a:extLst>
              <a:ext uri="{FF2B5EF4-FFF2-40B4-BE49-F238E27FC236}">
                <a16:creationId xmlns:a16="http://schemas.microsoft.com/office/drawing/2014/main" id="{271AE622-FEE1-7912-8A53-34CECE6FE430}"/>
              </a:ext>
            </a:extLst>
          </p:cNvPr>
          <p:cNvSpPr txBox="1"/>
          <p:nvPr/>
        </p:nvSpPr>
        <p:spPr>
          <a:xfrm>
            <a:off x="1294328" y="5079887"/>
            <a:ext cx="3588078" cy="338554"/>
          </a:xfrm>
          <a:prstGeom prst="rect">
            <a:avLst/>
          </a:prstGeom>
          <a:noFill/>
        </p:spPr>
        <p:txBody>
          <a:bodyPr wrap="square" rtlCol="0">
            <a:spAutoFit/>
          </a:bodyPr>
          <a:lstStyle/>
          <a:p>
            <a:r>
              <a:rPr lang="en-US" altLang="zh-CN" sz="1600" dirty="0"/>
              <a:t>GWAS</a:t>
            </a:r>
            <a:r>
              <a:rPr lang="zh-CN" altLang="en-US" sz="1600" dirty="0"/>
              <a:t>和精细定位能找到疾病相关变异</a:t>
            </a:r>
            <a:endParaRPr lang="en-US" altLang="zh-CN" sz="1600" dirty="0"/>
          </a:p>
        </p:txBody>
      </p:sp>
      <p:cxnSp>
        <p:nvCxnSpPr>
          <p:cNvPr id="35" name="直接箭头连接符 34">
            <a:extLst>
              <a:ext uri="{FF2B5EF4-FFF2-40B4-BE49-F238E27FC236}">
                <a16:creationId xmlns:a16="http://schemas.microsoft.com/office/drawing/2014/main" id="{0BD61807-8CAA-FC85-81DA-94F723781D98}"/>
              </a:ext>
            </a:extLst>
          </p:cNvPr>
          <p:cNvCxnSpPr>
            <a:cxnSpLocks/>
          </p:cNvCxnSpPr>
          <p:nvPr/>
        </p:nvCxnSpPr>
        <p:spPr>
          <a:xfrm flipH="1" flipV="1">
            <a:off x="7111768" y="3035745"/>
            <a:ext cx="339938" cy="169277"/>
          </a:xfrm>
          <a:prstGeom prst="straightConnector1">
            <a:avLst/>
          </a:prstGeom>
          <a:ln w="28575">
            <a:solidFill>
              <a:srgbClr val="1A4E7E"/>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89988C20-8371-F96B-AE40-B15119C4E4E5}"/>
              </a:ext>
            </a:extLst>
          </p:cNvPr>
          <p:cNvSpPr txBox="1"/>
          <p:nvPr/>
        </p:nvSpPr>
        <p:spPr>
          <a:xfrm>
            <a:off x="4341224" y="4537261"/>
            <a:ext cx="1542866" cy="338554"/>
          </a:xfrm>
          <a:prstGeom prst="rect">
            <a:avLst/>
          </a:prstGeom>
          <a:noFill/>
        </p:spPr>
        <p:txBody>
          <a:bodyPr wrap="square" rtlCol="0">
            <a:spAutoFit/>
          </a:bodyPr>
          <a:lstStyle/>
          <a:p>
            <a:r>
              <a:rPr lang="zh-CN" altLang="en-US" sz="1600" dirty="0"/>
              <a:t>候选变异</a:t>
            </a:r>
            <a:endParaRPr lang="en-US" altLang="zh-CN" sz="1600" dirty="0"/>
          </a:p>
        </p:txBody>
      </p:sp>
      <p:cxnSp>
        <p:nvCxnSpPr>
          <p:cNvPr id="39" name="直接箭头连接符 38">
            <a:extLst>
              <a:ext uri="{FF2B5EF4-FFF2-40B4-BE49-F238E27FC236}">
                <a16:creationId xmlns:a16="http://schemas.microsoft.com/office/drawing/2014/main" id="{CE1BDA6F-3CC8-136B-10C2-FEC0BCB00FBC}"/>
              </a:ext>
            </a:extLst>
          </p:cNvPr>
          <p:cNvCxnSpPr>
            <a:cxnSpLocks/>
          </p:cNvCxnSpPr>
          <p:nvPr/>
        </p:nvCxnSpPr>
        <p:spPr>
          <a:xfrm flipV="1">
            <a:off x="9199575" y="3020181"/>
            <a:ext cx="0" cy="184841"/>
          </a:xfrm>
          <a:prstGeom prst="straightConnector1">
            <a:avLst/>
          </a:prstGeom>
          <a:ln w="28575">
            <a:solidFill>
              <a:srgbClr val="1A4E7E"/>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D350E977-2BED-1667-D67A-BF5272D4357F}"/>
              </a:ext>
            </a:extLst>
          </p:cNvPr>
          <p:cNvSpPr txBox="1"/>
          <p:nvPr/>
        </p:nvSpPr>
        <p:spPr>
          <a:xfrm>
            <a:off x="8428236" y="2735640"/>
            <a:ext cx="3124823" cy="338554"/>
          </a:xfrm>
          <a:prstGeom prst="rect">
            <a:avLst/>
          </a:prstGeom>
          <a:noFill/>
        </p:spPr>
        <p:txBody>
          <a:bodyPr wrap="square" rtlCol="0">
            <a:spAutoFit/>
          </a:bodyPr>
          <a:lstStyle/>
          <a:p>
            <a:r>
              <a:rPr lang="zh-CN" altLang="en-US" sz="1600" b="1" dirty="0"/>
              <a:t>列</a:t>
            </a:r>
            <a:r>
              <a:rPr lang="zh-CN" altLang="en-US" sz="1600" dirty="0"/>
              <a:t>：不同基因组位置 </a:t>
            </a:r>
            <a:r>
              <a:rPr lang="en-US" altLang="zh-CN" sz="1600" dirty="0"/>
              <a:t>/ </a:t>
            </a:r>
            <a:r>
              <a:rPr lang="zh-CN" altLang="en-US" sz="1600" dirty="0"/>
              <a:t>调控区域</a:t>
            </a:r>
            <a:endParaRPr lang="en-US" altLang="zh-CN" sz="1600" dirty="0"/>
          </a:p>
        </p:txBody>
      </p:sp>
      <p:cxnSp>
        <p:nvCxnSpPr>
          <p:cNvPr id="43" name="直接箭头连接符 42">
            <a:extLst>
              <a:ext uri="{FF2B5EF4-FFF2-40B4-BE49-F238E27FC236}">
                <a16:creationId xmlns:a16="http://schemas.microsoft.com/office/drawing/2014/main" id="{CEF3963C-98E4-47BB-F688-15B8F0907FD8}"/>
              </a:ext>
            </a:extLst>
          </p:cNvPr>
          <p:cNvCxnSpPr>
            <a:cxnSpLocks/>
          </p:cNvCxnSpPr>
          <p:nvPr/>
        </p:nvCxnSpPr>
        <p:spPr>
          <a:xfrm flipH="1">
            <a:off x="7633241" y="4774831"/>
            <a:ext cx="369794" cy="255434"/>
          </a:xfrm>
          <a:prstGeom prst="straightConnector1">
            <a:avLst/>
          </a:prstGeom>
          <a:ln w="28575">
            <a:solidFill>
              <a:srgbClr val="1A4E7E"/>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AC52BDC-CF65-8DAF-74C1-44D0B8B04E39}"/>
              </a:ext>
            </a:extLst>
          </p:cNvPr>
          <p:cNvSpPr txBox="1"/>
          <p:nvPr/>
        </p:nvSpPr>
        <p:spPr>
          <a:xfrm>
            <a:off x="6564594" y="5025215"/>
            <a:ext cx="3124823" cy="338554"/>
          </a:xfrm>
          <a:prstGeom prst="rect">
            <a:avLst/>
          </a:prstGeom>
          <a:noFill/>
        </p:spPr>
        <p:txBody>
          <a:bodyPr wrap="square" rtlCol="0">
            <a:spAutoFit/>
          </a:bodyPr>
          <a:lstStyle/>
          <a:p>
            <a:r>
              <a:rPr lang="zh-CN" altLang="en-US" sz="1600" dirty="0"/>
              <a:t>开放信号（开放染色质或</a:t>
            </a:r>
            <a:r>
              <a:rPr lang="en-US" altLang="zh-CN" sz="1600" dirty="0"/>
              <a:t>peak</a:t>
            </a:r>
            <a:r>
              <a:rPr lang="zh-CN" altLang="en-US" sz="1600" dirty="0"/>
              <a:t>）</a:t>
            </a:r>
            <a:endParaRPr lang="en-US" altLang="zh-CN" sz="1600" dirty="0"/>
          </a:p>
        </p:txBody>
      </p:sp>
      <p:sp>
        <p:nvSpPr>
          <p:cNvPr id="6" name="箭头: 左右 5">
            <a:extLst>
              <a:ext uri="{FF2B5EF4-FFF2-40B4-BE49-F238E27FC236}">
                <a16:creationId xmlns:a16="http://schemas.microsoft.com/office/drawing/2014/main" id="{12A1D4EA-F5ED-0F4A-183B-BF8C60FFBB60}"/>
              </a:ext>
            </a:extLst>
          </p:cNvPr>
          <p:cNvSpPr/>
          <p:nvPr/>
        </p:nvSpPr>
        <p:spPr>
          <a:xfrm>
            <a:off x="5525267" y="3807489"/>
            <a:ext cx="922557" cy="448291"/>
          </a:xfrm>
          <a:prstGeom prst="leftRightArrow">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cs typeface="Calibri" panose="020F050202020403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advTm="50443"/>
    </mc:Choice>
    <mc:Fallback xmlns="" xmlns:a14="http://schemas.microsoft.com/office/drawing/2010/main" xmlns:asvg="http://schemas.microsoft.com/office/drawing/2016/SVG/main">
      <p:transition advTm="5044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
          <p:cNvSpPr/>
          <p:nvPr/>
        </p:nvSpPr>
        <p:spPr bwMode="auto">
          <a:xfrm rot="10800000" flipH="1">
            <a:off x="5004808" y="2598841"/>
            <a:ext cx="1976033" cy="637571"/>
          </a:xfrm>
          <a:custGeom>
            <a:avLst/>
            <a:gdLst>
              <a:gd name="T0" fmla="*/ 338 w 1031"/>
              <a:gd name="T1" fmla="*/ 0 h 318"/>
              <a:gd name="T2" fmla="*/ 371 w 1031"/>
              <a:gd name="T3" fmla="*/ 14 h 318"/>
              <a:gd name="T4" fmla="*/ 494 w 1031"/>
              <a:gd name="T5" fmla="*/ 134 h 318"/>
              <a:gd name="T6" fmla="*/ 533 w 1031"/>
              <a:gd name="T7" fmla="*/ 149 h 318"/>
              <a:gd name="T8" fmla="*/ 937 w 1031"/>
              <a:gd name="T9" fmla="*/ 152 h 318"/>
              <a:gd name="T10" fmla="*/ 948 w 1031"/>
              <a:gd name="T11" fmla="*/ 157 h 318"/>
              <a:gd name="T12" fmla="*/ 1028 w 1031"/>
              <a:gd name="T13" fmla="*/ 230 h 318"/>
              <a:gd name="T14" fmla="*/ 1028 w 1031"/>
              <a:gd name="T15" fmla="*/ 241 h 318"/>
              <a:gd name="T16" fmla="*/ 947 w 1031"/>
              <a:gd name="T17" fmla="*/ 313 h 318"/>
              <a:gd name="T18" fmla="*/ 936 w 1031"/>
              <a:gd name="T19" fmla="*/ 318 h 318"/>
              <a:gd name="T20" fmla="*/ 548 w 1031"/>
              <a:gd name="T21" fmla="*/ 315 h 318"/>
              <a:gd name="T22" fmla="*/ 478 w 1031"/>
              <a:gd name="T23" fmla="*/ 256 h 318"/>
              <a:gd name="T24" fmla="*/ 359 w 1031"/>
              <a:gd name="T25" fmla="*/ 48 h 318"/>
              <a:gd name="T26" fmla="*/ 331 w 1031"/>
              <a:gd name="T27" fmla="*/ 34 h 318"/>
              <a:gd name="T28" fmla="*/ 43 w 1031"/>
              <a:gd name="T29" fmla="*/ 35 h 318"/>
              <a:gd name="T30" fmla="*/ 0 w 1031"/>
              <a:gd name="T31" fmla="*/ 6 h 318"/>
              <a:gd name="T32" fmla="*/ 20 w 1031"/>
              <a:gd name="T33" fmla="*/ 2 h 318"/>
              <a:gd name="T34" fmla="*/ 338 w 1031"/>
              <a:gd name="T3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1" h="318">
                <a:moveTo>
                  <a:pt x="338" y="0"/>
                </a:moveTo>
                <a:cubicBezTo>
                  <a:pt x="356" y="0"/>
                  <a:pt x="366" y="9"/>
                  <a:pt x="371" y="14"/>
                </a:cubicBezTo>
                <a:cubicBezTo>
                  <a:pt x="401" y="43"/>
                  <a:pt x="494" y="134"/>
                  <a:pt x="494" y="134"/>
                </a:cubicBezTo>
                <a:cubicBezTo>
                  <a:pt x="503" y="141"/>
                  <a:pt x="515" y="149"/>
                  <a:pt x="533" y="149"/>
                </a:cubicBezTo>
                <a:cubicBezTo>
                  <a:pt x="557" y="149"/>
                  <a:pt x="937" y="152"/>
                  <a:pt x="937" y="152"/>
                </a:cubicBezTo>
                <a:cubicBezTo>
                  <a:pt x="941" y="152"/>
                  <a:pt x="945" y="154"/>
                  <a:pt x="948" y="157"/>
                </a:cubicBezTo>
                <a:cubicBezTo>
                  <a:pt x="1028" y="230"/>
                  <a:pt x="1028" y="230"/>
                  <a:pt x="1028" y="230"/>
                </a:cubicBezTo>
                <a:cubicBezTo>
                  <a:pt x="1031" y="233"/>
                  <a:pt x="1031" y="238"/>
                  <a:pt x="1028" y="241"/>
                </a:cubicBezTo>
                <a:cubicBezTo>
                  <a:pt x="947" y="313"/>
                  <a:pt x="947" y="313"/>
                  <a:pt x="947" y="313"/>
                </a:cubicBezTo>
                <a:cubicBezTo>
                  <a:pt x="944" y="317"/>
                  <a:pt x="940" y="318"/>
                  <a:pt x="936" y="318"/>
                </a:cubicBezTo>
                <a:cubicBezTo>
                  <a:pt x="936" y="318"/>
                  <a:pt x="565" y="315"/>
                  <a:pt x="548" y="315"/>
                </a:cubicBezTo>
                <a:cubicBezTo>
                  <a:pt x="514" y="315"/>
                  <a:pt x="492" y="284"/>
                  <a:pt x="478" y="256"/>
                </a:cubicBezTo>
                <a:cubicBezTo>
                  <a:pt x="462" y="223"/>
                  <a:pt x="384" y="91"/>
                  <a:pt x="359" y="48"/>
                </a:cubicBezTo>
                <a:cubicBezTo>
                  <a:pt x="351" y="34"/>
                  <a:pt x="336" y="34"/>
                  <a:pt x="331" y="34"/>
                </a:cubicBezTo>
                <a:cubicBezTo>
                  <a:pt x="327" y="34"/>
                  <a:pt x="65" y="35"/>
                  <a:pt x="43" y="35"/>
                </a:cubicBezTo>
                <a:cubicBezTo>
                  <a:pt x="0" y="6"/>
                  <a:pt x="0" y="6"/>
                  <a:pt x="0" y="6"/>
                </a:cubicBezTo>
                <a:cubicBezTo>
                  <a:pt x="20" y="2"/>
                  <a:pt x="20" y="2"/>
                  <a:pt x="20" y="2"/>
                </a:cubicBezTo>
                <a:cubicBezTo>
                  <a:pt x="45" y="2"/>
                  <a:pt x="337" y="0"/>
                  <a:pt x="338" y="0"/>
                </a:cubicBezTo>
                <a:close/>
              </a:path>
            </a:pathLst>
          </a:custGeom>
          <a:solidFill>
            <a:schemeClr val="accent1"/>
          </a:solidFill>
          <a:ln>
            <a:noFill/>
          </a:ln>
        </p:spPr>
        <p:txBody>
          <a:bodyPr anchor="ctr"/>
          <a:lstStyle/>
          <a:p>
            <a:pPr algn="ctr"/>
            <a:endParaRPr sz="1200">
              <a:latin typeface="微软雅黑" panose="020B0503020204020204" pitchFamily="34" charset="-122"/>
              <a:ea typeface="微软雅黑" panose="020B0503020204020204" pitchFamily="34" charset="-122"/>
            </a:endParaRPr>
          </a:p>
        </p:txBody>
      </p:sp>
      <p:sp>
        <p:nvSpPr>
          <p:cNvPr id="7" name="文本框 6"/>
          <p:cNvSpPr txBox="1"/>
          <p:nvPr/>
        </p:nvSpPr>
        <p:spPr>
          <a:xfrm flipH="1">
            <a:off x="6075489" y="2619889"/>
            <a:ext cx="800219" cy="276999"/>
          </a:xfrm>
          <a:prstGeom prst="rect">
            <a:avLst/>
          </a:prstGeom>
          <a:noFill/>
        </p:spPr>
        <p:txBody>
          <a:bodyPr wrap="none" rtlCol="0">
            <a:spAutoFit/>
          </a:bodyPr>
          <a:lstStyle/>
          <a:p>
            <a:r>
              <a:rPr lang="zh-CN" altLang="en-US" sz="1200" b="1">
                <a:solidFill>
                  <a:schemeClr val="bg1"/>
                </a:solidFill>
                <a:latin typeface="微软雅黑" panose="020B0503020204020204" pitchFamily="34" charset="-122"/>
                <a:ea typeface="微软雅黑" panose="020B0503020204020204" pitchFamily="34" charset="-122"/>
              </a:rPr>
              <a:t>研究现状</a:t>
            </a:r>
          </a:p>
        </p:txBody>
      </p:sp>
      <p:sp>
        <p:nvSpPr>
          <p:cNvPr id="8" name="任意多边形: 形状 7"/>
          <p:cNvSpPr/>
          <p:nvPr/>
        </p:nvSpPr>
        <p:spPr bwMode="auto">
          <a:xfrm rot="10800000">
            <a:off x="379532" y="2738238"/>
            <a:ext cx="1976033" cy="637571"/>
          </a:xfrm>
          <a:custGeom>
            <a:avLst/>
            <a:gdLst>
              <a:gd name="T0" fmla="*/ 338 w 1031"/>
              <a:gd name="T1" fmla="*/ 0 h 318"/>
              <a:gd name="T2" fmla="*/ 371 w 1031"/>
              <a:gd name="T3" fmla="*/ 14 h 318"/>
              <a:gd name="T4" fmla="*/ 494 w 1031"/>
              <a:gd name="T5" fmla="*/ 134 h 318"/>
              <a:gd name="T6" fmla="*/ 533 w 1031"/>
              <a:gd name="T7" fmla="*/ 149 h 318"/>
              <a:gd name="T8" fmla="*/ 937 w 1031"/>
              <a:gd name="T9" fmla="*/ 152 h 318"/>
              <a:gd name="T10" fmla="*/ 948 w 1031"/>
              <a:gd name="T11" fmla="*/ 157 h 318"/>
              <a:gd name="T12" fmla="*/ 1028 w 1031"/>
              <a:gd name="T13" fmla="*/ 230 h 318"/>
              <a:gd name="T14" fmla="*/ 1028 w 1031"/>
              <a:gd name="T15" fmla="*/ 241 h 318"/>
              <a:gd name="T16" fmla="*/ 947 w 1031"/>
              <a:gd name="T17" fmla="*/ 313 h 318"/>
              <a:gd name="T18" fmla="*/ 936 w 1031"/>
              <a:gd name="T19" fmla="*/ 318 h 318"/>
              <a:gd name="T20" fmla="*/ 548 w 1031"/>
              <a:gd name="T21" fmla="*/ 315 h 318"/>
              <a:gd name="T22" fmla="*/ 478 w 1031"/>
              <a:gd name="T23" fmla="*/ 256 h 318"/>
              <a:gd name="T24" fmla="*/ 359 w 1031"/>
              <a:gd name="T25" fmla="*/ 48 h 318"/>
              <a:gd name="T26" fmla="*/ 331 w 1031"/>
              <a:gd name="T27" fmla="*/ 34 h 318"/>
              <a:gd name="T28" fmla="*/ 43 w 1031"/>
              <a:gd name="T29" fmla="*/ 35 h 318"/>
              <a:gd name="T30" fmla="*/ 0 w 1031"/>
              <a:gd name="T31" fmla="*/ 6 h 318"/>
              <a:gd name="T32" fmla="*/ 20 w 1031"/>
              <a:gd name="T33" fmla="*/ 2 h 318"/>
              <a:gd name="T34" fmla="*/ 338 w 1031"/>
              <a:gd name="T3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1" h="318">
                <a:moveTo>
                  <a:pt x="338" y="0"/>
                </a:moveTo>
                <a:cubicBezTo>
                  <a:pt x="356" y="0"/>
                  <a:pt x="366" y="9"/>
                  <a:pt x="371" y="14"/>
                </a:cubicBezTo>
                <a:cubicBezTo>
                  <a:pt x="401" y="43"/>
                  <a:pt x="494" y="134"/>
                  <a:pt x="494" y="134"/>
                </a:cubicBezTo>
                <a:cubicBezTo>
                  <a:pt x="503" y="141"/>
                  <a:pt x="515" y="149"/>
                  <a:pt x="533" y="149"/>
                </a:cubicBezTo>
                <a:cubicBezTo>
                  <a:pt x="557" y="149"/>
                  <a:pt x="937" y="152"/>
                  <a:pt x="937" y="152"/>
                </a:cubicBezTo>
                <a:cubicBezTo>
                  <a:pt x="941" y="152"/>
                  <a:pt x="945" y="154"/>
                  <a:pt x="948" y="157"/>
                </a:cubicBezTo>
                <a:cubicBezTo>
                  <a:pt x="1028" y="230"/>
                  <a:pt x="1028" y="230"/>
                  <a:pt x="1028" y="230"/>
                </a:cubicBezTo>
                <a:cubicBezTo>
                  <a:pt x="1031" y="233"/>
                  <a:pt x="1031" y="238"/>
                  <a:pt x="1028" y="241"/>
                </a:cubicBezTo>
                <a:cubicBezTo>
                  <a:pt x="947" y="313"/>
                  <a:pt x="947" y="313"/>
                  <a:pt x="947" y="313"/>
                </a:cubicBezTo>
                <a:cubicBezTo>
                  <a:pt x="944" y="317"/>
                  <a:pt x="940" y="318"/>
                  <a:pt x="936" y="318"/>
                </a:cubicBezTo>
                <a:cubicBezTo>
                  <a:pt x="936" y="318"/>
                  <a:pt x="565" y="315"/>
                  <a:pt x="548" y="315"/>
                </a:cubicBezTo>
                <a:cubicBezTo>
                  <a:pt x="514" y="315"/>
                  <a:pt x="492" y="284"/>
                  <a:pt x="478" y="256"/>
                </a:cubicBezTo>
                <a:cubicBezTo>
                  <a:pt x="462" y="223"/>
                  <a:pt x="384" y="91"/>
                  <a:pt x="359" y="48"/>
                </a:cubicBezTo>
                <a:cubicBezTo>
                  <a:pt x="351" y="34"/>
                  <a:pt x="336" y="34"/>
                  <a:pt x="331" y="34"/>
                </a:cubicBezTo>
                <a:cubicBezTo>
                  <a:pt x="327" y="34"/>
                  <a:pt x="65" y="35"/>
                  <a:pt x="43" y="35"/>
                </a:cubicBezTo>
                <a:cubicBezTo>
                  <a:pt x="0" y="6"/>
                  <a:pt x="0" y="6"/>
                  <a:pt x="0" y="6"/>
                </a:cubicBezTo>
                <a:cubicBezTo>
                  <a:pt x="20" y="2"/>
                  <a:pt x="20" y="2"/>
                  <a:pt x="20" y="2"/>
                </a:cubicBezTo>
                <a:cubicBezTo>
                  <a:pt x="45" y="2"/>
                  <a:pt x="337" y="0"/>
                  <a:pt x="338" y="0"/>
                </a:cubicBezTo>
                <a:close/>
              </a:path>
            </a:pathLst>
          </a:custGeom>
          <a:solidFill>
            <a:schemeClr val="accent1"/>
          </a:solidFill>
          <a:ln>
            <a:noFill/>
          </a:ln>
        </p:spPr>
        <p:txBody>
          <a:bodyPr anchor="ctr"/>
          <a:lstStyle/>
          <a:p>
            <a:pPr algn="ctr"/>
            <a:endParaRPr sz="1200">
              <a:latin typeface="微软雅黑" panose="020B0503020204020204" pitchFamily="34" charset="-122"/>
              <a:ea typeface="微软雅黑" panose="020B0503020204020204" pitchFamily="34" charset="-122"/>
            </a:endParaRPr>
          </a:p>
        </p:txBody>
      </p:sp>
      <p:sp>
        <p:nvSpPr>
          <p:cNvPr id="9" name="文本框 8"/>
          <p:cNvSpPr txBox="1"/>
          <p:nvPr/>
        </p:nvSpPr>
        <p:spPr>
          <a:xfrm>
            <a:off x="484665" y="2759286"/>
            <a:ext cx="954107" cy="276999"/>
          </a:xfrm>
          <a:prstGeom prst="rect">
            <a:avLst/>
          </a:prstGeom>
          <a:noFill/>
        </p:spPr>
        <p:txBody>
          <a:bodyPr wrap="none" rtlCol="0">
            <a:spAutoFit/>
          </a:bodyPr>
          <a:lstStyle/>
          <a:p>
            <a:r>
              <a:rPr lang="zh-CN" altLang="en-US" sz="1200" b="1">
                <a:solidFill>
                  <a:schemeClr val="bg1"/>
                </a:solidFill>
                <a:latin typeface="微软雅黑" panose="020B0503020204020204" pitchFamily="34" charset="-122"/>
                <a:ea typeface="微软雅黑" panose="020B0503020204020204" pitchFamily="34" charset="-122"/>
              </a:rPr>
              <a:t>现状与不足</a:t>
            </a:r>
          </a:p>
        </p:txBody>
      </p:sp>
      <p:sp>
        <p:nvSpPr>
          <p:cNvPr id="17" name="矩形 16"/>
          <p:cNvSpPr/>
          <p:nvPr/>
        </p:nvSpPr>
        <p:spPr>
          <a:xfrm>
            <a:off x="588294" y="3251427"/>
            <a:ext cx="2829921" cy="1796734"/>
          </a:xfrm>
          <a:prstGeom prst="rect">
            <a:avLst/>
          </a:prstGeom>
          <a:solidFill>
            <a:srgbClr val="A6A6A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任意多边形: 形状 17"/>
          <p:cNvSpPr>
            <a:spLocks noChangeAspect="1"/>
          </p:cNvSpPr>
          <p:nvPr/>
        </p:nvSpPr>
        <p:spPr bwMode="auto">
          <a:xfrm>
            <a:off x="4021976" y="1388765"/>
            <a:ext cx="2484233" cy="394250"/>
          </a:xfrm>
          <a:custGeom>
            <a:avLst/>
            <a:gdLst>
              <a:gd name="T0" fmla="*/ 489 w 1012"/>
              <a:gd name="T1" fmla="*/ 168 h 176"/>
              <a:gd name="T2" fmla="*/ 918 w 1012"/>
              <a:gd name="T3" fmla="*/ 166 h 176"/>
              <a:gd name="T4" fmla="*/ 929 w 1012"/>
              <a:gd name="T5" fmla="*/ 161 h 176"/>
              <a:gd name="T6" fmla="*/ 1009 w 1012"/>
              <a:gd name="T7" fmla="*/ 90 h 176"/>
              <a:gd name="T8" fmla="*/ 1009 w 1012"/>
              <a:gd name="T9" fmla="*/ 79 h 176"/>
              <a:gd name="T10" fmla="*/ 929 w 1012"/>
              <a:gd name="T11" fmla="*/ 5 h 176"/>
              <a:gd name="T12" fmla="*/ 917 w 1012"/>
              <a:gd name="T13" fmla="*/ 0 h 176"/>
              <a:gd name="T14" fmla="*/ 513 w 1012"/>
              <a:gd name="T15" fmla="*/ 2 h 176"/>
              <a:gd name="T16" fmla="*/ 477 w 1012"/>
              <a:gd name="T17" fmla="*/ 16 h 176"/>
              <a:gd name="T18" fmla="*/ 476 w 1012"/>
              <a:gd name="T19" fmla="*/ 17 h 176"/>
              <a:gd name="T20" fmla="*/ 351 w 1012"/>
              <a:gd name="T21" fmla="*/ 128 h 176"/>
              <a:gd name="T22" fmla="*/ 318 w 1012"/>
              <a:gd name="T23" fmla="*/ 140 h 176"/>
              <a:gd name="T24" fmla="*/ 314 w 1012"/>
              <a:gd name="T25" fmla="*/ 140 h 176"/>
              <a:gd name="T26" fmla="*/ 198 w 1012"/>
              <a:gd name="T27" fmla="*/ 138 h 176"/>
              <a:gd name="T28" fmla="*/ 0 w 1012"/>
              <a:gd name="T29" fmla="*/ 139 h 176"/>
              <a:gd name="T30" fmla="*/ 0 w 1012"/>
              <a:gd name="T31" fmla="*/ 175 h 176"/>
              <a:gd name="T32" fmla="*/ 366 w 1012"/>
              <a:gd name="T33" fmla="*/ 176 h 176"/>
              <a:gd name="T34" fmla="*/ 489 w 1012"/>
              <a:gd name="T35" fmla="*/ 16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2" h="176">
                <a:moveTo>
                  <a:pt x="489" y="168"/>
                </a:moveTo>
                <a:cubicBezTo>
                  <a:pt x="918" y="166"/>
                  <a:pt x="918" y="166"/>
                  <a:pt x="918" y="166"/>
                </a:cubicBezTo>
                <a:cubicBezTo>
                  <a:pt x="922" y="166"/>
                  <a:pt x="926" y="164"/>
                  <a:pt x="929" y="161"/>
                </a:cubicBezTo>
                <a:cubicBezTo>
                  <a:pt x="1009" y="90"/>
                  <a:pt x="1009" y="90"/>
                  <a:pt x="1009" y="90"/>
                </a:cubicBezTo>
                <a:cubicBezTo>
                  <a:pt x="1012" y="87"/>
                  <a:pt x="1012" y="82"/>
                  <a:pt x="1009" y="79"/>
                </a:cubicBezTo>
                <a:cubicBezTo>
                  <a:pt x="929" y="5"/>
                  <a:pt x="929" y="5"/>
                  <a:pt x="929" y="5"/>
                </a:cubicBezTo>
                <a:cubicBezTo>
                  <a:pt x="926" y="2"/>
                  <a:pt x="922" y="0"/>
                  <a:pt x="917" y="0"/>
                </a:cubicBezTo>
                <a:cubicBezTo>
                  <a:pt x="917" y="0"/>
                  <a:pt x="531" y="2"/>
                  <a:pt x="513" y="2"/>
                </a:cubicBezTo>
                <a:cubicBezTo>
                  <a:pt x="496" y="2"/>
                  <a:pt x="485" y="9"/>
                  <a:pt x="477" y="16"/>
                </a:cubicBezTo>
                <a:cubicBezTo>
                  <a:pt x="477" y="16"/>
                  <a:pt x="476" y="16"/>
                  <a:pt x="476" y="17"/>
                </a:cubicBezTo>
                <a:cubicBezTo>
                  <a:pt x="476" y="17"/>
                  <a:pt x="382" y="102"/>
                  <a:pt x="351" y="128"/>
                </a:cubicBezTo>
                <a:cubicBezTo>
                  <a:pt x="346" y="133"/>
                  <a:pt x="339" y="140"/>
                  <a:pt x="318" y="140"/>
                </a:cubicBezTo>
                <a:cubicBezTo>
                  <a:pt x="317" y="140"/>
                  <a:pt x="315" y="140"/>
                  <a:pt x="314" y="140"/>
                </a:cubicBezTo>
                <a:cubicBezTo>
                  <a:pt x="308" y="140"/>
                  <a:pt x="264" y="138"/>
                  <a:pt x="198" y="138"/>
                </a:cubicBezTo>
                <a:cubicBezTo>
                  <a:pt x="139" y="138"/>
                  <a:pt x="11" y="139"/>
                  <a:pt x="0" y="139"/>
                </a:cubicBezTo>
                <a:cubicBezTo>
                  <a:pt x="0" y="175"/>
                  <a:pt x="0" y="175"/>
                  <a:pt x="0" y="175"/>
                </a:cubicBezTo>
                <a:cubicBezTo>
                  <a:pt x="366" y="176"/>
                  <a:pt x="366" y="176"/>
                  <a:pt x="366" y="176"/>
                </a:cubicBezTo>
                <a:cubicBezTo>
                  <a:pt x="366" y="176"/>
                  <a:pt x="479" y="168"/>
                  <a:pt x="489" y="168"/>
                </a:cubicBezTo>
                <a:close/>
              </a:path>
            </a:pathLst>
          </a:custGeom>
          <a:solidFill>
            <a:schemeClr val="accent1"/>
          </a:solidFill>
          <a:ln>
            <a:noFill/>
          </a:ln>
        </p:spPr>
        <p:txBody>
          <a:bodyPr anchor="ctr"/>
          <a:lstStyle/>
          <a:p>
            <a:pPr algn="ctr"/>
            <a:r>
              <a:rPr lang="en-US" sz="1200" b="1">
                <a:solidFill>
                  <a:schemeClr val="bg1"/>
                </a:solidFill>
                <a:latin typeface="微软雅黑" panose="020B0503020204020204" pitchFamily="34" charset="-122"/>
                <a:ea typeface="微软雅黑" panose="020B0503020204020204" pitchFamily="34" charset="-122"/>
              </a:rPr>
              <a:t>               </a:t>
            </a:r>
            <a:r>
              <a:rPr lang="zh-CN" altLang="en-US" sz="1200" b="1">
                <a:solidFill>
                  <a:schemeClr val="bg1"/>
                </a:solidFill>
                <a:latin typeface="微软雅黑" panose="020B0503020204020204" pitchFamily="34" charset="-122"/>
                <a:ea typeface="微软雅黑" panose="020B0503020204020204" pitchFamily="34" charset="-122"/>
              </a:rPr>
              <a:t>研究背景</a:t>
            </a:r>
            <a:endParaRPr sz="1200" b="1">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a:spLocks noChangeArrowheads="1"/>
          </p:cNvSpPr>
          <p:nvPr/>
        </p:nvSpPr>
        <p:spPr bwMode="auto">
          <a:xfrm>
            <a:off x="2273154" y="1534773"/>
            <a:ext cx="2242953" cy="1384995"/>
          </a:xfrm>
          <a:prstGeom prst="rect">
            <a:avLst/>
          </a:prstGeom>
          <a:solidFill>
            <a:schemeClr val="bg1"/>
          </a:solidFill>
          <a:ln w="19050">
            <a:solidFill>
              <a:schemeClr val="tx1">
                <a:lumMod val="75000"/>
                <a:lumOff val="25000"/>
              </a:schemeClr>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00" b="1" dirty="0">
                <a:latin typeface="微软雅黑" panose="020B0503020204020204" pitchFamily="34" charset="-122"/>
                <a:ea typeface="微软雅黑" panose="020B0503020204020204" pitchFamily="34" charset="-122"/>
              </a:rPr>
              <a:t>GWAS </a:t>
            </a:r>
            <a:r>
              <a:rPr lang="zh-CN" altLang="en-US" sz="1400" b="1" dirty="0">
                <a:latin typeface="微软雅黑" panose="020B0503020204020204" pitchFamily="34" charset="-122"/>
                <a:ea typeface="微软雅黑" panose="020B0503020204020204" pitchFamily="34" charset="-122"/>
              </a:rPr>
              <a:t>与单细胞组学结合</a:t>
            </a:r>
            <a:r>
              <a:rPr lang="zh-CN" altLang="en-US" sz="1400" dirty="0">
                <a:latin typeface="微软雅黑" panose="020B0503020204020204" pitchFamily="34" charset="-122"/>
                <a:ea typeface="微软雅黑" panose="020B0503020204020204" pitchFamily="34" charset="-122"/>
              </a:rPr>
              <a:t>，已成为解析复杂疾病机制的重要思路；但</a:t>
            </a:r>
            <a:r>
              <a:rPr lang="zh-CN" altLang="en-US" sz="1400" b="1" dirty="0">
                <a:latin typeface="微软雅黑" panose="020B0503020204020204" pitchFamily="34" charset="-122"/>
                <a:ea typeface="微软雅黑" panose="020B0503020204020204" pitchFamily="34" charset="-122"/>
              </a:rPr>
              <a:t>单细胞表观基因组数据稀疏性</a:t>
            </a:r>
            <a:r>
              <a:rPr lang="zh-CN" altLang="en-US" sz="1400" dirty="0">
                <a:latin typeface="微软雅黑" panose="020B0503020204020204" pitchFamily="34" charset="-122"/>
                <a:ea typeface="微软雅黑" panose="020B0503020204020204" pitchFamily="34" charset="-122"/>
              </a:rPr>
              <a:t>常超过 </a:t>
            </a:r>
            <a:r>
              <a:rPr lang="en-US" altLang="zh-CN" sz="1400" dirty="0">
                <a:latin typeface="微软雅黑" panose="020B0503020204020204" pitchFamily="34" charset="-122"/>
                <a:ea typeface="微软雅黑" panose="020B0503020204020204" pitchFamily="34" charset="-122"/>
              </a:rPr>
              <a:t>95%</a:t>
            </a:r>
            <a:r>
              <a:rPr lang="zh-CN" altLang="en-US" sz="1400" dirty="0">
                <a:latin typeface="微软雅黑" panose="020B0503020204020204" pitchFamily="34" charset="-122"/>
                <a:ea typeface="微软雅黑" panose="020B0503020204020204" pitchFamily="34" charset="-122"/>
              </a:rPr>
              <a:t>，并伴随</a:t>
            </a:r>
            <a:r>
              <a:rPr lang="zh-CN" altLang="en-US" sz="1400" b="1" dirty="0">
                <a:latin typeface="微软雅黑" panose="020B0503020204020204" pitchFamily="34" charset="-122"/>
                <a:ea typeface="微软雅黑" panose="020B0503020204020204" pitchFamily="34" charset="-122"/>
              </a:rPr>
              <a:t>技术掉失</a:t>
            </a:r>
            <a:r>
              <a:rPr lang="zh-CN" altLang="en-US" sz="1400" dirty="0">
                <a:latin typeface="微软雅黑" panose="020B0503020204020204" pitchFamily="34" charset="-122"/>
                <a:ea typeface="微软雅黑" panose="020B0503020204020204" pitchFamily="34" charset="-122"/>
              </a:rPr>
              <a:t>与</a:t>
            </a:r>
            <a:r>
              <a:rPr lang="zh-CN" altLang="en-US" sz="1400" b="1" dirty="0">
                <a:latin typeface="微软雅黑" panose="020B0503020204020204" pitchFamily="34" charset="-122"/>
                <a:ea typeface="微软雅黑" panose="020B0503020204020204" pitchFamily="34" charset="-122"/>
              </a:rPr>
              <a:t>高噪声</a:t>
            </a:r>
            <a:r>
              <a:rPr lang="zh-CN" altLang="en-US" sz="1400" dirty="0">
                <a:latin typeface="微软雅黑" panose="020B0503020204020204" pitchFamily="34" charset="-122"/>
                <a:ea typeface="微软雅黑" panose="020B0503020204020204" pitchFamily="34" charset="-122"/>
              </a:rPr>
              <a:t>。</a:t>
            </a:r>
          </a:p>
        </p:txBody>
      </p:sp>
      <p:cxnSp>
        <p:nvCxnSpPr>
          <p:cNvPr id="23" name="连接符: 肘形 22"/>
          <p:cNvCxnSpPr>
            <a:cxnSpLocks/>
            <a:stCxn id="22" idx="1"/>
            <a:endCxn id="17" idx="0"/>
          </p:cNvCxnSpPr>
          <p:nvPr/>
        </p:nvCxnSpPr>
        <p:spPr>
          <a:xfrm rot="10800000" flipV="1">
            <a:off x="2003256" y="2227271"/>
            <a:ext cx="269899" cy="1024156"/>
          </a:xfrm>
          <a:prstGeom prst="bentConnector2">
            <a:avLst/>
          </a:prstGeom>
          <a:noFill/>
          <a:ln w="38100" cap="flat" cmpd="sng" algn="ctr">
            <a:solidFill>
              <a:schemeClr val="accent1"/>
            </a:solidFill>
            <a:prstDash val="solid"/>
            <a:miter lim="800000"/>
            <a:tailEnd type="triangle"/>
          </a:ln>
          <a:effectLst/>
        </p:spPr>
      </p:cxnSp>
      <p:cxnSp>
        <p:nvCxnSpPr>
          <p:cNvPr id="24" name="连接符: 肘形 23"/>
          <p:cNvCxnSpPr>
            <a:cxnSpLocks/>
            <a:stCxn id="22" idx="3"/>
            <a:endCxn id="27" idx="0"/>
          </p:cNvCxnSpPr>
          <p:nvPr/>
        </p:nvCxnSpPr>
        <p:spPr>
          <a:xfrm>
            <a:off x="4516107" y="2227271"/>
            <a:ext cx="718854" cy="881587"/>
          </a:xfrm>
          <a:prstGeom prst="bentConnector2">
            <a:avLst/>
          </a:prstGeom>
          <a:noFill/>
          <a:ln w="38100" cap="flat" cmpd="sng" algn="ctr">
            <a:solidFill>
              <a:schemeClr val="accent1"/>
            </a:solidFill>
            <a:prstDash val="solid"/>
            <a:miter lim="800000"/>
            <a:tailEnd type="triangle"/>
          </a:ln>
          <a:effectLst/>
        </p:spPr>
      </p:cxnSp>
      <p:sp>
        <p:nvSpPr>
          <p:cNvPr id="25" name="文本框 24"/>
          <p:cNvSpPr txBox="1">
            <a:spLocks noChangeArrowheads="1"/>
          </p:cNvSpPr>
          <p:nvPr/>
        </p:nvSpPr>
        <p:spPr bwMode="auto">
          <a:xfrm>
            <a:off x="651533" y="3358640"/>
            <a:ext cx="2681503" cy="738664"/>
          </a:xfrm>
          <a:prstGeom prst="rect">
            <a:avLst/>
          </a:prstGeom>
          <a:solidFill>
            <a:schemeClr val="bg1"/>
          </a:solidFill>
          <a:ln w="19050">
            <a:solidFill>
              <a:schemeClr val="tx1">
                <a:lumMod val="75000"/>
                <a:lumOff val="25000"/>
              </a:schemeClr>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400" dirty="0">
                <a:latin typeface="微软雅黑" panose="020B0503020204020204" pitchFamily="34" charset="-122"/>
                <a:ea typeface="微软雅黑" panose="020B0503020204020204" pitchFamily="34" charset="-122"/>
              </a:rPr>
              <a:t>传统方法通常依赖</a:t>
            </a:r>
            <a:r>
              <a:rPr lang="zh-CN" altLang="en-US" sz="1400" b="1" dirty="0">
                <a:latin typeface="微软雅黑" panose="020B0503020204020204" pitchFamily="34" charset="-122"/>
                <a:ea typeface="微软雅黑" panose="020B0503020204020204" pitchFamily="34" charset="-122"/>
              </a:rPr>
              <a:t>单个细胞的局部共定位信号</a:t>
            </a:r>
            <a:r>
              <a:rPr lang="zh-CN" altLang="en-US" sz="1400" dirty="0">
                <a:latin typeface="微软雅黑" panose="020B0503020204020204" pitchFamily="34" charset="-122"/>
                <a:ea typeface="微软雅黑" panose="020B0503020204020204" pitchFamily="34" charset="-122"/>
              </a:rPr>
              <a:t>，判断其调控模式是否与 </a:t>
            </a:r>
            <a:r>
              <a:rPr lang="en-US" altLang="zh-CN" sz="1400" dirty="0">
                <a:latin typeface="微软雅黑" panose="020B0503020204020204" pitchFamily="34" charset="-122"/>
                <a:ea typeface="微软雅黑" panose="020B0503020204020204" pitchFamily="34" charset="-122"/>
              </a:rPr>
              <a:t>GWAS </a:t>
            </a:r>
            <a:r>
              <a:rPr lang="zh-CN" altLang="en-US" sz="1400" dirty="0">
                <a:latin typeface="微软雅黑" panose="020B0503020204020204" pitchFamily="34" charset="-122"/>
                <a:ea typeface="微软雅黑" panose="020B0503020204020204" pitchFamily="34" charset="-122"/>
              </a:rPr>
              <a:t>风险变异匹配。</a:t>
            </a:r>
          </a:p>
        </p:txBody>
      </p:sp>
      <p:sp>
        <p:nvSpPr>
          <p:cNvPr id="27" name="矩形 26"/>
          <p:cNvSpPr/>
          <p:nvPr/>
        </p:nvSpPr>
        <p:spPr>
          <a:xfrm>
            <a:off x="3603847" y="3108858"/>
            <a:ext cx="3262227" cy="2305179"/>
          </a:xfrm>
          <a:prstGeom prst="rect">
            <a:avLst/>
          </a:prstGeom>
          <a:solidFill>
            <a:srgbClr val="A6A6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1" name="文本框 30"/>
          <p:cNvSpPr txBox="1">
            <a:spLocks noChangeArrowheads="1"/>
          </p:cNvSpPr>
          <p:nvPr/>
        </p:nvSpPr>
        <p:spPr bwMode="auto">
          <a:xfrm>
            <a:off x="3706756" y="3236412"/>
            <a:ext cx="3048859" cy="765458"/>
          </a:xfrm>
          <a:prstGeom prst="rect">
            <a:avLst/>
          </a:prstGeom>
          <a:solidFill>
            <a:schemeClr val="bg1"/>
          </a:solidFill>
          <a:ln w="19050">
            <a:solidFill>
              <a:schemeClr val="tx1">
                <a:lumMod val="75000"/>
                <a:lumOff val="25000"/>
              </a:schemeClr>
            </a:solidFill>
            <a:miter lim="800000"/>
          </a:ln>
        </p:spPr>
        <p:txBody>
          <a:bodyPr wrap="square"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单细胞层面的直接共定位</a:t>
            </a:r>
            <a:r>
              <a:rPr lang="en-US" altLang="zh-CN" sz="1400" dirty="0">
                <a:latin typeface="微软雅黑" panose="020B0503020204020204" pitchFamily="34" charset="-122"/>
                <a:ea typeface="微软雅黑" panose="020B0503020204020204" pitchFamily="34" charset="-122"/>
              </a:rPr>
              <a:t>:</a:t>
            </a:r>
          </a:p>
          <a:p>
            <a:pPr>
              <a:defRPr/>
            </a:pPr>
            <a:r>
              <a:rPr lang="zh-CN" altLang="en-US" sz="1400" dirty="0">
                <a:latin typeface="微软雅黑" panose="020B0503020204020204" pitchFamily="34" charset="-122"/>
                <a:ea typeface="微软雅黑" panose="020B0503020204020204" pitchFamily="34" charset="-122"/>
              </a:rPr>
              <a:t>   直接计算每个细胞与目标表型的初始相关性。</a:t>
            </a:r>
            <a:r>
              <a:rPr lang="en-US" altLang="zh-CN"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eg.g-chromVAR</a:t>
            </a:r>
            <a:r>
              <a:rPr lang="en-US" altLang="zh-CN" sz="1400" dirty="0">
                <a:latin typeface="微软雅黑" panose="020B0503020204020204" pitchFamily="34" charset="-122"/>
                <a:ea typeface="微软雅黑" panose="020B0503020204020204" pitchFamily="34" charset="-122"/>
              </a:rPr>
              <a:t> )</a:t>
            </a:r>
          </a:p>
        </p:txBody>
      </p:sp>
      <p:sp>
        <p:nvSpPr>
          <p:cNvPr id="32" name="文本框 31"/>
          <p:cNvSpPr txBox="1">
            <a:spLocks noChangeArrowheads="1"/>
          </p:cNvSpPr>
          <p:nvPr/>
        </p:nvSpPr>
        <p:spPr bwMode="auto">
          <a:xfrm>
            <a:off x="3716900" y="4074574"/>
            <a:ext cx="3026281" cy="1192766"/>
          </a:xfrm>
          <a:prstGeom prst="rect">
            <a:avLst/>
          </a:prstGeom>
          <a:solidFill>
            <a:schemeClr val="bg1"/>
          </a:solidFill>
          <a:ln w="19050">
            <a:solidFill>
              <a:schemeClr val="tx1">
                <a:lumMod val="75000"/>
                <a:lumOff val="25000"/>
              </a:schemeClr>
            </a:solidFill>
            <a:miter lim="800000"/>
          </a:ln>
        </p:spPr>
        <p:txBody>
          <a:bodyPr wrap="square" anchor="ctr"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基于细胞网络的</a:t>
            </a:r>
            <a:r>
              <a:rPr lang="en-US" altLang="zh-CN" sz="1400" dirty="0">
                <a:latin typeface="微软雅黑" panose="020B0503020204020204" pitchFamily="34" charset="-122"/>
                <a:ea typeface="微软雅黑" panose="020B0503020204020204" pitchFamily="34" charset="-122"/>
              </a:rPr>
              <a:t>scavenge</a:t>
            </a:r>
            <a:r>
              <a:rPr lang="zh-CN" altLang="en-US" sz="1400" dirty="0">
                <a:latin typeface="微软雅黑" panose="020B0503020204020204" pitchFamily="34" charset="-122"/>
                <a:ea typeface="微软雅黑" panose="020B0503020204020204" pitchFamily="34" charset="-122"/>
              </a:rPr>
              <a:t>算法：</a:t>
            </a:r>
            <a:br>
              <a:rPr lang="zh-CN" altLang="en-US" sz="1400" dirty="0">
                <a:latin typeface="微软雅黑" panose="020B0503020204020204" pitchFamily="34" charset="-122"/>
                <a:ea typeface="微软雅黑" panose="020B0503020204020204" pitchFamily="34" charset="-122"/>
              </a:rPr>
            </a:br>
            <a:r>
              <a:rPr lang="zh-CN" altLang="en-US" sz="1400" dirty="0">
                <a:latin typeface="微软雅黑" panose="020B0503020204020204" pitchFamily="34" charset="-122"/>
                <a:ea typeface="微软雅黑" panose="020B0503020204020204" pitchFamily="34" charset="-122"/>
              </a:rPr>
              <a:t>  借鉴 </a:t>
            </a:r>
            <a:r>
              <a:rPr lang="en-US" altLang="zh-CN" sz="1400" b="1" dirty="0">
                <a:latin typeface="微软雅黑" panose="020B0503020204020204" pitchFamily="34" charset="-122"/>
                <a:ea typeface="微软雅黑" panose="020B0503020204020204" pitchFamily="34" charset="-122"/>
              </a:rPr>
              <a:t>PageRank</a:t>
            </a:r>
            <a:r>
              <a:rPr lang="zh-CN" altLang="en-US" sz="1400" b="1" dirty="0">
                <a:latin typeface="微软雅黑" panose="020B0503020204020204" pitchFamily="34" charset="-122"/>
                <a:ea typeface="微软雅黑" panose="020B0503020204020204" pitchFamily="34" charset="-122"/>
              </a:rPr>
              <a:t> 算法</a:t>
            </a:r>
            <a:r>
              <a:rPr lang="zh-CN" altLang="en-US" sz="1400" dirty="0">
                <a:latin typeface="微软雅黑" panose="020B0503020204020204" pitchFamily="34" charset="-122"/>
                <a:ea typeface="微软雅黑" panose="020B0503020204020204" pitchFamily="34" charset="-122"/>
              </a:rPr>
              <a:t>，将高维空间的细胞相似性构建为互联网络，从依赖孤立的局部信号转向捕捉全局拓扑关联。</a:t>
            </a:r>
            <a:endParaRPr lang="en-US" altLang="zh-CN" sz="1400" dirty="0">
              <a:latin typeface="微软雅黑" panose="020B0503020204020204" pitchFamily="34" charset="-122"/>
              <a:ea typeface="微软雅黑" panose="020B0503020204020204" pitchFamily="34" charset="-122"/>
            </a:endParaRPr>
          </a:p>
        </p:txBody>
      </p:sp>
      <p:sp>
        <p:nvSpPr>
          <p:cNvPr id="33" name="文本框 32"/>
          <p:cNvSpPr txBox="1">
            <a:spLocks noChangeArrowheads="1"/>
          </p:cNvSpPr>
          <p:nvPr/>
        </p:nvSpPr>
        <p:spPr bwMode="auto">
          <a:xfrm>
            <a:off x="622945" y="4094054"/>
            <a:ext cx="2747461" cy="954107"/>
          </a:xfrm>
          <a:prstGeom prst="rect">
            <a:avLst/>
          </a:prstGeom>
          <a:noFill/>
          <a:ln w="19050">
            <a:no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400" dirty="0">
                <a:latin typeface="微软雅黑" panose="020B0503020204020204" pitchFamily="34" charset="-122"/>
                <a:ea typeface="微软雅黑" panose="020B0503020204020204" pitchFamily="34" charset="-122"/>
              </a:rPr>
              <a:t>方法往往只能识别少数信号强、数据完整的细胞，而对真实相关但信号弱、分散或不完整的细胞难以稳定判断。</a:t>
            </a:r>
          </a:p>
        </p:txBody>
      </p:sp>
      <p:cxnSp>
        <p:nvCxnSpPr>
          <p:cNvPr id="34" name="连接符: 肘形 33"/>
          <p:cNvCxnSpPr>
            <a:cxnSpLocks/>
            <a:stCxn id="17" idx="1"/>
            <a:endCxn id="42" idx="1"/>
          </p:cNvCxnSpPr>
          <p:nvPr/>
        </p:nvCxnSpPr>
        <p:spPr>
          <a:xfrm rot="10800000" flipH="1" flipV="1">
            <a:off x="588293" y="4149794"/>
            <a:ext cx="2053347" cy="1621792"/>
          </a:xfrm>
          <a:prstGeom prst="bentConnector3">
            <a:avLst>
              <a:gd name="adj1" fmla="val -11133"/>
            </a:avLst>
          </a:prstGeom>
          <a:noFill/>
          <a:ln w="38100" cap="flat" cmpd="sng" algn="ctr">
            <a:solidFill>
              <a:schemeClr val="accent1"/>
            </a:solidFill>
            <a:prstDash val="solid"/>
            <a:miter lim="800000"/>
            <a:tailEnd type="triangle"/>
          </a:ln>
          <a:effectLst/>
        </p:spPr>
      </p:cxnSp>
      <p:cxnSp>
        <p:nvCxnSpPr>
          <p:cNvPr id="35" name="连接符: 肘形 34"/>
          <p:cNvCxnSpPr>
            <a:cxnSpLocks/>
            <a:stCxn id="27" idx="3"/>
            <a:endCxn id="42" idx="3"/>
          </p:cNvCxnSpPr>
          <p:nvPr/>
        </p:nvCxnSpPr>
        <p:spPr>
          <a:xfrm flipH="1">
            <a:off x="4385733" y="4261448"/>
            <a:ext cx="2480341" cy="1510138"/>
          </a:xfrm>
          <a:prstGeom prst="bentConnector3">
            <a:avLst>
              <a:gd name="adj1" fmla="val -9216"/>
            </a:avLst>
          </a:prstGeom>
          <a:noFill/>
          <a:ln w="38100" cap="flat" cmpd="sng" algn="ctr">
            <a:solidFill>
              <a:schemeClr val="accent1"/>
            </a:solidFill>
            <a:prstDash val="solid"/>
            <a:miter lim="800000"/>
            <a:tailEnd type="triangle"/>
          </a:ln>
          <a:effectLst/>
        </p:spPr>
      </p:cxnSp>
      <p:sp>
        <p:nvSpPr>
          <p:cNvPr id="42" name="文本框 41"/>
          <p:cNvSpPr txBox="1">
            <a:spLocks noChangeArrowheads="1"/>
          </p:cNvSpPr>
          <p:nvPr/>
        </p:nvSpPr>
        <p:spPr bwMode="auto">
          <a:xfrm>
            <a:off x="2641641" y="5534914"/>
            <a:ext cx="1744092" cy="473344"/>
          </a:xfrm>
          <a:prstGeom prst="rect">
            <a:avLst/>
          </a:prstGeom>
          <a:solidFill>
            <a:schemeClr val="accent1"/>
          </a:solidFill>
          <a:ln w="19050">
            <a:noFill/>
            <a:miter lim="800000"/>
          </a:ln>
        </p:spPr>
        <p:txBody>
          <a:bodyPr wrap="square" anchor="ctr" anchorCtr="1">
            <a:noAutofit/>
          </a:bodyPr>
          <a:lstStyle>
            <a:defPPr>
              <a:defRPr lang="zh-CN"/>
            </a:defPPr>
            <a:lvl1pPr algn="ctr" defTabSz="457200" eaLnBrk="1" hangingPunct="1">
              <a:defRPr b="1">
                <a:solidFill>
                  <a:srgbClr val="FFFF0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pPr algn="l"/>
            <a:r>
              <a:rPr lang="zh-CN" altLang="en-US" sz="1600" dirty="0">
                <a:solidFill>
                  <a:schemeClr val="bg1"/>
                </a:solidFill>
              </a:rPr>
              <a:t>三个主要步骤</a:t>
            </a:r>
          </a:p>
        </p:txBody>
      </p:sp>
      <p:cxnSp>
        <p:nvCxnSpPr>
          <p:cNvPr id="43" name="连接符: 肘形 42"/>
          <p:cNvCxnSpPr>
            <a:cxnSpLocks/>
            <a:stCxn id="42" idx="2"/>
            <a:endCxn id="44" idx="2"/>
          </p:cNvCxnSpPr>
          <p:nvPr/>
        </p:nvCxnSpPr>
        <p:spPr>
          <a:xfrm rot="16200000" flipH="1">
            <a:off x="6347317" y="3174627"/>
            <a:ext cx="348091" cy="6015351"/>
          </a:xfrm>
          <a:prstGeom prst="bentConnector3">
            <a:avLst>
              <a:gd name="adj1" fmla="val 165672"/>
            </a:avLst>
          </a:prstGeom>
          <a:ln w="57150" cmpd="thickThi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7270944" y="1252724"/>
            <a:ext cx="4516187" cy="5103625"/>
          </a:xfrm>
          <a:prstGeom prst="rect">
            <a:avLst/>
          </a:prstGeom>
          <a:solidFill>
            <a:schemeClr val="bg1">
              <a:lumMod val="65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5" name="矩形: 圆角 44"/>
          <p:cNvSpPr/>
          <p:nvPr/>
        </p:nvSpPr>
        <p:spPr>
          <a:xfrm>
            <a:off x="7364403" y="1305740"/>
            <a:ext cx="4339166" cy="1445180"/>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46" name="矩形: 圆角 45"/>
          <p:cNvSpPr/>
          <p:nvPr/>
        </p:nvSpPr>
        <p:spPr>
          <a:xfrm>
            <a:off x="7374493" y="2793113"/>
            <a:ext cx="4339166" cy="1852841"/>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47" name="矩形: 圆角 46"/>
          <p:cNvSpPr/>
          <p:nvPr/>
        </p:nvSpPr>
        <p:spPr>
          <a:xfrm>
            <a:off x="7369996" y="4688146"/>
            <a:ext cx="4333573" cy="1604323"/>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latin typeface="微软雅黑" panose="020B0503020204020204" pitchFamily="34" charset="-122"/>
                <a:ea typeface="微软雅黑" panose="020B0503020204020204" pitchFamily="34" charset="-122"/>
              </a:rPr>
              <a:t> </a:t>
            </a:r>
            <a:endParaRPr lang="zh-CN" altLang="en-US" sz="1200">
              <a:latin typeface="微软雅黑" panose="020B0503020204020204" pitchFamily="34" charset="-122"/>
              <a:ea typeface="微软雅黑" panose="020B0503020204020204" pitchFamily="34" charset="-122"/>
            </a:endParaRPr>
          </a:p>
        </p:txBody>
      </p:sp>
      <p:sp>
        <p:nvSpPr>
          <p:cNvPr id="48" name="文本框 47"/>
          <p:cNvSpPr txBox="1"/>
          <p:nvPr/>
        </p:nvSpPr>
        <p:spPr>
          <a:xfrm>
            <a:off x="7382319" y="1489721"/>
            <a:ext cx="1989809" cy="1077218"/>
          </a:xfrm>
          <a:prstGeom prst="rect">
            <a:avLst/>
          </a:prstGeom>
          <a:noFill/>
          <a:ln>
            <a:noFill/>
          </a:ln>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计算每个细胞的偏差校正 </a:t>
            </a:r>
            <a:r>
              <a:rPr lang="en-US" altLang="zh-CN" sz="1600" b="1" dirty="0">
                <a:latin typeface="微软雅黑" panose="020B0503020204020204" pitchFamily="34" charset="-122"/>
                <a:ea typeface="微软雅黑" panose="020B0503020204020204" pitchFamily="34" charset="-122"/>
              </a:rPr>
              <a:t>Z </a:t>
            </a:r>
            <a:r>
              <a:rPr lang="zh-CN" altLang="en-US" sz="1600" b="1" dirty="0">
                <a:latin typeface="微软雅黑" panose="020B0503020204020204" pitchFamily="34" charset="-122"/>
                <a:ea typeface="微软雅黑" panose="020B0503020204020204" pitchFamily="34" charset="-122"/>
              </a:rPr>
              <a:t>分数，并将分数最高的定义为种子细胞。</a:t>
            </a:r>
            <a:endParaRPr lang="en-US" altLang="zh-CN" sz="1600" b="1" dirty="0">
              <a:latin typeface="微软雅黑" panose="020B0503020204020204" pitchFamily="34" charset="-122"/>
              <a:ea typeface="微软雅黑" panose="020B0503020204020204" pitchFamily="34" charset="-122"/>
            </a:endParaRPr>
          </a:p>
        </p:txBody>
      </p:sp>
      <p:sp>
        <p:nvSpPr>
          <p:cNvPr id="55" name="箭头: 左右 54"/>
          <p:cNvSpPr/>
          <p:nvPr/>
        </p:nvSpPr>
        <p:spPr>
          <a:xfrm>
            <a:off x="9042718" y="3681452"/>
            <a:ext cx="737944" cy="290480"/>
          </a:xfrm>
          <a:prstGeom prst="lef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8" name="文本框 1337"/>
          <p:cNvSpPr txBox="1"/>
          <p:nvPr/>
        </p:nvSpPr>
        <p:spPr>
          <a:xfrm>
            <a:off x="7280578" y="2819895"/>
            <a:ext cx="4501437" cy="584775"/>
          </a:xfrm>
          <a:prstGeom prst="rect">
            <a:avLst/>
          </a:prstGeom>
          <a:noFill/>
          <a:ln>
            <a:noFill/>
          </a:ln>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在细胞相似性网络中通过随机游走扩散信号，建模全局细胞与表型的关联概率。</a:t>
            </a:r>
            <a:endParaRPr lang="en-US" altLang="zh-CN" sz="16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5E2EABFD-C142-48D2-8272-3C2D8BEF2F38}" type="slidenum">
              <a:rPr lang="zh-CN" altLang="en-US" smtClean="0"/>
              <a:t>4</a:t>
            </a:fld>
            <a:endParaRPr lang="zh-CN" altLang="en-US"/>
          </a:p>
        </p:txBody>
      </p:sp>
      <p:sp>
        <p:nvSpPr>
          <p:cNvPr id="5" name="矩形 4"/>
          <p:cNvSpPr/>
          <p:nvPr/>
        </p:nvSpPr>
        <p:spPr>
          <a:xfrm>
            <a:off x="0"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研究背景与意义</a:t>
            </a:r>
          </a:p>
        </p:txBody>
      </p:sp>
      <p:sp>
        <p:nvSpPr>
          <p:cNvPr id="10" name="文本框 9"/>
          <p:cNvSpPr txBox="1"/>
          <p:nvPr/>
        </p:nvSpPr>
        <p:spPr>
          <a:xfrm>
            <a:off x="267402" y="727714"/>
            <a:ext cx="9133156"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单细胞表观基因组数据高稀疏、高噪声，传统共定位方法受限</a:t>
            </a:r>
          </a:p>
        </p:txBody>
      </p:sp>
      <p:pic>
        <p:nvPicPr>
          <p:cNvPr id="3" name="图片 2">
            <a:extLst>
              <a:ext uri="{FF2B5EF4-FFF2-40B4-BE49-F238E27FC236}">
                <a16:creationId xmlns:a16="http://schemas.microsoft.com/office/drawing/2014/main" id="{FA728FE2-CEB4-1857-B41E-7CE2C32CDDD9}"/>
              </a:ext>
            </a:extLst>
          </p:cNvPr>
          <p:cNvPicPr>
            <a:picLocks noChangeAspect="1"/>
          </p:cNvPicPr>
          <p:nvPr/>
        </p:nvPicPr>
        <p:blipFill>
          <a:blip r:embed="rId3"/>
          <a:stretch>
            <a:fillRect/>
          </a:stretch>
        </p:blipFill>
        <p:spPr>
          <a:xfrm>
            <a:off x="0" y="6540163"/>
            <a:ext cx="1019230" cy="296398"/>
          </a:xfrm>
          <a:prstGeom prst="rect">
            <a:avLst/>
          </a:prstGeom>
        </p:spPr>
      </p:pic>
      <p:pic>
        <p:nvPicPr>
          <p:cNvPr id="11" name="图片 10">
            <a:extLst>
              <a:ext uri="{FF2B5EF4-FFF2-40B4-BE49-F238E27FC236}">
                <a16:creationId xmlns:a16="http://schemas.microsoft.com/office/drawing/2014/main" id="{885BA2FA-C949-18FE-5C76-EACBFB38C76F}"/>
              </a:ext>
            </a:extLst>
          </p:cNvPr>
          <p:cNvPicPr>
            <a:picLocks/>
          </p:cNvPicPr>
          <p:nvPr/>
        </p:nvPicPr>
        <p:blipFill>
          <a:blip r:embed="rId4"/>
          <a:srcRect b="21765"/>
          <a:stretch>
            <a:fillRect/>
          </a:stretch>
        </p:blipFill>
        <p:spPr>
          <a:xfrm>
            <a:off x="9319569" y="1426049"/>
            <a:ext cx="2366201" cy="1130641"/>
          </a:xfrm>
          <a:prstGeom prst="rect">
            <a:avLst/>
          </a:prstGeom>
        </p:spPr>
      </p:pic>
      <p:pic>
        <p:nvPicPr>
          <p:cNvPr id="13" name="图片 12">
            <a:extLst>
              <a:ext uri="{FF2B5EF4-FFF2-40B4-BE49-F238E27FC236}">
                <a16:creationId xmlns:a16="http://schemas.microsoft.com/office/drawing/2014/main" id="{78AE99C6-6EB4-BA11-8A40-D9669E85329A}"/>
              </a:ext>
            </a:extLst>
          </p:cNvPr>
          <p:cNvPicPr>
            <a:picLocks/>
          </p:cNvPicPr>
          <p:nvPr/>
        </p:nvPicPr>
        <p:blipFill>
          <a:blip r:embed="rId5"/>
          <a:srcRect t="2546" b="11634"/>
          <a:stretch>
            <a:fillRect/>
          </a:stretch>
        </p:blipFill>
        <p:spPr>
          <a:xfrm>
            <a:off x="7362585" y="3484972"/>
            <a:ext cx="2097641" cy="972716"/>
          </a:xfrm>
          <a:prstGeom prst="rect">
            <a:avLst/>
          </a:prstGeom>
        </p:spPr>
      </p:pic>
      <p:pic>
        <p:nvPicPr>
          <p:cNvPr id="15" name="图片 14">
            <a:extLst>
              <a:ext uri="{FF2B5EF4-FFF2-40B4-BE49-F238E27FC236}">
                <a16:creationId xmlns:a16="http://schemas.microsoft.com/office/drawing/2014/main" id="{E92F072B-D23B-5D05-2163-6BDBA2CD6676}"/>
              </a:ext>
            </a:extLst>
          </p:cNvPr>
          <p:cNvPicPr>
            <a:picLocks/>
          </p:cNvPicPr>
          <p:nvPr/>
        </p:nvPicPr>
        <p:blipFill>
          <a:blip r:embed="rId6"/>
          <a:srcRect l="2252" t="3228"/>
          <a:stretch>
            <a:fillRect/>
          </a:stretch>
        </p:blipFill>
        <p:spPr>
          <a:xfrm>
            <a:off x="9526797" y="3404670"/>
            <a:ext cx="2152299" cy="1241284"/>
          </a:xfrm>
          <a:prstGeom prst="rect">
            <a:avLst/>
          </a:prstGeom>
        </p:spPr>
      </p:pic>
      <p:sp>
        <p:nvSpPr>
          <p:cNvPr id="19" name="箭头: 右 18">
            <a:extLst>
              <a:ext uri="{FF2B5EF4-FFF2-40B4-BE49-F238E27FC236}">
                <a16:creationId xmlns:a16="http://schemas.microsoft.com/office/drawing/2014/main" id="{04DF860E-58B5-924E-E160-F51C3DD05592}"/>
              </a:ext>
            </a:extLst>
          </p:cNvPr>
          <p:cNvSpPr/>
          <p:nvPr/>
        </p:nvSpPr>
        <p:spPr>
          <a:xfrm>
            <a:off x="9354648" y="3914158"/>
            <a:ext cx="220353" cy="2542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0335E1EF-62B9-9F76-6FC7-CCC632BD1FDF}"/>
              </a:ext>
            </a:extLst>
          </p:cNvPr>
          <p:cNvPicPr>
            <a:picLocks/>
          </p:cNvPicPr>
          <p:nvPr/>
        </p:nvPicPr>
        <p:blipFill>
          <a:blip r:embed="rId7"/>
          <a:srcRect l="2298" r="7795"/>
          <a:stretch>
            <a:fillRect/>
          </a:stretch>
        </p:blipFill>
        <p:spPr>
          <a:xfrm>
            <a:off x="7432561" y="4742786"/>
            <a:ext cx="2501347" cy="1516731"/>
          </a:xfrm>
          <a:prstGeom prst="rect">
            <a:avLst/>
          </a:prstGeom>
        </p:spPr>
      </p:pic>
      <p:sp>
        <p:nvSpPr>
          <p:cNvPr id="26" name="文本框 25">
            <a:extLst>
              <a:ext uri="{FF2B5EF4-FFF2-40B4-BE49-F238E27FC236}">
                <a16:creationId xmlns:a16="http://schemas.microsoft.com/office/drawing/2014/main" id="{76EEAB9E-7F0B-6B34-A826-9A71481216AA}"/>
              </a:ext>
            </a:extLst>
          </p:cNvPr>
          <p:cNvSpPr txBox="1"/>
          <p:nvPr/>
        </p:nvSpPr>
        <p:spPr>
          <a:xfrm>
            <a:off x="9854972" y="4852954"/>
            <a:ext cx="1895004" cy="1323439"/>
          </a:xfrm>
          <a:prstGeom prst="rect">
            <a:avLst/>
          </a:prstGeom>
          <a:noFill/>
          <a:ln>
            <a:noFill/>
          </a:ln>
        </p:spPr>
        <p:txBody>
          <a:bodyPr wrap="square">
            <a:spAutoFit/>
          </a:bodyPr>
          <a:lstStyle/>
          <a:p>
            <a:pPr algn="ctr"/>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 输出性状相关性评分 </a:t>
            </a:r>
            <a:r>
              <a:rPr lang="en-US" altLang="zh-CN" sz="1600" b="1" dirty="0">
                <a:latin typeface="微软雅黑" panose="020B0503020204020204" pitchFamily="34" charset="-122"/>
                <a:ea typeface="微软雅黑" panose="020B0503020204020204" pitchFamily="34" charset="-122"/>
              </a:rPr>
              <a:t>(TRS)</a:t>
            </a:r>
            <a:r>
              <a:rPr lang="zh-CN" altLang="en-US" sz="1600" b="1" dirty="0">
                <a:latin typeface="微软雅黑" panose="020B0503020204020204" pitchFamily="34" charset="-122"/>
                <a:ea typeface="微软雅黑" panose="020B0503020204020204" pitchFamily="34" charset="-122"/>
              </a:rPr>
              <a:t>，从而量化不同细胞类型或状态与特定疾病</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性状的关联。</a:t>
            </a: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4858269"/>
      </p:ext>
    </p:extLst>
  </p:cSld>
  <p:clrMapOvr>
    <a:masterClrMapping/>
  </p:clrMapOvr>
  <mc:AlternateContent xmlns:mc="http://schemas.openxmlformats.org/markup-compatibility/2006" xmlns:p14="http://schemas.microsoft.com/office/powerpoint/2010/main">
    <mc:Choice Requires="p14">
      <p:transition spd="slow" p14:dur="2000" advTm="26795"/>
    </mc:Choice>
    <mc:Fallback xmlns="">
      <p:transition spd="slow" advTm="2679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圆角 34"/>
          <p:cNvSpPr/>
          <p:nvPr/>
        </p:nvSpPr>
        <p:spPr>
          <a:xfrm>
            <a:off x="358346" y="2009051"/>
            <a:ext cx="5737654" cy="4385398"/>
          </a:xfrm>
          <a:prstGeom prst="roundRect">
            <a:avLst>
              <a:gd name="adj" fmla="val 5160"/>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B0000"/>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350504" y="1885583"/>
            <a:ext cx="3530836" cy="492443"/>
          </a:xfrm>
          <a:prstGeom prst="rect">
            <a:avLst/>
          </a:prstGeom>
          <a:solidFill>
            <a:schemeClr val="bg1"/>
          </a:solidFill>
        </p:spPr>
        <p:txBody>
          <a:bodyPr wrap="square" lIns="0" tIns="0" rIns="0" bIns="0">
            <a:spAutoFit/>
          </a:bodyPr>
          <a:lstStyle/>
          <a:p>
            <a:pPr algn="ctr"/>
            <a:r>
              <a:rPr lang="zh-CN" altLang="en-US" sz="1600" b="1" dirty="0">
                <a:latin typeface="微软雅黑" panose="020B0503020204020204" pitchFamily="34" charset="-122"/>
                <a:ea typeface="微软雅黑" panose="020B0503020204020204" pitchFamily="34" charset="-122"/>
                <a:cs typeface="Calibri" panose="020F0502020204030204" pitchFamily="34" charset="0"/>
              </a:rPr>
              <a:t>单细胞分辨率下的“变异</a:t>
            </a:r>
            <a:r>
              <a:rPr lang="en-US" altLang="zh-CN" sz="1600" b="1" dirty="0">
                <a:latin typeface="微软雅黑" panose="020B0503020204020204" pitchFamily="34" charset="-122"/>
                <a:ea typeface="微软雅黑" panose="020B0503020204020204" pitchFamily="34" charset="-122"/>
                <a:cs typeface="Calibri" panose="020F0502020204030204" pitchFamily="34" charset="0"/>
              </a:rPr>
              <a:t>—</a:t>
            </a:r>
            <a:r>
              <a:rPr lang="zh-CN" altLang="en-US" sz="1600" b="1" dirty="0">
                <a:latin typeface="微软雅黑" panose="020B0503020204020204" pitchFamily="34" charset="-122"/>
                <a:ea typeface="微软雅黑" panose="020B0503020204020204" pitchFamily="34" charset="-122"/>
                <a:cs typeface="Calibri" panose="020F0502020204030204" pitchFamily="34" charset="0"/>
              </a:rPr>
              <a:t>功能”解析</a:t>
            </a:r>
          </a:p>
          <a:p>
            <a:pPr algn="ctr"/>
            <a:endParaRPr lang="zh-CN" altLang="en-US" sz="1600" b="1" dirty="0">
              <a:latin typeface="微软雅黑" panose="020B0503020204020204" pitchFamily="34" charset="-122"/>
              <a:ea typeface="微软雅黑" panose="020B0503020204020204" pitchFamily="34" charset="-122"/>
              <a:cs typeface="Calibri" panose="020F0502020204030204" pitchFamily="34" charset="0"/>
            </a:endParaRPr>
          </a:p>
        </p:txBody>
      </p:sp>
      <p:sp>
        <p:nvSpPr>
          <p:cNvPr id="40" name="矩形: 圆角 39"/>
          <p:cNvSpPr/>
          <p:nvPr/>
        </p:nvSpPr>
        <p:spPr>
          <a:xfrm>
            <a:off x="6220252" y="2009052"/>
            <a:ext cx="5613402" cy="4385397"/>
          </a:xfrm>
          <a:prstGeom prst="roundRect">
            <a:avLst>
              <a:gd name="adj" fmla="val 5160"/>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B0000"/>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7956580" y="1876652"/>
            <a:ext cx="2140745" cy="492443"/>
          </a:xfrm>
          <a:prstGeom prst="rect">
            <a:avLst/>
          </a:prstGeom>
          <a:solidFill>
            <a:schemeClr val="bg1"/>
          </a:solidFill>
        </p:spPr>
        <p:txBody>
          <a:bodyPr wrap="square" lIns="0" tIns="0" rIns="0" bIns="0">
            <a:spAutoFit/>
          </a:bodyPr>
          <a:lstStyle/>
          <a:p>
            <a:pPr algn="ctr"/>
            <a:r>
              <a:rPr lang="zh-CN" altLang="en-US" sz="1600" b="1" dirty="0">
                <a:latin typeface="微软雅黑" panose="020B0503020204020204" pitchFamily="34" charset="-122"/>
                <a:ea typeface="微软雅黑" panose="020B0503020204020204" pitchFamily="34" charset="-122"/>
                <a:cs typeface="Calibri" panose="020F0502020204030204" pitchFamily="34" charset="0"/>
              </a:rPr>
              <a:t>高稀疏单细胞数据分析</a:t>
            </a:r>
          </a:p>
          <a:p>
            <a:pPr algn="ctr"/>
            <a:endParaRPr lang="zh-CN" altLang="en-US" sz="1600" b="1" dirty="0">
              <a:latin typeface="微软雅黑" panose="020B0503020204020204" pitchFamily="34" charset="-122"/>
              <a:ea typeface="微软雅黑" panose="020B0503020204020204" pitchFamily="34" charset="-122"/>
              <a:cs typeface="Calibri" panose="020F0502020204030204" pitchFamily="34" charset="0"/>
            </a:endParaRPr>
          </a:p>
        </p:txBody>
      </p:sp>
      <p:sp>
        <p:nvSpPr>
          <p:cNvPr id="81" name="矩形: 圆角 80"/>
          <p:cNvSpPr/>
          <p:nvPr/>
        </p:nvSpPr>
        <p:spPr>
          <a:xfrm>
            <a:off x="1661561" y="1181227"/>
            <a:ext cx="8886019" cy="49647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algn="ctr">
              <a:lnSpc>
                <a:spcPct val="125000"/>
              </a:lnSpc>
              <a:buClr>
                <a:schemeClr val="bg2"/>
              </a:buClr>
            </a:pPr>
            <a:r>
              <a:rPr lang="zh-CN" altLang="en-US" sz="2000" b="1" dirty="0">
                <a:solidFill>
                  <a:schemeClr val="tx1"/>
                </a:solidFill>
                <a:latin typeface="微软雅黑" panose="020B0503020204020204" pitchFamily="34" charset="-122"/>
                <a:ea typeface="微软雅黑" panose="020B0503020204020204" pitchFamily="34" charset="-122"/>
              </a:rPr>
              <a:t>本研究的意义主要体现在两方面</a:t>
            </a:r>
          </a:p>
        </p:txBody>
      </p:sp>
      <p:sp>
        <p:nvSpPr>
          <p:cNvPr id="2" name="灯片编号占位符 1"/>
          <p:cNvSpPr>
            <a:spLocks noGrp="1"/>
          </p:cNvSpPr>
          <p:nvPr>
            <p:ph type="sldNum" sz="quarter" idx="12"/>
          </p:nvPr>
        </p:nvSpPr>
        <p:spPr/>
        <p:txBody>
          <a:bodyPr/>
          <a:lstStyle/>
          <a:p>
            <a:fld id="{5E2EABFD-C142-48D2-8272-3C2D8BEF2F38}" type="slidenum">
              <a:rPr lang="zh-CN" altLang="en-US" smtClean="0"/>
              <a:t>5</a:t>
            </a:fld>
            <a:endParaRPr lang="zh-CN" altLang="en-US"/>
          </a:p>
        </p:txBody>
      </p:sp>
      <p:sp>
        <p:nvSpPr>
          <p:cNvPr id="4" name="矩形 3"/>
          <p:cNvSpPr/>
          <p:nvPr/>
        </p:nvSpPr>
        <p:spPr>
          <a:xfrm>
            <a:off x="0"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研究背景与意义</a:t>
            </a:r>
          </a:p>
        </p:txBody>
      </p:sp>
      <p:pic>
        <p:nvPicPr>
          <p:cNvPr id="3" name="图片 2">
            <a:extLst>
              <a:ext uri="{FF2B5EF4-FFF2-40B4-BE49-F238E27FC236}">
                <a16:creationId xmlns:a16="http://schemas.microsoft.com/office/drawing/2014/main" id="{AD3980FA-420A-50EF-8BB5-ADC85DE59239}"/>
              </a:ext>
            </a:extLst>
          </p:cNvPr>
          <p:cNvPicPr>
            <a:picLocks noChangeAspect="1"/>
          </p:cNvPicPr>
          <p:nvPr/>
        </p:nvPicPr>
        <p:blipFill>
          <a:blip r:embed="rId8"/>
          <a:stretch>
            <a:fillRect/>
          </a:stretch>
        </p:blipFill>
        <p:spPr>
          <a:xfrm>
            <a:off x="0" y="6540163"/>
            <a:ext cx="1019230" cy="296398"/>
          </a:xfrm>
          <a:prstGeom prst="rect">
            <a:avLst/>
          </a:prstGeom>
        </p:spPr>
      </p:pic>
      <p:sp>
        <p:nvSpPr>
          <p:cNvPr id="5" name="文本框 4">
            <a:extLst>
              <a:ext uri="{FF2B5EF4-FFF2-40B4-BE49-F238E27FC236}">
                <a16:creationId xmlns:a16="http://schemas.microsoft.com/office/drawing/2014/main" id="{C77B3F76-AE1E-F74B-2471-66D933C03614}"/>
              </a:ext>
            </a:extLst>
          </p:cNvPr>
          <p:cNvSpPr txBox="1"/>
          <p:nvPr/>
        </p:nvSpPr>
        <p:spPr>
          <a:xfrm>
            <a:off x="633513" y="2421986"/>
            <a:ext cx="5187319" cy="1107996"/>
          </a:xfrm>
          <a:prstGeom prst="rect">
            <a:avLst/>
          </a:prstGeom>
          <a:solidFill>
            <a:schemeClr val="bg1"/>
          </a:solidFill>
        </p:spPr>
        <p:txBody>
          <a:bodyPr wrap="square" lIns="0" tIns="0" rIns="0" bIns="0">
            <a:spAutoFit/>
          </a:bodyPr>
          <a:lstStyle/>
          <a:p>
            <a:r>
              <a:rPr lang="en-US" altLang="zh-CN" sz="1600" dirty="0"/>
              <a:t>	</a:t>
            </a:r>
            <a:r>
              <a:rPr lang="zh-CN" altLang="en-US" dirty="0"/>
              <a:t>借助</a:t>
            </a:r>
            <a:r>
              <a:rPr lang="en-US" altLang="zh-CN" dirty="0"/>
              <a:t>scavenge</a:t>
            </a:r>
            <a:r>
              <a:rPr lang="zh-CN" altLang="en-US" dirty="0"/>
              <a:t>方法，研究者可以从</a:t>
            </a:r>
            <a:r>
              <a:rPr lang="zh-CN" altLang="en-US" b="1" dirty="0"/>
              <a:t>疾病相关遗传变异</a:t>
            </a:r>
            <a:r>
              <a:rPr lang="zh-CN" altLang="en-US" dirty="0"/>
              <a:t>出发，进一步追踪其可能通过哪些</a:t>
            </a:r>
            <a:r>
              <a:rPr lang="zh-CN" altLang="en-US" b="1" dirty="0"/>
              <a:t>细胞类型</a:t>
            </a:r>
            <a:r>
              <a:rPr lang="zh-CN" altLang="en-US" dirty="0"/>
              <a:t>、</a:t>
            </a:r>
            <a:r>
              <a:rPr lang="zh-CN" altLang="en-US" b="1" dirty="0"/>
              <a:t>细胞状态</a:t>
            </a:r>
            <a:r>
              <a:rPr lang="zh-CN" altLang="en-US" dirty="0"/>
              <a:t>以及</a:t>
            </a:r>
            <a:r>
              <a:rPr lang="zh-CN" altLang="en-US" b="1" dirty="0"/>
              <a:t>发育过程</a:t>
            </a:r>
            <a:r>
              <a:rPr lang="zh-CN" altLang="en-US" dirty="0"/>
              <a:t>影响生物学功能，并最终参与疾病的发生发展。</a:t>
            </a:r>
            <a:endParaRPr lang="en-US" altLang="zh-CN" dirty="0"/>
          </a:p>
        </p:txBody>
      </p:sp>
      <p:grpSp>
        <p:nvGrpSpPr>
          <p:cNvPr id="94" name="组合 93">
            <a:extLst>
              <a:ext uri="{FF2B5EF4-FFF2-40B4-BE49-F238E27FC236}">
                <a16:creationId xmlns:a16="http://schemas.microsoft.com/office/drawing/2014/main" id="{5F6F46EC-E358-0E1E-F556-B8C351EB58B9}"/>
              </a:ext>
            </a:extLst>
          </p:cNvPr>
          <p:cNvGrpSpPr/>
          <p:nvPr/>
        </p:nvGrpSpPr>
        <p:grpSpPr>
          <a:xfrm>
            <a:off x="470519" y="3904115"/>
            <a:ext cx="5449908" cy="1870358"/>
            <a:chOff x="470519" y="3713345"/>
            <a:chExt cx="5449908" cy="1870358"/>
          </a:xfrm>
        </p:grpSpPr>
        <p:grpSp>
          <p:nvGrpSpPr>
            <p:cNvPr id="55" name="组合 54">
              <a:extLst>
                <a:ext uri="{FF2B5EF4-FFF2-40B4-BE49-F238E27FC236}">
                  <a16:creationId xmlns:a16="http://schemas.microsoft.com/office/drawing/2014/main" id="{FFC11217-251F-8204-37E2-86ACA1CE3BCD}"/>
                </a:ext>
              </a:extLst>
            </p:cNvPr>
            <p:cNvGrpSpPr>
              <a:grpSpLocks noChangeAspect="1"/>
            </p:cNvGrpSpPr>
            <p:nvPr>
              <p:custDataLst>
                <p:tags r:id="rId1"/>
              </p:custDataLst>
            </p:nvPr>
          </p:nvGrpSpPr>
          <p:grpSpPr>
            <a:xfrm>
              <a:off x="470519" y="3713345"/>
              <a:ext cx="5440437" cy="1599022"/>
              <a:chOff x="660400" y="1762654"/>
              <a:chExt cx="11011323" cy="3236386"/>
            </a:xfrm>
          </p:grpSpPr>
          <p:sp>
            <p:nvSpPr>
              <p:cNvPr id="57" name="0">
                <a:extLst>
                  <a:ext uri="{FF2B5EF4-FFF2-40B4-BE49-F238E27FC236}">
                    <a16:creationId xmlns:a16="http://schemas.microsoft.com/office/drawing/2014/main" id="{AF8CB92F-9E9D-1C9E-F2F0-4D1AA37748F5}"/>
                  </a:ext>
                </a:extLst>
              </p:cNvPr>
              <p:cNvSpPr/>
              <p:nvPr/>
            </p:nvSpPr>
            <p:spPr>
              <a:xfrm>
                <a:off x="2074272" y="2295877"/>
                <a:ext cx="3037191" cy="2703163"/>
              </a:xfrm>
              <a:prstGeom prst="arc">
                <a:avLst>
                  <a:gd name="adj1" fmla="val 6203351"/>
                  <a:gd name="adj2" fmla="val 15358058"/>
                </a:avLst>
              </a:prstGeom>
              <a:ln w="9525">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8" name="0">
                <a:extLst>
                  <a:ext uri="{FF2B5EF4-FFF2-40B4-BE49-F238E27FC236}">
                    <a16:creationId xmlns:a16="http://schemas.microsoft.com/office/drawing/2014/main" id="{E203E6FB-861D-6750-DF6C-1A6631194AEA}"/>
                  </a:ext>
                </a:extLst>
              </p:cNvPr>
              <p:cNvCxnSpPr>
                <a:cxnSpLocks/>
              </p:cNvCxnSpPr>
              <p:nvPr/>
            </p:nvCxnSpPr>
            <p:spPr>
              <a:xfrm>
                <a:off x="2074272" y="3668648"/>
                <a:ext cx="1321945" cy="0"/>
              </a:xfrm>
              <a:prstGeom prst="line">
                <a:avLst/>
              </a:prstGeom>
              <a:ln w="9525">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61" name="0">
                <a:extLst>
                  <a:ext uri="{FF2B5EF4-FFF2-40B4-BE49-F238E27FC236}">
                    <a16:creationId xmlns:a16="http://schemas.microsoft.com/office/drawing/2014/main" id="{30096521-CCCF-7FDC-A874-7DE97748B101}"/>
                  </a:ext>
                </a:extLst>
              </p:cNvPr>
              <p:cNvSpPr/>
              <p:nvPr/>
            </p:nvSpPr>
            <p:spPr>
              <a:xfrm>
                <a:off x="660400" y="2840796"/>
                <a:ext cx="1655706" cy="1655706"/>
              </a:xfrm>
              <a:prstGeom prst="ellipse">
                <a:avLst/>
              </a:prstGeom>
              <a:gradFill flip="none" rotWithShape="1">
                <a:gsLst>
                  <a:gs pos="0">
                    <a:schemeClr val="bg1"/>
                  </a:gs>
                  <a:gs pos="100000">
                    <a:schemeClr val="bg1">
                      <a:lumMod val="95000"/>
                    </a:schemeClr>
                  </a:gs>
                </a:gsLst>
                <a:lin ang="2700000" scaled="1"/>
                <a:tileRect/>
              </a:gradFill>
              <a:ln>
                <a:noFill/>
              </a:ln>
              <a:effectLst>
                <a:outerShdw blurRad="1143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0">
                <a:extLst>
                  <a:ext uri="{FF2B5EF4-FFF2-40B4-BE49-F238E27FC236}">
                    <a16:creationId xmlns:a16="http://schemas.microsoft.com/office/drawing/2014/main" id="{600C8D08-FD8E-BE35-A7D5-43AB136246AF}"/>
                  </a:ext>
                </a:extLst>
              </p:cNvPr>
              <p:cNvSpPr/>
              <p:nvPr/>
            </p:nvSpPr>
            <p:spPr>
              <a:xfrm>
                <a:off x="747039" y="2927435"/>
                <a:ext cx="1482428" cy="1482428"/>
              </a:xfrm>
              <a:prstGeom prst="ellipse">
                <a:avLst/>
              </a:prstGeom>
              <a:gradFill flip="none" rotWithShape="1">
                <a:gsLst>
                  <a:gs pos="0">
                    <a:schemeClr val="accent1"/>
                  </a:gs>
                  <a:gs pos="100000">
                    <a:schemeClr val="accent1">
                      <a:lumMod val="75000"/>
                    </a:schemeClr>
                  </a:gs>
                </a:gsLst>
                <a:lin ang="2700000" scaled="1"/>
                <a:tileRect/>
              </a:gradFill>
              <a:ln>
                <a:noFill/>
              </a:ln>
              <a:effectLst>
                <a:outerShdw blurRad="63500" sx="102000" sy="102000" algn="ctr" rotWithShape="0">
                  <a:schemeClr val="accent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Title-0">
                <a:extLst>
                  <a:ext uri="{FF2B5EF4-FFF2-40B4-BE49-F238E27FC236}">
                    <a16:creationId xmlns:a16="http://schemas.microsoft.com/office/drawing/2014/main" id="{731E1292-56A4-9BB5-B553-6324403D1D3C}"/>
                  </a:ext>
                </a:extLst>
              </p:cNvPr>
              <p:cNvSpPr txBox="1"/>
              <p:nvPr>
                <p:custDataLst>
                  <p:tags r:id="rId4"/>
                </p:custDataLst>
              </p:nvPr>
            </p:nvSpPr>
            <p:spPr>
              <a:xfrm>
                <a:off x="889919" y="3004395"/>
                <a:ext cx="1172035" cy="369331"/>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bg1"/>
                    </a:solidFill>
                    <a:latin typeface="+mj-ea"/>
                    <a:ea typeface="+mj-ea"/>
                    <a:cs typeface="Arial" panose="020B0604020202020204" pitchFamily="34" charset="0"/>
                  </a:rPr>
                  <a:t>案例</a:t>
                </a:r>
              </a:p>
            </p:txBody>
          </p:sp>
          <p:grpSp>
            <p:nvGrpSpPr>
              <p:cNvPr id="64" name="组合 1">
                <a:extLst>
                  <a:ext uri="{FF2B5EF4-FFF2-40B4-BE49-F238E27FC236}">
                    <a16:creationId xmlns:a16="http://schemas.microsoft.com/office/drawing/2014/main" id="{9499C550-3757-CE78-D5FE-5787B1FB5E9F}"/>
                  </a:ext>
                </a:extLst>
              </p:cNvPr>
              <p:cNvGrpSpPr/>
              <p:nvPr/>
            </p:nvGrpSpPr>
            <p:grpSpPr>
              <a:xfrm>
                <a:off x="3474910" y="1762654"/>
                <a:ext cx="8196813" cy="1016246"/>
                <a:chOff x="3486785" y="685602"/>
                <a:chExt cx="8196813" cy="1016246"/>
              </a:xfrm>
            </p:grpSpPr>
            <p:sp>
              <p:nvSpPr>
                <p:cNvPr id="87" name="1">
                  <a:extLst>
                    <a:ext uri="{FF2B5EF4-FFF2-40B4-BE49-F238E27FC236}">
                      <a16:creationId xmlns:a16="http://schemas.microsoft.com/office/drawing/2014/main" id="{2402D1AD-2A4B-CDD7-DAB3-98F7A0D3272D}"/>
                    </a:ext>
                  </a:extLst>
                </p:cNvPr>
                <p:cNvSpPr/>
                <p:nvPr/>
              </p:nvSpPr>
              <p:spPr>
                <a:xfrm flipH="1">
                  <a:off x="3486785" y="686029"/>
                  <a:ext cx="8196813" cy="1015819"/>
                </a:xfrm>
                <a:prstGeom prst="homePlate">
                  <a:avLst/>
                </a:prstGeom>
                <a:gradFill flip="none" rotWithShape="1">
                  <a:gsLst>
                    <a:gs pos="0">
                      <a:schemeClr val="accent1"/>
                    </a:gs>
                    <a:gs pos="100000">
                      <a:schemeClr val="accent1">
                        <a:lumMod val="75000"/>
                      </a:schemeClr>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Body-1">
                  <a:extLst>
                    <a:ext uri="{FF2B5EF4-FFF2-40B4-BE49-F238E27FC236}">
                      <a16:creationId xmlns:a16="http://schemas.microsoft.com/office/drawing/2014/main" id="{86F33F39-746E-7A6C-E9E1-E469A1803138}"/>
                    </a:ext>
                  </a:extLst>
                </p:cNvPr>
                <p:cNvSpPr txBox="1"/>
                <p:nvPr>
                  <p:custDataLst>
                    <p:tags r:id="rId5"/>
                  </p:custDataLst>
                </p:nvPr>
              </p:nvSpPr>
              <p:spPr>
                <a:xfrm>
                  <a:off x="4092608" y="685602"/>
                  <a:ext cx="7254935" cy="710943"/>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1"/>
                      </a:solidFill>
                    </a:rPr>
                    <a:t>在不同阶段的人类造血过程中识别与血液性状相关的关键细胞群体</a:t>
                  </a:r>
                </a:p>
              </p:txBody>
            </p:sp>
          </p:grpSp>
        </p:grpSp>
        <p:sp>
          <p:nvSpPr>
            <p:cNvPr id="90" name="1">
              <a:extLst>
                <a:ext uri="{FF2B5EF4-FFF2-40B4-BE49-F238E27FC236}">
                  <a16:creationId xmlns:a16="http://schemas.microsoft.com/office/drawing/2014/main" id="{EC030F47-7B68-966A-4B81-5852E8F22ADE}"/>
                </a:ext>
              </a:extLst>
            </p:cNvPr>
            <p:cNvSpPr/>
            <p:nvPr/>
          </p:nvSpPr>
          <p:spPr>
            <a:xfrm flipH="1">
              <a:off x="1870574" y="4401267"/>
              <a:ext cx="4049853" cy="501892"/>
            </a:xfrm>
            <a:prstGeom prst="homePlate">
              <a:avLst/>
            </a:prstGeom>
            <a:gradFill flip="none" rotWithShape="1">
              <a:gsLst>
                <a:gs pos="0">
                  <a:schemeClr val="accent1"/>
                </a:gs>
                <a:gs pos="100000">
                  <a:schemeClr val="accent1">
                    <a:lumMod val="75000"/>
                  </a:schemeClr>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1">
              <a:extLst>
                <a:ext uri="{FF2B5EF4-FFF2-40B4-BE49-F238E27FC236}">
                  <a16:creationId xmlns:a16="http://schemas.microsoft.com/office/drawing/2014/main" id="{0C8FE47E-E97C-EB8E-4640-A86F3CB8EA0B}"/>
                </a:ext>
              </a:extLst>
            </p:cNvPr>
            <p:cNvSpPr/>
            <p:nvPr/>
          </p:nvSpPr>
          <p:spPr>
            <a:xfrm flipH="1">
              <a:off x="1861103" y="5081811"/>
              <a:ext cx="4049853" cy="501892"/>
            </a:xfrm>
            <a:prstGeom prst="homePlate">
              <a:avLst/>
            </a:prstGeom>
            <a:gradFill flip="none" rotWithShape="1">
              <a:gsLst>
                <a:gs pos="0">
                  <a:schemeClr val="accent1"/>
                </a:gs>
                <a:gs pos="100000">
                  <a:schemeClr val="accent1">
                    <a:lumMod val="75000"/>
                  </a:schemeClr>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Body-1">
              <a:extLst>
                <a:ext uri="{FF2B5EF4-FFF2-40B4-BE49-F238E27FC236}">
                  <a16:creationId xmlns:a16="http://schemas.microsoft.com/office/drawing/2014/main" id="{A53D4311-24E8-BE23-0E57-2196A078D01A}"/>
                </a:ext>
              </a:extLst>
            </p:cNvPr>
            <p:cNvSpPr txBox="1"/>
            <p:nvPr>
              <p:custDataLst>
                <p:tags r:id="rId2"/>
              </p:custDataLst>
            </p:nvPr>
          </p:nvSpPr>
          <p:spPr>
            <a:xfrm>
              <a:off x="2103253" y="4382625"/>
              <a:ext cx="3584493" cy="351260"/>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1"/>
                  </a:solidFill>
                </a:rPr>
                <a:t>发现与重症新型冠状病毒肺炎（</a:t>
              </a:r>
              <a:r>
                <a:rPr lang="en-US" altLang="zh-CN" sz="1400" dirty="0">
                  <a:solidFill>
                    <a:schemeClr val="bg1"/>
                  </a:solidFill>
                </a:rPr>
                <a:t>COVID-19</a:t>
              </a:r>
              <a:r>
                <a:rPr lang="zh-CN" altLang="en-US" sz="1400" dirty="0">
                  <a:solidFill>
                    <a:schemeClr val="bg1"/>
                  </a:solidFill>
                </a:rPr>
                <a:t>）风险增加相关的单核细胞亚群</a:t>
              </a:r>
            </a:p>
          </p:txBody>
        </p:sp>
        <p:sp>
          <p:nvSpPr>
            <p:cNvPr id="93" name="Body-1">
              <a:extLst>
                <a:ext uri="{FF2B5EF4-FFF2-40B4-BE49-F238E27FC236}">
                  <a16:creationId xmlns:a16="http://schemas.microsoft.com/office/drawing/2014/main" id="{4A260684-08D1-34E5-F013-E5C58CA35E8D}"/>
                </a:ext>
              </a:extLst>
            </p:cNvPr>
            <p:cNvSpPr txBox="1"/>
            <p:nvPr>
              <p:custDataLst>
                <p:tags r:id="rId3"/>
              </p:custDataLst>
            </p:nvPr>
          </p:nvSpPr>
          <p:spPr>
            <a:xfrm>
              <a:off x="2043610" y="5063169"/>
              <a:ext cx="3584493" cy="351260"/>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1"/>
                  </a:solidFill>
                </a:rPr>
                <a:t>定位与急性淋巴细胞白血病易感性相关的中间阶段淋巴细胞发育状态。</a:t>
              </a:r>
            </a:p>
          </p:txBody>
        </p:sp>
      </p:grpSp>
      <p:sp>
        <p:nvSpPr>
          <p:cNvPr id="95" name="文本框 94">
            <a:extLst>
              <a:ext uri="{FF2B5EF4-FFF2-40B4-BE49-F238E27FC236}">
                <a16:creationId xmlns:a16="http://schemas.microsoft.com/office/drawing/2014/main" id="{599C9AEA-A69D-A73F-0006-DE8E86715D38}"/>
              </a:ext>
            </a:extLst>
          </p:cNvPr>
          <p:cNvSpPr txBox="1"/>
          <p:nvPr/>
        </p:nvSpPr>
        <p:spPr>
          <a:xfrm>
            <a:off x="6433292" y="2421986"/>
            <a:ext cx="5187319" cy="3877985"/>
          </a:xfrm>
          <a:prstGeom prst="rect">
            <a:avLst/>
          </a:prstGeom>
          <a:solidFill>
            <a:schemeClr val="bg1"/>
          </a:solidFill>
        </p:spPr>
        <p:txBody>
          <a:bodyPr wrap="square" lIns="0" tIns="0" rIns="0" bIns="0">
            <a:spAutoFit/>
          </a:bodyPr>
          <a:lstStyle/>
          <a:p>
            <a:r>
              <a:rPr lang="en-US" altLang="zh-CN" sz="1600" dirty="0"/>
              <a:t>	</a:t>
            </a:r>
            <a:r>
              <a:rPr lang="zh-CN" altLang="en-US" b="1" dirty="0"/>
              <a:t>高稀疏性是单细胞组学分析的共性难题。</a:t>
            </a:r>
            <a:r>
              <a:rPr lang="zh-CN" altLang="en-US" dirty="0"/>
              <a:t>不仅存在于单细胞表观基因组数据中，在 </a:t>
            </a:r>
            <a:r>
              <a:rPr lang="en-US" altLang="zh-CN" dirty="0" err="1"/>
              <a:t>scRNA</a:t>
            </a:r>
            <a:r>
              <a:rPr lang="en-US" altLang="zh-CN" dirty="0"/>
              <a:t>-seq </a:t>
            </a:r>
            <a:r>
              <a:rPr lang="zh-CN" altLang="en-US" dirty="0"/>
              <a:t>中也普遍存在掉失现象，导致单个细胞信号弱、有效信息难以直接提取。</a:t>
            </a:r>
            <a:endParaRPr lang="en-US" altLang="zh-CN" dirty="0"/>
          </a:p>
          <a:p>
            <a:r>
              <a:rPr lang="en-US" altLang="zh-CN" b="1" dirty="0"/>
              <a:t>	</a:t>
            </a:r>
            <a:r>
              <a:rPr lang="zh-CN" altLang="en-US" b="1" dirty="0"/>
              <a:t>针对“局部信号弱、全局结构强”的高稀疏数据，</a:t>
            </a:r>
            <a:r>
              <a:rPr lang="en-US" altLang="zh-CN" b="1" dirty="0"/>
              <a:t>SCAVENGE </a:t>
            </a:r>
            <a:r>
              <a:rPr lang="zh-CN" altLang="en-US" b="1" dirty="0"/>
              <a:t>提供了一种有效的信息挖掘框架。</a:t>
            </a:r>
            <a:endParaRPr lang="en-US" altLang="zh-CN" b="1" dirty="0"/>
          </a:p>
          <a:p>
            <a:endParaRPr lang="en-US" altLang="zh-CN" b="1" dirty="0"/>
          </a:p>
          <a:p>
            <a:r>
              <a:rPr lang="en-US" altLang="zh-CN" b="1" i="1" dirty="0"/>
              <a:t>	</a:t>
            </a:r>
            <a:r>
              <a:rPr lang="zh-CN" altLang="en-US" b="1" i="1" dirty="0"/>
              <a:t>应用潜力不限于本文场景：</a:t>
            </a:r>
            <a:endParaRPr lang="zh-CN" altLang="en-US" i="1" dirty="0"/>
          </a:p>
          <a:p>
            <a:pPr marL="285750" indent="-285750">
              <a:buFont typeface="Arial" panose="020B0604020202020204" pitchFamily="34" charset="0"/>
              <a:buChar char="•"/>
            </a:pPr>
            <a:r>
              <a:rPr lang="zh-CN" altLang="en-US" i="1" dirty="0"/>
              <a:t>可推广到更多单细胞组学数据分析任务</a:t>
            </a:r>
          </a:p>
          <a:p>
            <a:pPr marL="285750" indent="-285750">
              <a:buFont typeface="Arial" panose="020B0604020202020204" pitchFamily="34" charset="0"/>
              <a:buChar char="•"/>
            </a:pPr>
            <a:r>
              <a:rPr lang="zh-CN" altLang="en-US" i="1" dirty="0"/>
              <a:t>有望用于更多表型相关细胞群体识别</a:t>
            </a:r>
          </a:p>
          <a:p>
            <a:pPr marL="285750" indent="-285750">
              <a:buFont typeface="Arial" panose="020B0604020202020204" pitchFamily="34" charset="0"/>
              <a:buChar char="•"/>
            </a:pPr>
            <a:r>
              <a:rPr lang="zh-CN" altLang="en-US" i="1" dirty="0"/>
              <a:t>为大规模、高维、高稀疏单细胞数据的关键信息提取提供新工具</a:t>
            </a:r>
          </a:p>
          <a:p>
            <a:endParaRPr lang="zh-CN" altLang="en-US" b="1" dirty="0"/>
          </a:p>
          <a:p>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451"/>
    </mc:Choice>
    <mc:Fallback xmlns="" xmlns:a14="http://schemas.microsoft.com/office/drawing/2010/main">
      <p:transition spd="slow" advTm="4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6</a:t>
            </a:fld>
            <a:endParaRPr lang="zh-CN" altLang="en-US"/>
          </a:p>
        </p:txBody>
      </p:sp>
      <p:sp>
        <p:nvSpPr>
          <p:cNvPr id="25" name="矩形 24"/>
          <p:cNvSpPr/>
          <p:nvPr/>
        </p:nvSpPr>
        <p:spPr>
          <a:xfrm>
            <a:off x="2454190"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研究规划与进展</a:t>
            </a:r>
          </a:p>
        </p:txBody>
      </p:sp>
      <p:pic>
        <p:nvPicPr>
          <p:cNvPr id="2" name="图片 1">
            <a:extLst>
              <a:ext uri="{FF2B5EF4-FFF2-40B4-BE49-F238E27FC236}">
                <a16:creationId xmlns:a16="http://schemas.microsoft.com/office/drawing/2014/main" id="{FE7FEA81-E6E1-9BB9-6551-3FB1F9F9224B}"/>
              </a:ext>
            </a:extLst>
          </p:cNvPr>
          <p:cNvPicPr>
            <a:picLocks noChangeAspect="1"/>
          </p:cNvPicPr>
          <p:nvPr/>
        </p:nvPicPr>
        <p:blipFill>
          <a:blip r:embed="rId3"/>
          <a:stretch>
            <a:fillRect/>
          </a:stretch>
        </p:blipFill>
        <p:spPr>
          <a:xfrm>
            <a:off x="0" y="6540163"/>
            <a:ext cx="1019230" cy="296398"/>
          </a:xfrm>
          <a:prstGeom prst="rect">
            <a:avLst/>
          </a:prstGeom>
        </p:spPr>
      </p:pic>
      <p:grpSp>
        <p:nvGrpSpPr>
          <p:cNvPr id="77" name="组合 76">
            <a:extLst>
              <a:ext uri="{FF2B5EF4-FFF2-40B4-BE49-F238E27FC236}">
                <a16:creationId xmlns:a16="http://schemas.microsoft.com/office/drawing/2014/main" id="{FCC5AC7F-9AF0-3107-98C6-71EEBCEA47D0}"/>
              </a:ext>
            </a:extLst>
          </p:cNvPr>
          <p:cNvGrpSpPr/>
          <p:nvPr/>
        </p:nvGrpSpPr>
        <p:grpSpPr>
          <a:xfrm>
            <a:off x="1118429" y="1229714"/>
            <a:ext cx="9955142" cy="4398571"/>
            <a:chOff x="1226970" y="1334639"/>
            <a:chExt cx="9955142" cy="4398571"/>
          </a:xfrm>
        </p:grpSpPr>
        <p:sp>
          <p:nvSpPr>
            <p:cNvPr id="26" name="任意多边形: 形状 25">
              <a:extLst>
                <a:ext uri="{FF2B5EF4-FFF2-40B4-BE49-F238E27FC236}">
                  <a16:creationId xmlns:a16="http://schemas.microsoft.com/office/drawing/2014/main" id="{FD749F32-D80C-4BAD-0169-ADCEBD8E4EC0}"/>
                </a:ext>
              </a:extLst>
            </p:cNvPr>
            <p:cNvSpPr/>
            <p:nvPr/>
          </p:nvSpPr>
          <p:spPr>
            <a:xfrm rot="21038811">
              <a:off x="2221600" y="4183411"/>
              <a:ext cx="1371224" cy="805957"/>
            </a:xfrm>
            <a:custGeom>
              <a:avLst/>
              <a:gdLst>
                <a:gd name="connsiteX0" fmla="*/ 0 w 1161573"/>
                <a:gd name="connsiteY0" fmla="*/ 289084 h 289083"/>
                <a:gd name="connsiteX1" fmla="*/ 710184 w 1161573"/>
                <a:gd name="connsiteY1" fmla="*/ 0 h 289083"/>
                <a:gd name="connsiteX2" fmla="*/ 1161574 w 1161573"/>
                <a:gd name="connsiteY2" fmla="*/ 105442 h 289083"/>
              </a:gdLst>
              <a:ahLst/>
              <a:cxnLst>
                <a:cxn ang="0">
                  <a:pos x="connsiteX0" y="connsiteY0"/>
                </a:cxn>
                <a:cxn ang="0">
                  <a:pos x="connsiteX1" y="connsiteY1"/>
                </a:cxn>
                <a:cxn ang="0">
                  <a:pos x="connsiteX2" y="connsiteY2"/>
                </a:cxn>
              </a:cxnLst>
              <a:rect l="l" t="t" r="r" b="b"/>
              <a:pathLst>
                <a:path w="1161573" h="289083">
                  <a:moveTo>
                    <a:pt x="0" y="289084"/>
                  </a:moveTo>
                  <a:cubicBezTo>
                    <a:pt x="183261" y="110204"/>
                    <a:pt x="433864" y="0"/>
                    <a:pt x="710184" y="0"/>
                  </a:cubicBezTo>
                  <a:cubicBezTo>
                    <a:pt x="872300" y="0"/>
                    <a:pt x="1025557" y="37909"/>
                    <a:pt x="1161574" y="105442"/>
                  </a:cubicBezTo>
                </a:path>
              </a:pathLst>
            </a:custGeom>
            <a:noFill/>
            <a:ln w="19050" cap="rnd">
              <a:solidFill>
                <a:schemeClr val="accent1">
                  <a:alpha val="50000"/>
                </a:schemeClr>
              </a:solidFill>
              <a:prstDash val="sysDot"/>
              <a:round/>
              <a:tailEnd type="triangle"/>
            </a:ln>
          </p:spPr>
          <p:txBody>
            <a:bodyPr rtlCol="0" anchor="ctr"/>
            <a:lstStyle/>
            <a:p>
              <a:endParaRPr lang="zh-CN" altLang="en-US"/>
            </a:p>
          </p:txBody>
        </p:sp>
        <p:grpSp>
          <p:nvGrpSpPr>
            <p:cNvPr id="31" name="组合 30">
              <a:extLst>
                <a:ext uri="{FF2B5EF4-FFF2-40B4-BE49-F238E27FC236}">
                  <a16:creationId xmlns:a16="http://schemas.microsoft.com/office/drawing/2014/main" id="{4D6374E2-BE87-0A4E-2987-FCD24B1292F0}"/>
                </a:ext>
              </a:extLst>
            </p:cNvPr>
            <p:cNvGrpSpPr/>
            <p:nvPr/>
          </p:nvGrpSpPr>
          <p:grpSpPr>
            <a:xfrm>
              <a:off x="5790388" y="1703810"/>
              <a:ext cx="1193820" cy="1259274"/>
              <a:chOff x="1832278" y="2773454"/>
              <a:chExt cx="1802809" cy="1838295"/>
            </a:xfrm>
          </p:grpSpPr>
          <p:sp>
            <p:nvSpPr>
              <p:cNvPr id="45" name="任意多边形: 形状 44">
                <a:extLst>
                  <a:ext uri="{FF2B5EF4-FFF2-40B4-BE49-F238E27FC236}">
                    <a16:creationId xmlns:a16="http://schemas.microsoft.com/office/drawing/2014/main" id="{00DB577B-4AA9-5CAA-C99D-BF7FE87590B9}"/>
                  </a:ext>
                </a:extLst>
              </p:cNvPr>
              <p:cNvSpPr/>
              <p:nvPr/>
            </p:nvSpPr>
            <p:spPr bwMode="auto">
              <a:xfrm>
                <a:off x="2145758" y="3470208"/>
                <a:ext cx="636425" cy="1058735"/>
              </a:xfrm>
              <a:custGeom>
                <a:avLst/>
                <a:gdLst>
                  <a:gd name="T0" fmla="*/ 126 w 183"/>
                  <a:gd name="T1" fmla="*/ 0 h 304"/>
                  <a:gd name="T2" fmla="*/ 65 w 183"/>
                  <a:gd name="T3" fmla="*/ 0 h 304"/>
                  <a:gd name="T4" fmla="*/ 66 w 183"/>
                  <a:gd name="T5" fmla="*/ 4 h 304"/>
                  <a:gd name="T6" fmla="*/ 43 w 183"/>
                  <a:gd name="T7" fmla="*/ 4 h 304"/>
                  <a:gd name="T8" fmla="*/ 23 w 183"/>
                  <a:gd name="T9" fmla="*/ 154 h 304"/>
                  <a:gd name="T10" fmla="*/ 0 w 183"/>
                  <a:gd name="T11" fmla="*/ 304 h 304"/>
                  <a:gd name="T12" fmla="*/ 20 w 183"/>
                  <a:gd name="T13" fmla="*/ 304 h 304"/>
                  <a:gd name="T14" fmla="*/ 90 w 183"/>
                  <a:gd name="T15" fmla="*/ 73 h 304"/>
                  <a:gd name="T16" fmla="*/ 143 w 183"/>
                  <a:gd name="T17" fmla="*/ 131 h 304"/>
                  <a:gd name="T18" fmla="*/ 127 w 183"/>
                  <a:gd name="T19" fmla="*/ 259 h 304"/>
                  <a:gd name="T20" fmla="*/ 148 w 183"/>
                  <a:gd name="T21" fmla="*/ 259 h 304"/>
                  <a:gd name="T22" fmla="*/ 183 w 183"/>
                  <a:gd name="T23" fmla="*/ 133 h 304"/>
                  <a:gd name="T24" fmla="*/ 126 w 183"/>
                  <a:gd name="T25"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304">
                    <a:moveTo>
                      <a:pt x="126" y="0"/>
                    </a:moveTo>
                    <a:cubicBezTo>
                      <a:pt x="65" y="0"/>
                      <a:pt x="65" y="0"/>
                      <a:pt x="65" y="0"/>
                    </a:cubicBezTo>
                    <a:cubicBezTo>
                      <a:pt x="66" y="4"/>
                      <a:pt x="66" y="4"/>
                      <a:pt x="66" y="4"/>
                    </a:cubicBezTo>
                    <a:cubicBezTo>
                      <a:pt x="43" y="4"/>
                      <a:pt x="43" y="4"/>
                      <a:pt x="43" y="4"/>
                    </a:cubicBezTo>
                    <a:cubicBezTo>
                      <a:pt x="23" y="154"/>
                      <a:pt x="23" y="154"/>
                      <a:pt x="23" y="154"/>
                    </a:cubicBezTo>
                    <a:cubicBezTo>
                      <a:pt x="5" y="178"/>
                      <a:pt x="0" y="304"/>
                      <a:pt x="0" y="304"/>
                    </a:cubicBezTo>
                    <a:cubicBezTo>
                      <a:pt x="20" y="304"/>
                      <a:pt x="20" y="304"/>
                      <a:pt x="20" y="304"/>
                    </a:cubicBezTo>
                    <a:cubicBezTo>
                      <a:pt x="90" y="73"/>
                      <a:pt x="90" y="73"/>
                      <a:pt x="90" y="73"/>
                    </a:cubicBezTo>
                    <a:cubicBezTo>
                      <a:pt x="143" y="131"/>
                      <a:pt x="143" y="131"/>
                      <a:pt x="143" y="131"/>
                    </a:cubicBezTo>
                    <a:cubicBezTo>
                      <a:pt x="140" y="161"/>
                      <a:pt x="127" y="259"/>
                      <a:pt x="127" y="259"/>
                    </a:cubicBezTo>
                    <a:cubicBezTo>
                      <a:pt x="148" y="259"/>
                      <a:pt x="148" y="259"/>
                      <a:pt x="148" y="259"/>
                    </a:cubicBezTo>
                    <a:cubicBezTo>
                      <a:pt x="183" y="133"/>
                      <a:pt x="183" y="133"/>
                      <a:pt x="183" y="133"/>
                    </a:cubicBezTo>
                    <a:lnTo>
                      <a:pt x="126" y="0"/>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46" name="任意多边形: 形状 45">
                <a:extLst>
                  <a:ext uri="{FF2B5EF4-FFF2-40B4-BE49-F238E27FC236}">
                    <a16:creationId xmlns:a16="http://schemas.microsoft.com/office/drawing/2014/main" id="{2B7AA0B4-F89A-A035-F730-C3982FB78C7C}"/>
                  </a:ext>
                </a:extLst>
              </p:cNvPr>
              <p:cNvSpPr/>
              <p:nvPr/>
            </p:nvSpPr>
            <p:spPr bwMode="auto">
              <a:xfrm>
                <a:off x="2145758" y="3065642"/>
                <a:ext cx="580827" cy="574911"/>
              </a:xfrm>
              <a:custGeom>
                <a:avLst/>
                <a:gdLst>
                  <a:gd name="T0" fmla="*/ 131 w 167"/>
                  <a:gd name="T1" fmla="*/ 52 h 165"/>
                  <a:gd name="T2" fmla="*/ 167 w 167"/>
                  <a:gd name="T3" fmla="*/ 50 h 165"/>
                  <a:gd name="T4" fmla="*/ 164 w 167"/>
                  <a:gd name="T5" fmla="*/ 41 h 165"/>
                  <a:gd name="T6" fmla="*/ 137 w 167"/>
                  <a:gd name="T7" fmla="*/ 16 h 165"/>
                  <a:gd name="T8" fmla="*/ 124 w 167"/>
                  <a:gd name="T9" fmla="*/ 7 h 165"/>
                  <a:gd name="T10" fmla="*/ 31 w 167"/>
                  <a:gd name="T11" fmla="*/ 16 h 165"/>
                  <a:gd name="T12" fmla="*/ 0 w 167"/>
                  <a:gd name="T13" fmla="*/ 82 h 165"/>
                  <a:gd name="T14" fmla="*/ 37 w 167"/>
                  <a:gd name="T15" fmla="*/ 96 h 165"/>
                  <a:gd name="T16" fmla="*/ 39 w 167"/>
                  <a:gd name="T17" fmla="*/ 91 h 165"/>
                  <a:gd name="T18" fmla="*/ 37 w 167"/>
                  <a:gd name="T19" fmla="*/ 161 h 165"/>
                  <a:gd name="T20" fmla="*/ 142 w 167"/>
                  <a:gd name="T21" fmla="*/ 151 h 165"/>
                  <a:gd name="T22" fmla="*/ 131 w 167"/>
                  <a:gd name="T23" fmla="*/ 5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7" h="165">
                    <a:moveTo>
                      <a:pt x="131" y="52"/>
                    </a:moveTo>
                    <a:cubicBezTo>
                      <a:pt x="167" y="50"/>
                      <a:pt x="167" y="50"/>
                      <a:pt x="167" y="50"/>
                    </a:cubicBezTo>
                    <a:cubicBezTo>
                      <a:pt x="166" y="33"/>
                      <a:pt x="164" y="41"/>
                      <a:pt x="164" y="41"/>
                    </a:cubicBezTo>
                    <a:cubicBezTo>
                      <a:pt x="137" y="16"/>
                      <a:pt x="137" y="16"/>
                      <a:pt x="137" y="16"/>
                    </a:cubicBezTo>
                    <a:cubicBezTo>
                      <a:pt x="131" y="9"/>
                      <a:pt x="128" y="7"/>
                      <a:pt x="124" y="7"/>
                    </a:cubicBezTo>
                    <a:cubicBezTo>
                      <a:pt x="100" y="7"/>
                      <a:pt x="53" y="0"/>
                      <a:pt x="31" y="16"/>
                    </a:cubicBezTo>
                    <a:cubicBezTo>
                      <a:pt x="19" y="26"/>
                      <a:pt x="0" y="82"/>
                      <a:pt x="0" y="82"/>
                    </a:cubicBezTo>
                    <a:cubicBezTo>
                      <a:pt x="37" y="96"/>
                      <a:pt x="37" y="96"/>
                      <a:pt x="37" y="96"/>
                    </a:cubicBezTo>
                    <a:cubicBezTo>
                      <a:pt x="39" y="91"/>
                      <a:pt x="39" y="91"/>
                      <a:pt x="39" y="91"/>
                    </a:cubicBezTo>
                    <a:cubicBezTo>
                      <a:pt x="38" y="117"/>
                      <a:pt x="37" y="161"/>
                      <a:pt x="37" y="161"/>
                    </a:cubicBezTo>
                    <a:cubicBezTo>
                      <a:pt x="97" y="165"/>
                      <a:pt x="142" y="151"/>
                      <a:pt x="142" y="151"/>
                    </a:cubicBezTo>
                    <a:cubicBezTo>
                      <a:pt x="137" y="129"/>
                      <a:pt x="131" y="90"/>
                      <a:pt x="131" y="52"/>
                    </a:cubicBezTo>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48" name="任意多边形: 形状 47">
                <a:extLst>
                  <a:ext uri="{FF2B5EF4-FFF2-40B4-BE49-F238E27FC236}">
                    <a16:creationId xmlns:a16="http://schemas.microsoft.com/office/drawing/2014/main" id="{45562A25-D5E5-E9F1-4B9F-744E647DD205}"/>
                  </a:ext>
                </a:extLst>
              </p:cNvPr>
              <p:cNvSpPr/>
              <p:nvPr/>
            </p:nvSpPr>
            <p:spPr bwMode="auto">
              <a:xfrm>
                <a:off x="1832278" y="2818406"/>
                <a:ext cx="1802809" cy="1184127"/>
              </a:xfrm>
              <a:custGeom>
                <a:avLst/>
                <a:gdLst>
                  <a:gd name="T0" fmla="*/ 1524 w 1524"/>
                  <a:gd name="T1" fmla="*/ 148 h 1001"/>
                  <a:gd name="T2" fmla="*/ 935 w 1524"/>
                  <a:gd name="T3" fmla="*/ 0 h 1001"/>
                  <a:gd name="T4" fmla="*/ 1015 w 1524"/>
                  <a:gd name="T5" fmla="*/ 168 h 1001"/>
                  <a:gd name="T6" fmla="*/ 0 w 1524"/>
                  <a:gd name="T7" fmla="*/ 645 h 1001"/>
                  <a:gd name="T8" fmla="*/ 167 w 1524"/>
                  <a:gd name="T9" fmla="*/ 1001 h 1001"/>
                  <a:gd name="T10" fmla="*/ 1183 w 1524"/>
                  <a:gd name="T11" fmla="*/ 524 h 1001"/>
                  <a:gd name="T12" fmla="*/ 1262 w 1524"/>
                  <a:gd name="T13" fmla="*/ 695 h 1001"/>
                  <a:gd name="T14" fmla="*/ 1524 w 1524"/>
                  <a:gd name="T15" fmla="*/ 148 h 10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4" h="1001">
                    <a:moveTo>
                      <a:pt x="1524" y="148"/>
                    </a:moveTo>
                    <a:lnTo>
                      <a:pt x="935" y="0"/>
                    </a:lnTo>
                    <a:lnTo>
                      <a:pt x="1015" y="168"/>
                    </a:lnTo>
                    <a:lnTo>
                      <a:pt x="0" y="645"/>
                    </a:lnTo>
                    <a:lnTo>
                      <a:pt x="167" y="1001"/>
                    </a:lnTo>
                    <a:lnTo>
                      <a:pt x="1183" y="524"/>
                    </a:lnTo>
                    <a:lnTo>
                      <a:pt x="1262" y="695"/>
                    </a:lnTo>
                    <a:lnTo>
                      <a:pt x="1524" y="148"/>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49" name="任意多边形: 形状 48">
                <a:extLst>
                  <a:ext uri="{FF2B5EF4-FFF2-40B4-BE49-F238E27FC236}">
                    <a16:creationId xmlns:a16="http://schemas.microsoft.com/office/drawing/2014/main" id="{8346FB43-06D2-146D-5BE8-4945F97E3F96}"/>
                  </a:ext>
                </a:extLst>
              </p:cNvPr>
              <p:cNvSpPr/>
              <p:nvPr/>
            </p:nvSpPr>
            <p:spPr bwMode="auto">
              <a:xfrm>
                <a:off x="1832278" y="2818406"/>
                <a:ext cx="1802809" cy="1184127"/>
              </a:xfrm>
              <a:custGeom>
                <a:avLst/>
                <a:gdLst>
                  <a:gd name="T0" fmla="*/ 1524 w 1524"/>
                  <a:gd name="T1" fmla="*/ 148 h 1001"/>
                  <a:gd name="T2" fmla="*/ 935 w 1524"/>
                  <a:gd name="T3" fmla="*/ 0 h 1001"/>
                  <a:gd name="T4" fmla="*/ 1015 w 1524"/>
                  <a:gd name="T5" fmla="*/ 168 h 1001"/>
                  <a:gd name="T6" fmla="*/ 0 w 1524"/>
                  <a:gd name="T7" fmla="*/ 645 h 1001"/>
                  <a:gd name="T8" fmla="*/ 167 w 1524"/>
                  <a:gd name="T9" fmla="*/ 1001 h 1001"/>
                  <a:gd name="T10" fmla="*/ 1183 w 1524"/>
                  <a:gd name="T11" fmla="*/ 524 h 1001"/>
                  <a:gd name="T12" fmla="*/ 1262 w 1524"/>
                  <a:gd name="T13" fmla="*/ 695 h 1001"/>
                  <a:gd name="T14" fmla="*/ 1524 w 1524"/>
                  <a:gd name="T15" fmla="*/ 148 h 10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4" h="1001">
                    <a:moveTo>
                      <a:pt x="1524" y="148"/>
                    </a:moveTo>
                    <a:lnTo>
                      <a:pt x="935" y="0"/>
                    </a:lnTo>
                    <a:lnTo>
                      <a:pt x="1015" y="168"/>
                    </a:lnTo>
                    <a:lnTo>
                      <a:pt x="0" y="645"/>
                    </a:lnTo>
                    <a:lnTo>
                      <a:pt x="167" y="1001"/>
                    </a:lnTo>
                    <a:lnTo>
                      <a:pt x="1183" y="524"/>
                    </a:lnTo>
                    <a:lnTo>
                      <a:pt x="1262" y="695"/>
                    </a:lnTo>
                    <a:lnTo>
                      <a:pt x="1524" y="1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任意多边形: 形状 49">
                <a:extLst>
                  <a:ext uri="{FF2B5EF4-FFF2-40B4-BE49-F238E27FC236}">
                    <a16:creationId xmlns:a16="http://schemas.microsoft.com/office/drawing/2014/main" id="{8D93B143-9DB8-4F93-0C39-D4BF1BAFE6A6}"/>
                  </a:ext>
                </a:extLst>
              </p:cNvPr>
              <p:cNvSpPr/>
              <p:nvPr/>
            </p:nvSpPr>
            <p:spPr bwMode="auto">
              <a:xfrm>
                <a:off x="2117368" y="4528943"/>
                <a:ext cx="209382" cy="82806"/>
              </a:xfrm>
              <a:custGeom>
                <a:avLst/>
                <a:gdLst>
                  <a:gd name="T0" fmla="*/ 8 w 60"/>
                  <a:gd name="T1" fmla="*/ 0 h 24"/>
                  <a:gd name="T2" fmla="*/ 0 w 60"/>
                  <a:gd name="T3" fmla="*/ 24 h 24"/>
                  <a:gd name="T4" fmla="*/ 60 w 60"/>
                  <a:gd name="T5" fmla="*/ 24 h 24"/>
                  <a:gd name="T6" fmla="*/ 26 w 60"/>
                  <a:gd name="T7" fmla="*/ 6 h 24"/>
                  <a:gd name="T8" fmla="*/ 28 w 60"/>
                  <a:gd name="T9" fmla="*/ 0 h 24"/>
                  <a:gd name="T10" fmla="*/ 8 w 60"/>
                  <a:gd name="T11" fmla="*/ 0 h 24"/>
                </a:gdLst>
                <a:ahLst/>
                <a:cxnLst>
                  <a:cxn ang="0">
                    <a:pos x="T0" y="T1"/>
                  </a:cxn>
                  <a:cxn ang="0">
                    <a:pos x="T2" y="T3"/>
                  </a:cxn>
                  <a:cxn ang="0">
                    <a:pos x="T4" y="T5"/>
                  </a:cxn>
                  <a:cxn ang="0">
                    <a:pos x="T6" y="T7"/>
                  </a:cxn>
                  <a:cxn ang="0">
                    <a:pos x="T8" y="T9"/>
                  </a:cxn>
                  <a:cxn ang="0">
                    <a:pos x="T10" y="T11"/>
                  </a:cxn>
                </a:cxnLst>
                <a:rect l="0" t="0" r="r" b="b"/>
                <a:pathLst>
                  <a:path w="60" h="24">
                    <a:moveTo>
                      <a:pt x="8" y="0"/>
                    </a:moveTo>
                    <a:cubicBezTo>
                      <a:pt x="0" y="24"/>
                      <a:pt x="0" y="24"/>
                      <a:pt x="0" y="24"/>
                    </a:cubicBezTo>
                    <a:cubicBezTo>
                      <a:pt x="60" y="24"/>
                      <a:pt x="60" y="24"/>
                      <a:pt x="60" y="24"/>
                    </a:cubicBezTo>
                    <a:cubicBezTo>
                      <a:pt x="60" y="24"/>
                      <a:pt x="43" y="9"/>
                      <a:pt x="26" y="6"/>
                    </a:cubicBezTo>
                    <a:cubicBezTo>
                      <a:pt x="28" y="0"/>
                      <a:pt x="28" y="0"/>
                      <a:pt x="28" y="0"/>
                    </a:cubicBezTo>
                    <a:lnTo>
                      <a:pt x="8" y="0"/>
                    </a:lnTo>
                    <a:close/>
                  </a:path>
                </a:pathLst>
              </a:custGeom>
              <a:solidFill>
                <a:schemeClr val="bg2">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任意多边形: 形状 50">
                <a:extLst>
                  <a:ext uri="{FF2B5EF4-FFF2-40B4-BE49-F238E27FC236}">
                    <a16:creationId xmlns:a16="http://schemas.microsoft.com/office/drawing/2014/main" id="{BF87D8A8-9AD3-7F72-7014-F5B6C21DB3FA}"/>
                  </a:ext>
                </a:extLst>
              </p:cNvPr>
              <p:cNvSpPr/>
              <p:nvPr/>
            </p:nvSpPr>
            <p:spPr bwMode="auto">
              <a:xfrm>
                <a:off x="2570436" y="4364514"/>
                <a:ext cx="208198" cy="80440"/>
              </a:xfrm>
              <a:custGeom>
                <a:avLst/>
                <a:gdLst>
                  <a:gd name="T0" fmla="*/ 5 w 60"/>
                  <a:gd name="T1" fmla="*/ 0 h 23"/>
                  <a:gd name="T2" fmla="*/ 0 w 60"/>
                  <a:gd name="T3" fmla="*/ 23 h 23"/>
                  <a:gd name="T4" fmla="*/ 60 w 60"/>
                  <a:gd name="T5" fmla="*/ 23 h 23"/>
                  <a:gd name="T6" fmla="*/ 27 w 60"/>
                  <a:gd name="T7" fmla="*/ 9 h 23"/>
                  <a:gd name="T8" fmla="*/ 26 w 60"/>
                  <a:gd name="T9" fmla="*/ 0 h 23"/>
                  <a:gd name="T10" fmla="*/ 5 w 60"/>
                  <a:gd name="T11" fmla="*/ 0 h 23"/>
                </a:gdLst>
                <a:ahLst/>
                <a:cxnLst>
                  <a:cxn ang="0">
                    <a:pos x="T0" y="T1"/>
                  </a:cxn>
                  <a:cxn ang="0">
                    <a:pos x="T2" y="T3"/>
                  </a:cxn>
                  <a:cxn ang="0">
                    <a:pos x="T4" y="T5"/>
                  </a:cxn>
                  <a:cxn ang="0">
                    <a:pos x="T6" y="T7"/>
                  </a:cxn>
                  <a:cxn ang="0">
                    <a:pos x="T8" y="T9"/>
                  </a:cxn>
                  <a:cxn ang="0">
                    <a:pos x="T10" y="T11"/>
                  </a:cxn>
                </a:cxnLst>
                <a:rect l="0" t="0" r="r" b="b"/>
                <a:pathLst>
                  <a:path w="60" h="23">
                    <a:moveTo>
                      <a:pt x="5" y="0"/>
                    </a:moveTo>
                    <a:cubicBezTo>
                      <a:pt x="0" y="23"/>
                      <a:pt x="0" y="23"/>
                      <a:pt x="0" y="23"/>
                    </a:cubicBezTo>
                    <a:cubicBezTo>
                      <a:pt x="60" y="23"/>
                      <a:pt x="60" y="23"/>
                      <a:pt x="60" y="23"/>
                    </a:cubicBezTo>
                    <a:cubicBezTo>
                      <a:pt x="60" y="23"/>
                      <a:pt x="44" y="11"/>
                      <a:pt x="27" y="9"/>
                    </a:cubicBezTo>
                    <a:cubicBezTo>
                      <a:pt x="26" y="0"/>
                      <a:pt x="26" y="0"/>
                      <a:pt x="26" y="0"/>
                    </a:cubicBezTo>
                    <a:lnTo>
                      <a:pt x="5" y="0"/>
                    </a:lnTo>
                    <a:close/>
                  </a:path>
                </a:pathLst>
              </a:custGeom>
              <a:solidFill>
                <a:schemeClr val="bg2">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任意多边形: 形状 51">
                <a:extLst>
                  <a:ext uri="{FF2B5EF4-FFF2-40B4-BE49-F238E27FC236}">
                    <a16:creationId xmlns:a16="http://schemas.microsoft.com/office/drawing/2014/main" id="{B1E989FD-7CBF-F525-EF31-C965D4AAC81B}"/>
                  </a:ext>
                </a:extLst>
              </p:cNvPr>
              <p:cNvSpPr/>
              <p:nvPr/>
            </p:nvSpPr>
            <p:spPr bwMode="auto">
              <a:xfrm>
                <a:off x="2131563" y="3362560"/>
                <a:ext cx="104099" cy="107648"/>
              </a:xfrm>
              <a:custGeom>
                <a:avLst/>
                <a:gdLst>
                  <a:gd name="T0" fmla="*/ 0 w 88"/>
                  <a:gd name="T1" fmla="*/ 85 h 91"/>
                  <a:gd name="T2" fmla="*/ 32 w 88"/>
                  <a:gd name="T3" fmla="*/ 0 h 91"/>
                  <a:gd name="T4" fmla="*/ 88 w 88"/>
                  <a:gd name="T5" fmla="*/ 20 h 91"/>
                  <a:gd name="T6" fmla="*/ 59 w 88"/>
                  <a:gd name="T7" fmla="*/ 91 h 91"/>
                  <a:gd name="T8" fmla="*/ 0 w 88"/>
                  <a:gd name="T9" fmla="*/ 85 h 91"/>
                </a:gdLst>
                <a:ahLst/>
                <a:cxnLst>
                  <a:cxn ang="0">
                    <a:pos x="T0" y="T1"/>
                  </a:cxn>
                  <a:cxn ang="0">
                    <a:pos x="T2" y="T3"/>
                  </a:cxn>
                  <a:cxn ang="0">
                    <a:pos x="T4" y="T5"/>
                  </a:cxn>
                  <a:cxn ang="0">
                    <a:pos x="T6" y="T7"/>
                  </a:cxn>
                  <a:cxn ang="0">
                    <a:pos x="T8" y="T9"/>
                  </a:cxn>
                </a:cxnLst>
                <a:rect l="0" t="0" r="r" b="b"/>
                <a:pathLst>
                  <a:path w="88" h="91">
                    <a:moveTo>
                      <a:pt x="0" y="85"/>
                    </a:moveTo>
                    <a:lnTo>
                      <a:pt x="32" y="0"/>
                    </a:lnTo>
                    <a:lnTo>
                      <a:pt x="88" y="20"/>
                    </a:lnTo>
                    <a:lnTo>
                      <a:pt x="59" y="91"/>
                    </a:lnTo>
                    <a:lnTo>
                      <a:pt x="0" y="85"/>
                    </a:ln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任意多边形: 形状 52">
                <a:extLst>
                  <a:ext uri="{FF2B5EF4-FFF2-40B4-BE49-F238E27FC236}">
                    <a16:creationId xmlns:a16="http://schemas.microsoft.com/office/drawing/2014/main" id="{DB555A9C-5C2D-9BFD-4DEB-4116C4225514}"/>
                  </a:ext>
                </a:extLst>
              </p:cNvPr>
              <p:cNvSpPr/>
              <p:nvPr/>
            </p:nvSpPr>
            <p:spPr bwMode="auto">
              <a:xfrm>
                <a:off x="2343310" y="2853894"/>
                <a:ext cx="216479" cy="236589"/>
              </a:xfrm>
              <a:custGeom>
                <a:avLst/>
                <a:gdLst>
                  <a:gd name="T0" fmla="*/ 56 w 62"/>
                  <a:gd name="T1" fmla="*/ 0 h 68"/>
                  <a:gd name="T2" fmla="*/ 62 w 62"/>
                  <a:gd name="T3" fmla="*/ 25 h 68"/>
                  <a:gd name="T4" fmla="*/ 58 w 62"/>
                  <a:gd name="T5" fmla="*/ 30 h 68"/>
                  <a:gd name="T6" fmla="*/ 56 w 62"/>
                  <a:gd name="T7" fmla="*/ 31 h 68"/>
                  <a:gd name="T8" fmla="*/ 53 w 62"/>
                  <a:gd name="T9" fmla="*/ 47 h 68"/>
                  <a:gd name="T10" fmla="*/ 42 w 62"/>
                  <a:gd name="T11" fmla="*/ 54 h 68"/>
                  <a:gd name="T12" fmla="*/ 40 w 62"/>
                  <a:gd name="T13" fmla="*/ 66 h 68"/>
                  <a:gd name="T14" fmla="*/ 15 w 62"/>
                  <a:gd name="T15" fmla="*/ 68 h 68"/>
                  <a:gd name="T16" fmla="*/ 17 w 62"/>
                  <a:gd name="T17" fmla="*/ 45 h 68"/>
                  <a:gd name="T18" fmla="*/ 7 w 62"/>
                  <a:gd name="T19" fmla="*/ 16 h 68"/>
                  <a:gd name="T20" fmla="*/ 47 w 62"/>
                  <a:gd name="T21" fmla="*/ 1 h 68"/>
                  <a:gd name="T22" fmla="*/ 56 w 62"/>
                  <a:gd name="T23"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8">
                    <a:moveTo>
                      <a:pt x="56" y="0"/>
                    </a:moveTo>
                    <a:cubicBezTo>
                      <a:pt x="62" y="25"/>
                      <a:pt x="62" y="25"/>
                      <a:pt x="62" y="25"/>
                    </a:cubicBezTo>
                    <a:cubicBezTo>
                      <a:pt x="62" y="27"/>
                      <a:pt x="60" y="30"/>
                      <a:pt x="58" y="30"/>
                    </a:cubicBezTo>
                    <a:cubicBezTo>
                      <a:pt x="56" y="31"/>
                      <a:pt x="56" y="31"/>
                      <a:pt x="56" y="31"/>
                    </a:cubicBezTo>
                    <a:cubicBezTo>
                      <a:pt x="56" y="31"/>
                      <a:pt x="56" y="43"/>
                      <a:pt x="53" y="47"/>
                    </a:cubicBezTo>
                    <a:cubicBezTo>
                      <a:pt x="50" y="50"/>
                      <a:pt x="43" y="50"/>
                      <a:pt x="42" y="54"/>
                    </a:cubicBezTo>
                    <a:cubicBezTo>
                      <a:pt x="41" y="58"/>
                      <a:pt x="40" y="66"/>
                      <a:pt x="40" y="66"/>
                    </a:cubicBezTo>
                    <a:cubicBezTo>
                      <a:pt x="15" y="68"/>
                      <a:pt x="15" y="68"/>
                      <a:pt x="15" y="68"/>
                    </a:cubicBezTo>
                    <a:cubicBezTo>
                      <a:pt x="15" y="68"/>
                      <a:pt x="19" y="48"/>
                      <a:pt x="17" y="45"/>
                    </a:cubicBezTo>
                    <a:cubicBezTo>
                      <a:pt x="15" y="42"/>
                      <a:pt x="0" y="28"/>
                      <a:pt x="7" y="16"/>
                    </a:cubicBezTo>
                    <a:cubicBezTo>
                      <a:pt x="47" y="1"/>
                      <a:pt x="47" y="1"/>
                      <a:pt x="47" y="1"/>
                    </a:cubicBezTo>
                    <a:lnTo>
                      <a:pt x="56" y="0"/>
                    </a:ln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任意多边形: 形状 53">
                <a:extLst>
                  <a:ext uri="{FF2B5EF4-FFF2-40B4-BE49-F238E27FC236}">
                    <a16:creationId xmlns:a16="http://schemas.microsoft.com/office/drawing/2014/main" id="{723FBCB6-F8C9-C9BE-4833-7763FE790B41}"/>
                  </a:ext>
                </a:extLst>
              </p:cNvPr>
              <p:cNvSpPr/>
              <p:nvPr/>
            </p:nvSpPr>
            <p:spPr bwMode="auto">
              <a:xfrm>
                <a:off x="2343310" y="2773454"/>
                <a:ext cx="254334" cy="257882"/>
              </a:xfrm>
              <a:custGeom>
                <a:avLst/>
                <a:gdLst>
                  <a:gd name="T0" fmla="*/ 71 w 73"/>
                  <a:gd name="T1" fmla="*/ 14 h 74"/>
                  <a:gd name="T2" fmla="*/ 29 w 73"/>
                  <a:gd name="T3" fmla="*/ 10 h 74"/>
                  <a:gd name="T4" fmla="*/ 24 w 73"/>
                  <a:gd name="T5" fmla="*/ 12 h 74"/>
                  <a:gd name="T6" fmla="*/ 7 w 73"/>
                  <a:gd name="T7" fmla="*/ 39 h 74"/>
                  <a:gd name="T8" fmla="*/ 17 w 73"/>
                  <a:gd name="T9" fmla="*/ 68 h 74"/>
                  <a:gd name="T10" fmla="*/ 18 w 73"/>
                  <a:gd name="T11" fmla="*/ 74 h 74"/>
                  <a:gd name="T12" fmla="*/ 29 w 73"/>
                  <a:gd name="T13" fmla="*/ 61 h 74"/>
                  <a:gd name="T14" fmla="*/ 23 w 73"/>
                  <a:gd name="T15" fmla="*/ 52 h 74"/>
                  <a:gd name="T16" fmla="*/ 28 w 73"/>
                  <a:gd name="T17" fmla="*/ 46 h 74"/>
                  <a:gd name="T18" fmla="*/ 34 w 73"/>
                  <a:gd name="T19" fmla="*/ 57 h 74"/>
                  <a:gd name="T20" fmla="*/ 38 w 73"/>
                  <a:gd name="T21" fmla="*/ 43 h 74"/>
                  <a:gd name="T22" fmla="*/ 43 w 73"/>
                  <a:gd name="T23" fmla="*/ 31 h 74"/>
                  <a:gd name="T24" fmla="*/ 47 w 73"/>
                  <a:gd name="T25" fmla="*/ 24 h 74"/>
                  <a:gd name="T26" fmla="*/ 71 w 73"/>
                  <a:gd name="T27"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74">
                    <a:moveTo>
                      <a:pt x="71" y="14"/>
                    </a:moveTo>
                    <a:cubicBezTo>
                      <a:pt x="66" y="0"/>
                      <a:pt x="41" y="6"/>
                      <a:pt x="29" y="10"/>
                    </a:cubicBezTo>
                    <a:cubicBezTo>
                      <a:pt x="28" y="10"/>
                      <a:pt x="26" y="11"/>
                      <a:pt x="24" y="12"/>
                    </a:cubicBezTo>
                    <a:cubicBezTo>
                      <a:pt x="10" y="20"/>
                      <a:pt x="7" y="39"/>
                      <a:pt x="7" y="39"/>
                    </a:cubicBezTo>
                    <a:cubicBezTo>
                      <a:pt x="0" y="51"/>
                      <a:pt x="15" y="65"/>
                      <a:pt x="17" y="68"/>
                    </a:cubicBezTo>
                    <a:cubicBezTo>
                      <a:pt x="18" y="69"/>
                      <a:pt x="18" y="71"/>
                      <a:pt x="18" y="74"/>
                    </a:cubicBezTo>
                    <a:cubicBezTo>
                      <a:pt x="28" y="71"/>
                      <a:pt x="29" y="61"/>
                      <a:pt x="29" y="61"/>
                    </a:cubicBezTo>
                    <a:cubicBezTo>
                      <a:pt x="26" y="60"/>
                      <a:pt x="23" y="58"/>
                      <a:pt x="23" y="52"/>
                    </a:cubicBezTo>
                    <a:cubicBezTo>
                      <a:pt x="22" y="46"/>
                      <a:pt x="26" y="45"/>
                      <a:pt x="28" y="46"/>
                    </a:cubicBezTo>
                    <a:cubicBezTo>
                      <a:pt x="31" y="46"/>
                      <a:pt x="32" y="58"/>
                      <a:pt x="34" y="57"/>
                    </a:cubicBezTo>
                    <a:cubicBezTo>
                      <a:pt x="36" y="56"/>
                      <a:pt x="38" y="43"/>
                      <a:pt x="38" y="43"/>
                    </a:cubicBezTo>
                    <a:cubicBezTo>
                      <a:pt x="43" y="39"/>
                      <a:pt x="43" y="31"/>
                      <a:pt x="43" y="31"/>
                    </a:cubicBezTo>
                    <a:cubicBezTo>
                      <a:pt x="47" y="24"/>
                      <a:pt x="47" y="24"/>
                      <a:pt x="47" y="24"/>
                    </a:cubicBezTo>
                    <a:cubicBezTo>
                      <a:pt x="73" y="31"/>
                      <a:pt x="71" y="14"/>
                      <a:pt x="71" y="14"/>
                    </a:cubicBezTo>
                    <a:close/>
                  </a:path>
                </a:pathLst>
              </a:custGeom>
              <a:solidFill>
                <a:srgbClr val="2422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57" name="任意多边形: 形状 56">
                <a:extLst>
                  <a:ext uri="{FF2B5EF4-FFF2-40B4-BE49-F238E27FC236}">
                    <a16:creationId xmlns:a16="http://schemas.microsoft.com/office/drawing/2014/main" id="{6307C9B4-0E69-CEBA-AFC3-B6520063684D}"/>
                  </a:ext>
                </a:extLst>
              </p:cNvPr>
              <p:cNvSpPr/>
              <p:nvPr/>
            </p:nvSpPr>
            <p:spPr bwMode="auto">
              <a:xfrm>
                <a:off x="2128014" y="3375573"/>
                <a:ext cx="399836" cy="143137"/>
              </a:xfrm>
              <a:custGeom>
                <a:avLst/>
                <a:gdLst>
                  <a:gd name="T0" fmla="*/ 1 w 115"/>
                  <a:gd name="T1" fmla="*/ 27 h 41"/>
                  <a:gd name="T2" fmla="*/ 80 w 115"/>
                  <a:gd name="T3" fmla="*/ 23 h 41"/>
                  <a:gd name="T4" fmla="*/ 99 w 115"/>
                  <a:gd name="T5" fmla="*/ 24 h 41"/>
                  <a:gd name="T6" fmla="*/ 115 w 115"/>
                  <a:gd name="T7" fmla="*/ 12 h 41"/>
                  <a:gd name="T8" fmla="*/ 113 w 115"/>
                  <a:gd name="T9" fmla="*/ 10 h 41"/>
                  <a:gd name="T10" fmla="*/ 94 w 115"/>
                  <a:gd name="T11" fmla="*/ 11 h 41"/>
                  <a:gd name="T12" fmla="*/ 101 w 115"/>
                  <a:gd name="T13" fmla="*/ 1 h 41"/>
                  <a:gd name="T14" fmla="*/ 79 w 115"/>
                  <a:gd name="T15" fmla="*/ 11 h 41"/>
                  <a:gd name="T16" fmla="*/ 23 w 115"/>
                  <a:gd name="T17" fmla="*/ 13 h 41"/>
                  <a:gd name="T18" fmla="*/ 1 w 115"/>
                  <a:gd name="T19"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41">
                    <a:moveTo>
                      <a:pt x="1" y="27"/>
                    </a:moveTo>
                    <a:cubicBezTo>
                      <a:pt x="1" y="35"/>
                      <a:pt x="16" y="41"/>
                      <a:pt x="80" y="23"/>
                    </a:cubicBezTo>
                    <a:cubicBezTo>
                      <a:pt x="80" y="23"/>
                      <a:pt x="93" y="26"/>
                      <a:pt x="99" y="24"/>
                    </a:cubicBezTo>
                    <a:cubicBezTo>
                      <a:pt x="106" y="21"/>
                      <a:pt x="115" y="12"/>
                      <a:pt x="115" y="12"/>
                    </a:cubicBezTo>
                    <a:cubicBezTo>
                      <a:pt x="113" y="10"/>
                      <a:pt x="113" y="10"/>
                      <a:pt x="113" y="10"/>
                    </a:cubicBezTo>
                    <a:cubicBezTo>
                      <a:pt x="113" y="10"/>
                      <a:pt x="96" y="13"/>
                      <a:pt x="94" y="11"/>
                    </a:cubicBezTo>
                    <a:cubicBezTo>
                      <a:pt x="92" y="9"/>
                      <a:pt x="102" y="2"/>
                      <a:pt x="101" y="1"/>
                    </a:cubicBezTo>
                    <a:cubicBezTo>
                      <a:pt x="100" y="0"/>
                      <a:pt x="86" y="5"/>
                      <a:pt x="79" y="11"/>
                    </a:cubicBezTo>
                    <a:cubicBezTo>
                      <a:pt x="79" y="11"/>
                      <a:pt x="39" y="12"/>
                      <a:pt x="23" y="13"/>
                    </a:cubicBezTo>
                    <a:cubicBezTo>
                      <a:pt x="7" y="14"/>
                      <a:pt x="0" y="19"/>
                      <a:pt x="1" y="27"/>
                    </a:cubicBez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58" name="任意多边形: 形状 57">
                <a:extLst>
                  <a:ext uri="{FF2B5EF4-FFF2-40B4-BE49-F238E27FC236}">
                    <a16:creationId xmlns:a16="http://schemas.microsoft.com/office/drawing/2014/main" id="{B71A08D1-1330-C9E8-A2A1-7FF0ED7AC7D5}"/>
                  </a:ext>
                </a:extLst>
              </p:cNvPr>
              <p:cNvSpPr/>
              <p:nvPr/>
            </p:nvSpPr>
            <p:spPr bwMode="auto">
              <a:xfrm>
                <a:off x="2395360" y="3083385"/>
                <a:ext cx="87538" cy="37854"/>
              </a:xfrm>
              <a:custGeom>
                <a:avLst/>
                <a:gdLst>
                  <a:gd name="T0" fmla="*/ 0 w 25"/>
                  <a:gd name="T1" fmla="*/ 2 h 11"/>
                  <a:gd name="T2" fmla="*/ 14 w 25"/>
                  <a:gd name="T3" fmla="*/ 10 h 11"/>
                  <a:gd name="T4" fmla="*/ 25 w 25"/>
                  <a:gd name="T5" fmla="*/ 0 h 11"/>
                  <a:gd name="T6" fmla="*/ 1 w 25"/>
                  <a:gd name="T7" fmla="*/ 0 h 11"/>
                  <a:gd name="T8" fmla="*/ 0 w 25"/>
                  <a:gd name="T9" fmla="*/ 2 h 11"/>
                </a:gdLst>
                <a:ahLst/>
                <a:cxnLst>
                  <a:cxn ang="0">
                    <a:pos x="T0" y="T1"/>
                  </a:cxn>
                  <a:cxn ang="0">
                    <a:pos x="T2" y="T3"/>
                  </a:cxn>
                  <a:cxn ang="0">
                    <a:pos x="T4" y="T5"/>
                  </a:cxn>
                  <a:cxn ang="0">
                    <a:pos x="T6" y="T7"/>
                  </a:cxn>
                  <a:cxn ang="0">
                    <a:pos x="T8" y="T9"/>
                  </a:cxn>
                </a:cxnLst>
                <a:rect l="0" t="0" r="r" b="b"/>
                <a:pathLst>
                  <a:path w="25" h="11">
                    <a:moveTo>
                      <a:pt x="0" y="2"/>
                    </a:moveTo>
                    <a:cubicBezTo>
                      <a:pt x="0" y="2"/>
                      <a:pt x="4" y="11"/>
                      <a:pt x="14" y="10"/>
                    </a:cubicBezTo>
                    <a:cubicBezTo>
                      <a:pt x="25" y="9"/>
                      <a:pt x="25" y="0"/>
                      <a:pt x="25" y="0"/>
                    </a:cubicBezTo>
                    <a:cubicBezTo>
                      <a:pt x="1" y="0"/>
                      <a:pt x="1" y="0"/>
                      <a:pt x="1" y="0"/>
                    </a:cubicBezTo>
                    <a:lnTo>
                      <a:pt x="0" y="2"/>
                    </a:lnTo>
                    <a:close/>
                  </a:path>
                </a:pathLst>
              </a:custGeom>
              <a:solidFill>
                <a:srgbClr val="EAAA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任意多边形: 形状 58">
                <a:extLst>
                  <a:ext uri="{FF2B5EF4-FFF2-40B4-BE49-F238E27FC236}">
                    <a16:creationId xmlns:a16="http://schemas.microsoft.com/office/drawing/2014/main" id="{20620723-2863-AD02-6DC1-F16B6F2C6F5C}"/>
                  </a:ext>
                </a:extLst>
              </p:cNvPr>
              <p:cNvSpPr/>
              <p:nvPr/>
            </p:nvSpPr>
            <p:spPr bwMode="auto">
              <a:xfrm>
                <a:off x="2280614" y="3222973"/>
                <a:ext cx="28391" cy="145502"/>
              </a:xfrm>
              <a:custGeom>
                <a:avLst/>
                <a:gdLst>
                  <a:gd name="T0" fmla="*/ 24 w 24"/>
                  <a:gd name="T1" fmla="*/ 0 h 123"/>
                  <a:gd name="T2" fmla="*/ 0 w 24"/>
                  <a:gd name="T3" fmla="*/ 123 h 123"/>
                  <a:gd name="T4" fmla="*/ 6 w 24"/>
                  <a:gd name="T5" fmla="*/ 120 h 123"/>
                  <a:gd name="T6" fmla="*/ 24 w 24"/>
                  <a:gd name="T7" fmla="*/ 0 h 123"/>
                </a:gdLst>
                <a:ahLst/>
                <a:cxnLst>
                  <a:cxn ang="0">
                    <a:pos x="T0" y="T1"/>
                  </a:cxn>
                  <a:cxn ang="0">
                    <a:pos x="T2" y="T3"/>
                  </a:cxn>
                  <a:cxn ang="0">
                    <a:pos x="T4" y="T5"/>
                  </a:cxn>
                  <a:cxn ang="0">
                    <a:pos x="T6" y="T7"/>
                  </a:cxn>
                </a:cxnLst>
                <a:rect l="0" t="0" r="r" b="b"/>
                <a:pathLst>
                  <a:path w="24" h="123">
                    <a:moveTo>
                      <a:pt x="24" y="0"/>
                    </a:moveTo>
                    <a:lnTo>
                      <a:pt x="0" y="123"/>
                    </a:lnTo>
                    <a:lnTo>
                      <a:pt x="6" y="120"/>
                    </a:lnTo>
                    <a:lnTo>
                      <a:pt x="24" y="0"/>
                    </a:lnTo>
                    <a:close/>
                  </a:path>
                </a:pathLst>
              </a:custGeom>
              <a:solidFill>
                <a:srgbClr val="6C62E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任意多边形: 形状 59">
                <a:extLst>
                  <a:ext uri="{FF2B5EF4-FFF2-40B4-BE49-F238E27FC236}">
                    <a16:creationId xmlns:a16="http://schemas.microsoft.com/office/drawing/2014/main" id="{A053AA46-3925-A01B-4396-48938E20F6D8}"/>
                  </a:ext>
                </a:extLst>
              </p:cNvPr>
              <p:cNvSpPr/>
              <p:nvPr/>
            </p:nvSpPr>
            <p:spPr bwMode="auto">
              <a:xfrm>
                <a:off x="2280614" y="3222973"/>
                <a:ext cx="28391" cy="145502"/>
              </a:xfrm>
              <a:custGeom>
                <a:avLst/>
                <a:gdLst>
                  <a:gd name="T0" fmla="*/ 24 w 24"/>
                  <a:gd name="T1" fmla="*/ 0 h 123"/>
                  <a:gd name="T2" fmla="*/ 0 w 24"/>
                  <a:gd name="T3" fmla="*/ 123 h 123"/>
                  <a:gd name="T4" fmla="*/ 6 w 24"/>
                  <a:gd name="T5" fmla="*/ 120 h 123"/>
                  <a:gd name="T6" fmla="*/ 24 w 24"/>
                  <a:gd name="T7" fmla="*/ 0 h 123"/>
                </a:gdLst>
                <a:ahLst/>
                <a:cxnLst>
                  <a:cxn ang="0">
                    <a:pos x="T0" y="T1"/>
                  </a:cxn>
                  <a:cxn ang="0">
                    <a:pos x="T2" y="T3"/>
                  </a:cxn>
                  <a:cxn ang="0">
                    <a:pos x="T4" y="T5"/>
                  </a:cxn>
                  <a:cxn ang="0">
                    <a:pos x="T6" y="T7"/>
                  </a:cxn>
                </a:cxnLst>
                <a:rect l="0" t="0" r="r" b="b"/>
                <a:pathLst>
                  <a:path w="24" h="123">
                    <a:moveTo>
                      <a:pt x="24" y="0"/>
                    </a:moveTo>
                    <a:lnTo>
                      <a:pt x="0" y="123"/>
                    </a:lnTo>
                    <a:lnTo>
                      <a:pt x="6" y="120"/>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任意多边形: 形状 60">
                <a:extLst>
                  <a:ext uri="{FF2B5EF4-FFF2-40B4-BE49-F238E27FC236}">
                    <a16:creationId xmlns:a16="http://schemas.microsoft.com/office/drawing/2014/main" id="{F2C6F9CA-87A8-598F-2926-0006B0CEA014}"/>
                  </a:ext>
                </a:extLst>
              </p:cNvPr>
              <p:cNvSpPr/>
              <p:nvPr/>
            </p:nvSpPr>
            <p:spPr bwMode="auto">
              <a:xfrm>
                <a:off x="2273516" y="3364926"/>
                <a:ext cx="14195" cy="28391"/>
              </a:xfrm>
              <a:custGeom>
                <a:avLst/>
                <a:gdLst>
                  <a:gd name="T0" fmla="*/ 12 w 12"/>
                  <a:gd name="T1" fmla="*/ 0 h 24"/>
                  <a:gd name="T2" fmla="*/ 6 w 12"/>
                  <a:gd name="T3" fmla="*/ 3 h 24"/>
                  <a:gd name="T4" fmla="*/ 0 w 12"/>
                  <a:gd name="T5" fmla="*/ 24 h 24"/>
                  <a:gd name="T6" fmla="*/ 12 w 12"/>
                  <a:gd name="T7" fmla="*/ 21 h 24"/>
                  <a:gd name="T8" fmla="*/ 12 w 12"/>
                  <a:gd name="T9" fmla="*/ 0 h 24"/>
                </a:gdLst>
                <a:ahLst/>
                <a:cxnLst>
                  <a:cxn ang="0">
                    <a:pos x="T0" y="T1"/>
                  </a:cxn>
                  <a:cxn ang="0">
                    <a:pos x="T2" y="T3"/>
                  </a:cxn>
                  <a:cxn ang="0">
                    <a:pos x="T4" y="T5"/>
                  </a:cxn>
                  <a:cxn ang="0">
                    <a:pos x="T6" y="T7"/>
                  </a:cxn>
                  <a:cxn ang="0">
                    <a:pos x="T8" y="T9"/>
                  </a:cxn>
                </a:cxnLst>
                <a:rect l="0" t="0" r="r" b="b"/>
                <a:pathLst>
                  <a:path w="12" h="24">
                    <a:moveTo>
                      <a:pt x="12" y="0"/>
                    </a:moveTo>
                    <a:lnTo>
                      <a:pt x="6" y="3"/>
                    </a:lnTo>
                    <a:lnTo>
                      <a:pt x="0" y="24"/>
                    </a:lnTo>
                    <a:lnTo>
                      <a:pt x="12" y="21"/>
                    </a:lnTo>
                    <a:lnTo>
                      <a:pt x="12" y="0"/>
                    </a:lnTo>
                    <a:close/>
                  </a:path>
                </a:pathLst>
              </a:custGeom>
              <a:solidFill>
                <a:srgbClr val="E049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任意多边形: 形状 61">
                <a:extLst>
                  <a:ext uri="{FF2B5EF4-FFF2-40B4-BE49-F238E27FC236}">
                    <a16:creationId xmlns:a16="http://schemas.microsoft.com/office/drawing/2014/main" id="{C0390877-592F-84BB-9347-4015E1173F25}"/>
                  </a:ext>
                </a:extLst>
              </p:cNvPr>
              <p:cNvSpPr/>
              <p:nvPr/>
            </p:nvSpPr>
            <p:spPr bwMode="auto">
              <a:xfrm>
                <a:off x="2273516" y="3364926"/>
                <a:ext cx="14195" cy="28391"/>
              </a:xfrm>
              <a:custGeom>
                <a:avLst/>
                <a:gdLst>
                  <a:gd name="T0" fmla="*/ 12 w 12"/>
                  <a:gd name="T1" fmla="*/ 0 h 24"/>
                  <a:gd name="T2" fmla="*/ 6 w 12"/>
                  <a:gd name="T3" fmla="*/ 3 h 24"/>
                  <a:gd name="T4" fmla="*/ 0 w 12"/>
                  <a:gd name="T5" fmla="*/ 24 h 24"/>
                  <a:gd name="T6" fmla="*/ 12 w 12"/>
                  <a:gd name="T7" fmla="*/ 21 h 24"/>
                  <a:gd name="T8" fmla="*/ 12 w 12"/>
                  <a:gd name="T9" fmla="*/ 0 h 24"/>
                </a:gdLst>
                <a:ahLst/>
                <a:cxnLst>
                  <a:cxn ang="0">
                    <a:pos x="T0" y="T1"/>
                  </a:cxn>
                  <a:cxn ang="0">
                    <a:pos x="T2" y="T3"/>
                  </a:cxn>
                  <a:cxn ang="0">
                    <a:pos x="T4" y="T5"/>
                  </a:cxn>
                  <a:cxn ang="0">
                    <a:pos x="T6" y="T7"/>
                  </a:cxn>
                  <a:cxn ang="0">
                    <a:pos x="T8" y="T9"/>
                  </a:cxn>
                </a:cxnLst>
                <a:rect l="0" t="0" r="r" b="b"/>
                <a:pathLst>
                  <a:path w="12" h="24">
                    <a:moveTo>
                      <a:pt x="12" y="0"/>
                    </a:moveTo>
                    <a:lnTo>
                      <a:pt x="6" y="3"/>
                    </a:lnTo>
                    <a:lnTo>
                      <a:pt x="0" y="24"/>
                    </a:lnTo>
                    <a:lnTo>
                      <a:pt x="12" y="21"/>
                    </a:lnTo>
                    <a:lnTo>
                      <a:pt x="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任意多边形: 形状 62">
                <a:extLst>
                  <a:ext uri="{FF2B5EF4-FFF2-40B4-BE49-F238E27FC236}">
                    <a16:creationId xmlns:a16="http://schemas.microsoft.com/office/drawing/2014/main" id="{2E2D9A0C-CF30-C371-9988-4F0CF91576E9}"/>
                  </a:ext>
                </a:extLst>
              </p:cNvPr>
              <p:cNvSpPr/>
              <p:nvPr/>
            </p:nvSpPr>
            <p:spPr bwMode="auto">
              <a:xfrm>
                <a:off x="2767988" y="3083385"/>
                <a:ext cx="121844" cy="59147"/>
              </a:xfrm>
              <a:custGeom>
                <a:avLst/>
                <a:gdLst>
                  <a:gd name="T0" fmla="*/ 0 w 35"/>
                  <a:gd name="T1" fmla="*/ 17 h 17"/>
                  <a:gd name="T2" fmla="*/ 22 w 35"/>
                  <a:gd name="T3" fmla="*/ 0 h 17"/>
                  <a:gd name="T4" fmla="*/ 31 w 35"/>
                  <a:gd name="T5" fmla="*/ 9 h 17"/>
                  <a:gd name="T6" fmla="*/ 17 w 35"/>
                  <a:gd name="T7" fmla="*/ 13 h 17"/>
                  <a:gd name="T8" fmla="*/ 0 w 35"/>
                  <a:gd name="T9" fmla="*/ 17 h 17"/>
                </a:gdLst>
                <a:ahLst/>
                <a:cxnLst>
                  <a:cxn ang="0">
                    <a:pos x="T0" y="T1"/>
                  </a:cxn>
                  <a:cxn ang="0">
                    <a:pos x="T2" y="T3"/>
                  </a:cxn>
                  <a:cxn ang="0">
                    <a:pos x="T4" y="T5"/>
                  </a:cxn>
                  <a:cxn ang="0">
                    <a:pos x="T6" y="T7"/>
                  </a:cxn>
                  <a:cxn ang="0">
                    <a:pos x="T8" y="T9"/>
                  </a:cxn>
                </a:cxnLst>
                <a:rect l="0" t="0" r="r" b="b"/>
                <a:pathLst>
                  <a:path w="35" h="17">
                    <a:moveTo>
                      <a:pt x="0" y="17"/>
                    </a:moveTo>
                    <a:cubicBezTo>
                      <a:pt x="0" y="17"/>
                      <a:pt x="9" y="0"/>
                      <a:pt x="22" y="0"/>
                    </a:cubicBezTo>
                    <a:cubicBezTo>
                      <a:pt x="35" y="1"/>
                      <a:pt x="31" y="9"/>
                      <a:pt x="31" y="9"/>
                    </a:cubicBezTo>
                    <a:cubicBezTo>
                      <a:pt x="31" y="9"/>
                      <a:pt x="23" y="13"/>
                      <a:pt x="17" y="13"/>
                    </a:cubicBezTo>
                    <a:cubicBezTo>
                      <a:pt x="11" y="14"/>
                      <a:pt x="0" y="17"/>
                      <a:pt x="0" y="17"/>
                    </a:cubicBez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
          <p:nvSpPr>
            <p:cNvPr id="43" name="矩形: 圆角 42">
              <a:extLst>
                <a:ext uri="{FF2B5EF4-FFF2-40B4-BE49-F238E27FC236}">
                  <a16:creationId xmlns:a16="http://schemas.microsoft.com/office/drawing/2014/main" id="{6999FF6E-6D51-D4D7-7FB2-B9884B095603}"/>
                </a:ext>
              </a:extLst>
            </p:cNvPr>
            <p:cNvSpPr/>
            <p:nvPr/>
          </p:nvSpPr>
          <p:spPr>
            <a:xfrm>
              <a:off x="1226970" y="5095436"/>
              <a:ext cx="2296504" cy="637774"/>
            </a:xfrm>
            <a:prstGeom prst="roundRect">
              <a:avLst/>
            </a:prstGeom>
            <a:solidFill>
              <a:schemeClr val="accent1">
                <a:alpha val="15000"/>
              </a:schemeClr>
            </a:solidFill>
            <a:ln w="9525" cap="flat">
              <a:noFill/>
              <a:prstDash val="solid"/>
              <a:miter/>
            </a:ln>
          </p:spPr>
          <p:txBody>
            <a:bodyPr wrap="square" rtlCol="0" anchor="ctr">
              <a:normAutofit/>
            </a:bodyPr>
            <a:lstStyle/>
            <a:p>
              <a:pPr algn="ctr"/>
              <a:r>
                <a:rPr kumimoji="1" lang="zh-CN" altLang="en-US" b="1" dirty="0">
                  <a:latin typeface="Calibri" panose="020F0502020204030204" pitchFamily="34" charset="0"/>
                  <a:ea typeface="Calibri" panose="020F0502020204030204" pitchFamily="34" charset="0"/>
                </a:rPr>
                <a:t>生物问题</a:t>
              </a:r>
              <a:endParaRPr kumimoji="1" lang="en-US" altLang="zh-CN" b="1" dirty="0">
                <a:latin typeface="Calibri" panose="020F0502020204030204" pitchFamily="34" charset="0"/>
                <a:ea typeface="Calibri" panose="020F0502020204030204" pitchFamily="34" charset="0"/>
              </a:endParaRPr>
            </a:p>
          </p:txBody>
        </p:sp>
        <p:sp>
          <p:nvSpPr>
            <p:cNvPr id="41" name="矩形: 圆角 40">
              <a:extLst>
                <a:ext uri="{FF2B5EF4-FFF2-40B4-BE49-F238E27FC236}">
                  <a16:creationId xmlns:a16="http://schemas.microsoft.com/office/drawing/2014/main" id="{0632003F-0CC9-6CB2-AD76-0A3701E532E2}"/>
                </a:ext>
              </a:extLst>
            </p:cNvPr>
            <p:cNvSpPr/>
            <p:nvPr/>
          </p:nvSpPr>
          <p:spPr>
            <a:xfrm>
              <a:off x="5854545" y="2982677"/>
              <a:ext cx="2296504" cy="637774"/>
            </a:xfrm>
            <a:prstGeom prst="roundRect">
              <a:avLst/>
            </a:prstGeom>
            <a:gradFill>
              <a:gsLst>
                <a:gs pos="0">
                  <a:schemeClr val="accent1">
                    <a:lumMod val="60000"/>
                    <a:lumOff val="40000"/>
                  </a:schemeClr>
                </a:gs>
                <a:gs pos="50000">
                  <a:schemeClr val="accent1"/>
                </a:gs>
              </a:gsLst>
              <a:lin ang="2700000" scaled="0"/>
            </a:gradFill>
            <a:ln w="12700">
              <a:miter lim="400000"/>
            </a:ln>
          </p:spPr>
          <p:txBody>
            <a:bodyPr wrap="square" lIns="90000" tIns="46800" rIns="90000" bIns="46800" anchor="ctr">
              <a:normAutofit/>
            </a:bodyPr>
            <a:lstStyle/>
            <a:p>
              <a:pPr algn="ctr"/>
              <a:r>
                <a:rPr kumimoji="1" lang="zh-CN" altLang="en-US" b="1" dirty="0">
                  <a:solidFill>
                    <a:srgbClr val="FFFFFF"/>
                  </a:solidFill>
                  <a:latin typeface="Calibri" panose="020F0502020204030204" pitchFamily="34" charset="0"/>
                  <a:ea typeface="Calibri" panose="020F0502020204030204" pitchFamily="34" charset="0"/>
                </a:rPr>
                <a:t>评估与改进模型</a:t>
              </a:r>
              <a:endParaRPr kumimoji="1" lang="en-US" altLang="zh-CN" b="1" dirty="0">
                <a:solidFill>
                  <a:srgbClr val="FFFFFF"/>
                </a:solidFill>
                <a:latin typeface="Calibri" panose="020F0502020204030204" pitchFamily="34" charset="0"/>
                <a:ea typeface="Calibri" panose="020F0502020204030204" pitchFamily="34" charset="0"/>
              </a:endParaRPr>
            </a:p>
          </p:txBody>
        </p:sp>
        <p:sp>
          <p:nvSpPr>
            <p:cNvPr id="39" name="矩形: 圆角 38">
              <a:extLst>
                <a:ext uri="{FF2B5EF4-FFF2-40B4-BE49-F238E27FC236}">
                  <a16:creationId xmlns:a16="http://schemas.microsoft.com/office/drawing/2014/main" id="{A1A52341-7244-9E1D-1D4F-5F561C83CB7F}"/>
                </a:ext>
              </a:extLst>
            </p:cNvPr>
            <p:cNvSpPr/>
            <p:nvPr/>
          </p:nvSpPr>
          <p:spPr>
            <a:xfrm>
              <a:off x="4316889" y="3688461"/>
              <a:ext cx="2296504" cy="637774"/>
            </a:xfrm>
            <a:prstGeom prst="roundRect">
              <a:avLst/>
            </a:prstGeom>
            <a:solidFill>
              <a:schemeClr val="accent1">
                <a:alpha val="15000"/>
              </a:schemeClr>
            </a:solidFill>
            <a:ln w="9525" cap="flat">
              <a:noFill/>
              <a:prstDash val="solid"/>
              <a:miter/>
            </a:ln>
          </p:spPr>
          <p:txBody>
            <a:bodyPr wrap="square" rtlCol="0" anchor="ctr">
              <a:normAutofit fontScale="92500"/>
            </a:bodyPr>
            <a:lstStyle/>
            <a:p>
              <a:pPr algn="ctr"/>
              <a:r>
                <a:rPr kumimoji="1" lang="zh-CN" altLang="en-US" b="1" dirty="0">
                  <a:latin typeface="Calibri" panose="020F0502020204030204" pitchFamily="34" charset="0"/>
                  <a:ea typeface="Calibri" panose="020F0502020204030204" pitchFamily="34" charset="0"/>
                </a:rPr>
                <a:t>构建模型，代码实现</a:t>
              </a:r>
              <a:endParaRPr kumimoji="1" lang="en-US" altLang="zh-CN" b="1" dirty="0">
                <a:latin typeface="Calibri" panose="020F0502020204030204" pitchFamily="34" charset="0"/>
                <a:ea typeface="Calibri" panose="020F0502020204030204" pitchFamily="34" charset="0"/>
              </a:endParaRPr>
            </a:p>
          </p:txBody>
        </p:sp>
        <p:sp>
          <p:nvSpPr>
            <p:cNvPr id="37" name="矩形: 圆角 36">
              <a:extLst>
                <a:ext uri="{FF2B5EF4-FFF2-40B4-BE49-F238E27FC236}">
                  <a16:creationId xmlns:a16="http://schemas.microsoft.com/office/drawing/2014/main" id="{E65DB5A5-3809-2542-A6BC-2F852BC94C97}"/>
                </a:ext>
              </a:extLst>
            </p:cNvPr>
            <p:cNvSpPr/>
            <p:nvPr/>
          </p:nvSpPr>
          <p:spPr>
            <a:xfrm>
              <a:off x="7383971" y="2278424"/>
              <a:ext cx="2296504" cy="637774"/>
            </a:xfrm>
            <a:prstGeom prst="roundRect">
              <a:avLst/>
            </a:prstGeom>
            <a:solidFill>
              <a:schemeClr val="accent1">
                <a:alpha val="15000"/>
              </a:schemeClr>
            </a:solidFill>
            <a:ln w="9525" cap="flat">
              <a:noFill/>
              <a:prstDash val="solid"/>
              <a:miter/>
            </a:ln>
          </p:spPr>
          <p:txBody>
            <a:bodyPr wrap="square" rtlCol="0" anchor="ctr">
              <a:normAutofit/>
            </a:bodyPr>
            <a:lstStyle/>
            <a:p>
              <a:pPr algn="ctr"/>
              <a:r>
                <a:rPr kumimoji="1" lang="zh-CN" altLang="en-US" b="1" dirty="0">
                  <a:latin typeface="Calibri" panose="020F0502020204030204" pitchFamily="34" charset="0"/>
                  <a:ea typeface="Calibri" panose="020F0502020204030204" pitchFamily="34" charset="0"/>
                </a:rPr>
                <a:t>改进对比项目结果</a:t>
              </a:r>
              <a:endParaRPr kumimoji="1" lang="en-US" altLang="zh-CN" b="1" dirty="0">
                <a:latin typeface="Calibri" panose="020F0502020204030204" pitchFamily="34" charset="0"/>
                <a:ea typeface="Calibri" panose="020F0502020204030204" pitchFamily="34" charset="0"/>
              </a:endParaRPr>
            </a:p>
          </p:txBody>
        </p:sp>
        <p:sp>
          <p:nvSpPr>
            <p:cNvPr id="66" name="矩形: 圆角 65">
              <a:extLst>
                <a:ext uri="{FF2B5EF4-FFF2-40B4-BE49-F238E27FC236}">
                  <a16:creationId xmlns:a16="http://schemas.microsoft.com/office/drawing/2014/main" id="{58F2FCDA-6840-31D9-09DB-27C906BDC405}"/>
                </a:ext>
              </a:extLst>
            </p:cNvPr>
            <p:cNvSpPr/>
            <p:nvPr/>
          </p:nvSpPr>
          <p:spPr>
            <a:xfrm>
              <a:off x="2788402" y="4391183"/>
              <a:ext cx="2296504" cy="637774"/>
            </a:xfrm>
            <a:prstGeom prst="roundRect">
              <a:avLst/>
            </a:prstGeom>
            <a:solidFill>
              <a:schemeClr val="accent1">
                <a:alpha val="15000"/>
              </a:schemeClr>
            </a:solidFill>
            <a:ln w="9525" cap="flat">
              <a:noFill/>
              <a:prstDash val="solid"/>
              <a:miter/>
            </a:ln>
          </p:spPr>
          <p:txBody>
            <a:bodyPr wrap="square" rtlCol="0" anchor="ctr">
              <a:normAutofit fontScale="92500"/>
            </a:bodyPr>
            <a:lstStyle/>
            <a:p>
              <a:pPr algn="ctr"/>
              <a:r>
                <a:rPr kumimoji="1" lang="zh-CN" altLang="en-US" b="1" dirty="0">
                  <a:latin typeface="Calibri" panose="020F0502020204030204" pitchFamily="34" charset="0"/>
                  <a:ea typeface="Calibri" panose="020F0502020204030204" pitchFamily="34" charset="0"/>
                </a:rPr>
                <a:t>数据集收集与预处理</a:t>
              </a:r>
              <a:endParaRPr kumimoji="1" lang="en-US" altLang="zh-CN" b="1" dirty="0">
                <a:latin typeface="Calibri" panose="020F0502020204030204" pitchFamily="34" charset="0"/>
                <a:ea typeface="Calibri" panose="020F0502020204030204" pitchFamily="34" charset="0"/>
              </a:endParaRPr>
            </a:p>
          </p:txBody>
        </p:sp>
        <p:sp>
          <p:nvSpPr>
            <p:cNvPr id="71" name="矩形: 圆角 70">
              <a:extLst>
                <a:ext uri="{FF2B5EF4-FFF2-40B4-BE49-F238E27FC236}">
                  <a16:creationId xmlns:a16="http://schemas.microsoft.com/office/drawing/2014/main" id="{EDBA4DC8-E1AF-8649-45D1-EF657C5849AD}"/>
                </a:ext>
              </a:extLst>
            </p:cNvPr>
            <p:cNvSpPr/>
            <p:nvPr/>
          </p:nvSpPr>
          <p:spPr>
            <a:xfrm>
              <a:off x="8885608" y="1570551"/>
              <a:ext cx="2296504" cy="637774"/>
            </a:xfrm>
            <a:prstGeom prst="roundRect">
              <a:avLst/>
            </a:prstGeom>
            <a:solidFill>
              <a:schemeClr val="accent1">
                <a:alpha val="15000"/>
              </a:schemeClr>
            </a:solidFill>
            <a:ln w="9525" cap="flat">
              <a:noFill/>
              <a:prstDash val="solid"/>
              <a:miter/>
            </a:ln>
          </p:spPr>
          <p:txBody>
            <a:bodyPr wrap="square" rtlCol="0" anchor="ctr">
              <a:normAutofit fontScale="92500"/>
            </a:bodyPr>
            <a:lstStyle/>
            <a:p>
              <a:pPr algn="ctr"/>
              <a:r>
                <a:rPr kumimoji="1" lang="zh-CN" altLang="en-US" b="1" dirty="0">
                  <a:latin typeface="Calibri" panose="020F0502020204030204" pitchFamily="34" charset="0"/>
                  <a:ea typeface="Calibri" panose="020F0502020204030204" pitchFamily="34" charset="0"/>
                </a:rPr>
                <a:t>论文撰写，最终答辩</a:t>
              </a:r>
              <a:endParaRPr kumimoji="1" lang="en-US" altLang="zh-CN" b="1" dirty="0">
                <a:latin typeface="Calibri" panose="020F0502020204030204" pitchFamily="34" charset="0"/>
                <a:ea typeface="Calibri" panose="020F0502020204030204" pitchFamily="34" charset="0"/>
              </a:endParaRPr>
            </a:p>
          </p:txBody>
        </p:sp>
        <p:sp>
          <p:nvSpPr>
            <p:cNvPr id="72" name="任意多边形: 形状 71">
              <a:extLst>
                <a:ext uri="{FF2B5EF4-FFF2-40B4-BE49-F238E27FC236}">
                  <a16:creationId xmlns:a16="http://schemas.microsoft.com/office/drawing/2014/main" id="{887B5096-E7FA-CF07-C981-AAB7EA377867}"/>
                </a:ext>
              </a:extLst>
            </p:cNvPr>
            <p:cNvSpPr/>
            <p:nvPr/>
          </p:nvSpPr>
          <p:spPr>
            <a:xfrm rot="21038811">
              <a:off x="3740645" y="3479159"/>
              <a:ext cx="1371224" cy="805957"/>
            </a:xfrm>
            <a:custGeom>
              <a:avLst/>
              <a:gdLst>
                <a:gd name="connsiteX0" fmla="*/ 0 w 1161573"/>
                <a:gd name="connsiteY0" fmla="*/ 289084 h 289083"/>
                <a:gd name="connsiteX1" fmla="*/ 710184 w 1161573"/>
                <a:gd name="connsiteY1" fmla="*/ 0 h 289083"/>
                <a:gd name="connsiteX2" fmla="*/ 1161574 w 1161573"/>
                <a:gd name="connsiteY2" fmla="*/ 105442 h 289083"/>
              </a:gdLst>
              <a:ahLst/>
              <a:cxnLst>
                <a:cxn ang="0">
                  <a:pos x="connsiteX0" y="connsiteY0"/>
                </a:cxn>
                <a:cxn ang="0">
                  <a:pos x="connsiteX1" y="connsiteY1"/>
                </a:cxn>
                <a:cxn ang="0">
                  <a:pos x="connsiteX2" y="connsiteY2"/>
                </a:cxn>
              </a:cxnLst>
              <a:rect l="l" t="t" r="r" b="b"/>
              <a:pathLst>
                <a:path w="1161573" h="289083">
                  <a:moveTo>
                    <a:pt x="0" y="289084"/>
                  </a:moveTo>
                  <a:cubicBezTo>
                    <a:pt x="183261" y="110204"/>
                    <a:pt x="433864" y="0"/>
                    <a:pt x="710184" y="0"/>
                  </a:cubicBezTo>
                  <a:cubicBezTo>
                    <a:pt x="872300" y="0"/>
                    <a:pt x="1025557" y="37909"/>
                    <a:pt x="1161574" y="105442"/>
                  </a:cubicBezTo>
                </a:path>
              </a:pathLst>
            </a:custGeom>
            <a:noFill/>
            <a:ln w="19050" cap="rnd">
              <a:solidFill>
                <a:schemeClr val="accent1">
                  <a:alpha val="50000"/>
                </a:schemeClr>
              </a:solidFill>
              <a:prstDash val="sysDot"/>
              <a:round/>
              <a:tailEnd type="triangle"/>
            </a:ln>
          </p:spPr>
          <p:txBody>
            <a:bodyPr rtlCol="0" anchor="ctr"/>
            <a:lstStyle/>
            <a:p>
              <a:endParaRPr lang="zh-CN" altLang="en-US"/>
            </a:p>
          </p:txBody>
        </p:sp>
        <p:sp>
          <p:nvSpPr>
            <p:cNvPr id="73" name="任意多边形: 形状 72">
              <a:extLst>
                <a:ext uri="{FF2B5EF4-FFF2-40B4-BE49-F238E27FC236}">
                  <a16:creationId xmlns:a16="http://schemas.microsoft.com/office/drawing/2014/main" id="{3F7F0EAE-51F4-458C-CEF4-C50AD00C8E0C}"/>
                </a:ext>
              </a:extLst>
            </p:cNvPr>
            <p:cNvSpPr/>
            <p:nvPr/>
          </p:nvSpPr>
          <p:spPr>
            <a:xfrm rot="21038811">
              <a:off x="5371576" y="2763039"/>
              <a:ext cx="1371224" cy="805957"/>
            </a:xfrm>
            <a:custGeom>
              <a:avLst/>
              <a:gdLst>
                <a:gd name="connsiteX0" fmla="*/ 0 w 1161573"/>
                <a:gd name="connsiteY0" fmla="*/ 289084 h 289083"/>
                <a:gd name="connsiteX1" fmla="*/ 710184 w 1161573"/>
                <a:gd name="connsiteY1" fmla="*/ 0 h 289083"/>
                <a:gd name="connsiteX2" fmla="*/ 1161574 w 1161573"/>
                <a:gd name="connsiteY2" fmla="*/ 105442 h 289083"/>
              </a:gdLst>
              <a:ahLst/>
              <a:cxnLst>
                <a:cxn ang="0">
                  <a:pos x="connsiteX0" y="connsiteY0"/>
                </a:cxn>
                <a:cxn ang="0">
                  <a:pos x="connsiteX1" y="connsiteY1"/>
                </a:cxn>
                <a:cxn ang="0">
                  <a:pos x="connsiteX2" y="connsiteY2"/>
                </a:cxn>
              </a:cxnLst>
              <a:rect l="l" t="t" r="r" b="b"/>
              <a:pathLst>
                <a:path w="1161573" h="289083">
                  <a:moveTo>
                    <a:pt x="0" y="289084"/>
                  </a:moveTo>
                  <a:cubicBezTo>
                    <a:pt x="183261" y="110204"/>
                    <a:pt x="433864" y="0"/>
                    <a:pt x="710184" y="0"/>
                  </a:cubicBezTo>
                  <a:cubicBezTo>
                    <a:pt x="872300" y="0"/>
                    <a:pt x="1025557" y="37909"/>
                    <a:pt x="1161574" y="105442"/>
                  </a:cubicBezTo>
                </a:path>
              </a:pathLst>
            </a:custGeom>
            <a:noFill/>
            <a:ln w="19050" cap="rnd">
              <a:solidFill>
                <a:schemeClr val="accent1">
                  <a:alpha val="50000"/>
                </a:schemeClr>
              </a:solidFill>
              <a:prstDash val="sysDot"/>
              <a:round/>
              <a:tailEnd type="triangle"/>
            </a:ln>
          </p:spPr>
          <p:txBody>
            <a:bodyPr rtlCol="0" anchor="ctr"/>
            <a:lstStyle/>
            <a:p>
              <a:endParaRPr lang="zh-CN" altLang="en-US"/>
            </a:p>
          </p:txBody>
        </p:sp>
        <p:sp>
          <p:nvSpPr>
            <p:cNvPr id="74" name="任意多边形: 形状 73">
              <a:extLst>
                <a:ext uri="{FF2B5EF4-FFF2-40B4-BE49-F238E27FC236}">
                  <a16:creationId xmlns:a16="http://schemas.microsoft.com/office/drawing/2014/main" id="{39F076AA-C076-5972-C2AA-CDFBD52EDCA9}"/>
                </a:ext>
              </a:extLst>
            </p:cNvPr>
            <p:cNvSpPr/>
            <p:nvPr/>
          </p:nvSpPr>
          <p:spPr>
            <a:xfrm rot="21038811">
              <a:off x="6872437" y="2051059"/>
              <a:ext cx="1371224" cy="805957"/>
            </a:xfrm>
            <a:custGeom>
              <a:avLst/>
              <a:gdLst>
                <a:gd name="connsiteX0" fmla="*/ 0 w 1161573"/>
                <a:gd name="connsiteY0" fmla="*/ 289084 h 289083"/>
                <a:gd name="connsiteX1" fmla="*/ 710184 w 1161573"/>
                <a:gd name="connsiteY1" fmla="*/ 0 h 289083"/>
                <a:gd name="connsiteX2" fmla="*/ 1161574 w 1161573"/>
                <a:gd name="connsiteY2" fmla="*/ 105442 h 289083"/>
              </a:gdLst>
              <a:ahLst/>
              <a:cxnLst>
                <a:cxn ang="0">
                  <a:pos x="connsiteX0" y="connsiteY0"/>
                </a:cxn>
                <a:cxn ang="0">
                  <a:pos x="connsiteX1" y="connsiteY1"/>
                </a:cxn>
                <a:cxn ang="0">
                  <a:pos x="connsiteX2" y="connsiteY2"/>
                </a:cxn>
              </a:cxnLst>
              <a:rect l="l" t="t" r="r" b="b"/>
              <a:pathLst>
                <a:path w="1161573" h="289083">
                  <a:moveTo>
                    <a:pt x="0" y="289084"/>
                  </a:moveTo>
                  <a:cubicBezTo>
                    <a:pt x="183261" y="110204"/>
                    <a:pt x="433864" y="0"/>
                    <a:pt x="710184" y="0"/>
                  </a:cubicBezTo>
                  <a:cubicBezTo>
                    <a:pt x="872300" y="0"/>
                    <a:pt x="1025557" y="37909"/>
                    <a:pt x="1161574" y="105442"/>
                  </a:cubicBezTo>
                </a:path>
              </a:pathLst>
            </a:custGeom>
            <a:noFill/>
            <a:ln w="19050" cap="rnd">
              <a:solidFill>
                <a:schemeClr val="accent1">
                  <a:alpha val="50000"/>
                </a:schemeClr>
              </a:solidFill>
              <a:prstDash val="sysDot"/>
              <a:round/>
              <a:tailEnd type="triangle"/>
            </a:ln>
          </p:spPr>
          <p:txBody>
            <a:bodyPr rtlCol="0" anchor="ctr"/>
            <a:lstStyle/>
            <a:p>
              <a:endParaRPr lang="zh-CN" altLang="en-US"/>
            </a:p>
          </p:txBody>
        </p:sp>
        <p:sp>
          <p:nvSpPr>
            <p:cNvPr id="75" name="任意多边形: 形状 74">
              <a:extLst>
                <a:ext uri="{FF2B5EF4-FFF2-40B4-BE49-F238E27FC236}">
                  <a16:creationId xmlns:a16="http://schemas.microsoft.com/office/drawing/2014/main" id="{3A9F81ED-BF77-D290-437D-D9643B7BA92E}"/>
                </a:ext>
              </a:extLst>
            </p:cNvPr>
            <p:cNvSpPr/>
            <p:nvPr/>
          </p:nvSpPr>
          <p:spPr>
            <a:xfrm rot="21038811">
              <a:off x="8393447" y="1334639"/>
              <a:ext cx="1371224" cy="805957"/>
            </a:xfrm>
            <a:custGeom>
              <a:avLst/>
              <a:gdLst>
                <a:gd name="connsiteX0" fmla="*/ 0 w 1161573"/>
                <a:gd name="connsiteY0" fmla="*/ 289084 h 289083"/>
                <a:gd name="connsiteX1" fmla="*/ 710184 w 1161573"/>
                <a:gd name="connsiteY1" fmla="*/ 0 h 289083"/>
                <a:gd name="connsiteX2" fmla="*/ 1161574 w 1161573"/>
                <a:gd name="connsiteY2" fmla="*/ 105442 h 289083"/>
              </a:gdLst>
              <a:ahLst/>
              <a:cxnLst>
                <a:cxn ang="0">
                  <a:pos x="connsiteX0" y="connsiteY0"/>
                </a:cxn>
                <a:cxn ang="0">
                  <a:pos x="connsiteX1" y="connsiteY1"/>
                </a:cxn>
                <a:cxn ang="0">
                  <a:pos x="connsiteX2" y="connsiteY2"/>
                </a:cxn>
              </a:cxnLst>
              <a:rect l="l" t="t" r="r" b="b"/>
              <a:pathLst>
                <a:path w="1161573" h="289083">
                  <a:moveTo>
                    <a:pt x="0" y="289084"/>
                  </a:moveTo>
                  <a:cubicBezTo>
                    <a:pt x="183261" y="110204"/>
                    <a:pt x="433864" y="0"/>
                    <a:pt x="710184" y="0"/>
                  </a:cubicBezTo>
                  <a:cubicBezTo>
                    <a:pt x="872300" y="0"/>
                    <a:pt x="1025557" y="37909"/>
                    <a:pt x="1161574" y="105442"/>
                  </a:cubicBezTo>
                </a:path>
              </a:pathLst>
            </a:custGeom>
            <a:noFill/>
            <a:ln w="19050" cap="rnd">
              <a:solidFill>
                <a:schemeClr val="accent1">
                  <a:alpha val="50000"/>
                </a:schemeClr>
              </a:solidFill>
              <a:prstDash val="sysDot"/>
              <a:round/>
              <a:tailEnd type="triangle"/>
            </a:ln>
          </p:spPr>
          <p:txBody>
            <a:bodyPr rtlCol="0" anchor="ctr"/>
            <a:lstStyle/>
            <a:p>
              <a:endParaRPr lang="zh-CN" altLang="en-US"/>
            </a:p>
          </p:txBody>
        </p:sp>
      </p:grpSp>
      <p:sp>
        <p:nvSpPr>
          <p:cNvPr id="78" name="矩形: 圆角 77">
            <a:extLst>
              <a:ext uri="{FF2B5EF4-FFF2-40B4-BE49-F238E27FC236}">
                <a16:creationId xmlns:a16="http://schemas.microsoft.com/office/drawing/2014/main" id="{4AF5E0FC-8D30-A705-F8D0-75822EF13787}"/>
              </a:ext>
            </a:extLst>
          </p:cNvPr>
          <p:cNvSpPr/>
          <p:nvPr/>
        </p:nvSpPr>
        <p:spPr>
          <a:xfrm>
            <a:off x="4242500" y="5069373"/>
            <a:ext cx="3207008" cy="1286977"/>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b="1" dirty="0">
                <a:solidFill>
                  <a:schemeClr val="tx1"/>
                </a:solidFill>
              </a:rPr>
              <a:t>1.scATAC-seq</a:t>
            </a:r>
            <a:r>
              <a:rPr lang="zh-CN" altLang="en-US" sz="1600" b="1" dirty="0">
                <a:solidFill>
                  <a:schemeClr val="tx1"/>
                </a:solidFill>
              </a:rPr>
              <a:t>：</a:t>
            </a:r>
            <a:r>
              <a:rPr lang="zh-CN" altLang="en-US" sz="1600" dirty="0">
                <a:solidFill>
                  <a:schemeClr val="tx1"/>
                </a:solidFill>
              </a:rPr>
              <a:t>承接 </a:t>
            </a:r>
            <a:r>
              <a:rPr lang="en-US" altLang="zh-CN" sz="1600" dirty="0" err="1">
                <a:solidFill>
                  <a:schemeClr val="tx1"/>
                </a:solidFill>
              </a:rPr>
              <a:t>ArchR</a:t>
            </a:r>
            <a:r>
              <a:rPr lang="en-US" altLang="zh-CN" sz="1600" dirty="0">
                <a:solidFill>
                  <a:schemeClr val="tx1"/>
                </a:solidFill>
              </a:rPr>
              <a:t> </a:t>
            </a:r>
            <a:r>
              <a:rPr lang="zh-CN" altLang="en-US" sz="1600" dirty="0">
                <a:solidFill>
                  <a:schemeClr val="tx1"/>
                </a:solidFill>
              </a:rPr>
              <a:t>预处理结果，完成 </a:t>
            </a:r>
            <a:r>
              <a:rPr lang="en-US" altLang="zh-CN" sz="1600" dirty="0">
                <a:solidFill>
                  <a:schemeClr val="tx1"/>
                </a:solidFill>
              </a:rPr>
              <a:t>GC bias </a:t>
            </a:r>
            <a:r>
              <a:rPr lang="zh-CN" altLang="en-US" sz="1600" dirty="0">
                <a:solidFill>
                  <a:schemeClr val="tx1"/>
                </a:solidFill>
              </a:rPr>
              <a:t>校正、背景 </a:t>
            </a:r>
            <a:r>
              <a:rPr lang="en-US" altLang="zh-CN" sz="1600" dirty="0">
                <a:solidFill>
                  <a:schemeClr val="tx1"/>
                </a:solidFill>
              </a:rPr>
              <a:t>Peak </a:t>
            </a:r>
            <a:r>
              <a:rPr lang="zh-CN" altLang="en-US" sz="1600" dirty="0">
                <a:solidFill>
                  <a:schemeClr val="tx1"/>
                </a:solidFill>
              </a:rPr>
              <a:t>构建及 </a:t>
            </a:r>
            <a:r>
              <a:rPr lang="en-US" altLang="zh-CN" sz="1600" dirty="0">
                <a:solidFill>
                  <a:schemeClr val="tx1"/>
                </a:solidFill>
              </a:rPr>
              <a:t>m-KNN </a:t>
            </a:r>
            <a:r>
              <a:rPr lang="zh-CN" altLang="en-US" sz="1600" dirty="0">
                <a:solidFill>
                  <a:schemeClr val="tx1"/>
                </a:solidFill>
              </a:rPr>
              <a:t>图生成。</a:t>
            </a:r>
            <a:r>
              <a:rPr lang="en-US" altLang="zh-CN" sz="1600" b="1" dirty="0">
                <a:solidFill>
                  <a:schemeClr val="tx1"/>
                </a:solidFill>
              </a:rPr>
              <a:t>2.GWAS</a:t>
            </a:r>
            <a:r>
              <a:rPr lang="zh-CN" altLang="en-US" sz="1600" b="1" dirty="0">
                <a:solidFill>
                  <a:schemeClr val="tx1"/>
                </a:solidFill>
              </a:rPr>
              <a:t>：</a:t>
            </a:r>
            <a:r>
              <a:rPr lang="zh-CN" altLang="en-US" sz="1600" dirty="0">
                <a:solidFill>
                  <a:schemeClr val="tx1"/>
                </a:solidFill>
              </a:rPr>
              <a:t>完成变异位点格式解析、基因组坐标转换与标准化清洗</a:t>
            </a:r>
          </a:p>
        </p:txBody>
      </p:sp>
      <p:cxnSp>
        <p:nvCxnSpPr>
          <p:cNvPr id="82" name="直接箭头连接符 81">
            <a:extLst>
              <a:ext uri="{FF2B5EF4-FFF2-40B4-BE49-F238E27FC236}">
                <a16:creationId xmlns:a16="http://schemas.microsoft.com/office/drawing/2014/main" id="{36BEABDC-194F-F92B-A1A3-43A5AC35C136}"/>
              </a:ext>
            </a:extLst>
          </p:cNvPr>
          <p:cNvCxnSpPr>
            <a:cxnSpLocks/>
            <a:stCxn id="66" idx="3"/>
            <a:endCxn id="78" idx="0"/>
          </p:cNvCxnSpPr>
          <p:nvPr/>
        </p:nvCxnSpPr>
        <p:spPr>
          <a:xfrm>
            <a:off x="4976365" y="4605145"/>
            <a:ext cx="869639" cy="464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矩形: 圆角 82">
            <a:extLst>
              <a:ext uri="{FF2B5EF4-FFF2-40B4-BE49-F238E27FC236}">
                <a16:creationId xmlns:a16="http://schemas.microsoft.com/office/drawing/2014/main" id="{76BC9C65-9D5F-888A-591E-43854F974841}"/>
              </a:ext>
            </a:extLst>
          </p:cNvPr>
          <p:cNvSpPr/>
          <p:nvPr/>
        </p:nvSpPr>
        <p:spPr>
          <a:xfrm>
            <a:off x="7607311" y="3659942"/>
            <a:ext cx="4210392" cy="2112639"/>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b="1" dirty="0">
                <a:solidFill>
                  <a:schemeClr val="tx1"/>
                </a:solidFill>
              </a:rPr>
              <a:t>1.</a:t>
            </a:r>
            <a:r>
              <a:rPr lang="zh-CN" altLang="en-US" sz="1600" b="1" dirty="0">
                <a:solidFill>
                  <a:schemeClr val="tx1"/>
                </a:solidFill>
              </a:rPr>
              <a:t>模拟数据实验： </a:t>
            </a:r>
            <a:r>
              <a:rPr lang="zh-CN" altLang="en-US" sz="1600" dirty="0">
                <a:solidFill>
                  <a:schemeClr val="tx1"/>
                </a:solidFill>
              </a:rPr>
              <a:t>以单核细胞计数性状和 </a:t>
            </a:r>
            <a:r>
              <a:rPr lang="en-US" altLang="zh-CN" sz="1600" dirty="0">
                <a:solidFill>
                  <a:schemeClr val="tx1"/>
                </a:solidFill>
              </a:rPr>
              <a:t>10X PBMC </a:t>
            </a:r>
            <a:r>
              <a:rPr lang="zh-CN" altLang="en-US" sz="1600" dirty="0">
                <a:solidFill>
                  <a:schemeClr val="tx1"/>
                </a:solidFill>
              </a:rPr>
              <a:t>单细胞 </a:t>
            </a:r>
            <a:r>
              <a:rPr lang="en-US" altLang="zh-CN" sz="1600" dirty="0" err="1">
                <a:solidFill>
                  <a:schemeClr val="tx1"/>
                </a:solidFill>
              </a:rPr>
              <a:t>scATAC</a:t>
            </a:r>
            <a:r>
              <a:rPr lang="en-US" altLang="zh-CN" sz="1600" dirty="0">
                <a:solidFill>
                  <a:schemeClr val="tx1"/>
                </a:solidFill>
              </a:rPr>
              <a:t>-seq </a:t>
            </a:r>
            <a:r>
              <a:rPr lang="zh-CN" altLang="en-US" sz="1600" dirty="0">
                <a:solidFill>
                  <a:schemeClr val="tx1"/>
                </a:solidFill>
              </a:rPr>
              <a:t>数据为例，已完整跑通标准流程。</a:t>
            </a:r>
            <a:endParaRPr lang="en-US" altLang="zh-CN" dirty="0">
              <a:solidFill>
                <a:schemeClr val="tx1"/>
              </a:solidFill>
            </a:endParaRPr>
          </a:p>
          <a:p>
            <a:r>
              <a:rPr lang="en-US" altLang="zh-CN" sz="1600" b="1" dirty="0">
                <a:solidFill>
                  <a:schemeClr val="tx1"/>
                </a:solidFill>
              </a:rPr>
              <a:t>2.</a:t>
            </a:r>
            <a:r>
              <a:rPr lang="zh-CN" altLang="en-US" sz="1600" b="1" dirty="0">
                <a:solidFill>
                  <a:schemeClr val="tx1"/>
                </a:solidFill>
              </a:rPr>
              <a:t>真实数据集实验： </a:t>
            </a:r>
            <a:r>
              <a:rPr lang="zh-CN" altLang="en-US" sz="1600" dirty="0">
                <a:solidFill>
                  <a:schemeClr val="tx1"/>
                </a:solidFill>
              </a:rPr>
              <a:t>在约 </a:t>
            </a:r>
            <a:r>
              <a:rPr lang="en-US" altLang="zh-CN" sz="1600" dirty="0">
                <a:solidFill>
                  <a:schemeClr val="tx1"/>
                </a:solidFill>
              </a:rPr>
              <a:t>3.4 </a:t>
            </a:r>
            <a:r>
              <a:rPr lang="zh-CN" altLang="en-US" sz="1600" dirty="0">
                <a:solidFill>
                  <a:schemeClr val="tx1"/>
                </a:solidFill>
              </a:rPr>
              <a:t>万个造血 </a:t>
            </a:r>
            <a:r>
              <a:rPr lang="en-US" altLang="zh-CN" sz="1600" dirty="0" err="1">
                <a:solidFill>
                  <a:schemeClr val="tx1"/>
                </a:solidFill>
              </a:rPr>
              <a:t>scATAC</a:t>
            </a:r>
            <a:r>
              <a:rPr lang="en-US" altLang="zh-CN" sz="1600" dirty="0">
                <a:solidFill>
                  <a:schemeClr val="tx1"/>
                </a:solidFill>
              </a:rPr>
              <a:t>-seq </a:t>
            </a:r>
            <a:r>
              <a:rPr lang="zh-CN" altLang="en-US" sz="1600" dirty="0">
                <a:solidFill>
                  <a:schemeClr val="tx1"/>
                </a:solidFill>
              </a:rPr>
              <a:t>细胞和 </a:t>
            </a:r>
            <a:r>
              <a:rPr lang="en-US" altLang="zh-CN" sz="1600" dirty="0">
                <a:solidFill>
                  <a:schemeClr val="tx1"/>
                </a:solidFill>
              </a:rPr>
              <a:t>15 </a:t>
            </a:r>
            <a:r>
              <a:rPr lang="zh-CN" altLang="en-US" sz="1600" dirty="0">
                <a:solidFill>
                  <a:schemeClr val="tx1"/>
                </a:solidFill>
              </a:rPr>
              <a:t>个血液性状 </a:t>
            </a:r>
            <a:r>
              <a:rPr lang="en-US" altLang="zh-CN" sz="1600" dirty="0">
                <a:solidFill>
                  <a:schemeClr val="tx1"/>
                </a:solidFill>
              </a:rPr>
              <a:t>GWAS </a:t>
            </a:r>
            <a:r>
              <a:rPr lang="zh-CN" altLang="en-US" sz="1600" dirty="0">
                <a:solidFill>
                  <a:schemeClr val="tx1"/>
                </a:solidFill>
              </a:rPr>
              <a:t>数据上完成 </a:t>
            </a:r>
            <a:r>
              <a:rPr lang="en-US" altLang="zh-CN" sz="1600" dirty="0">
                <a:solidFill>
                  <a:schemeClr val="tx1"/>
                </a:solidFill>
              </a:rPr>
              <a:t>SCAVENGE </a:t>
            </a:r>
            <a:r>
              <a:rPr lang="zh-CN" altLang="en-US" sz="1600" dirty="0">
                <a:solidFill>
                  <a:schemeClr val="tx1"/>
                </a:solidFill>
              </a:rPr>
              <a:t>全流程复现，获得了细胞层面 </a:t>
            </a:r>
            <a:r>
              <a:rPr lang="en-US" altLang="zh-CN" sz="1600" dirty="0">
                <a:solidFill>
                  <a:schemeClr val="tx1"/>
                </a:solidFill>
              </a:rPr>
              <a:t>TRS</a:t>
            </a:r>
            <a:r>
              <a:rPr lang="zh-CN" altLang="en-US" sz="1600" dirty="0">
                <a:solidFill>
                  <a:schemeClr val="tx1"/>
                </a:solidFill>
              </a:rPr>
              <a:t>、</a:t>
            </a:r>
            <a:r>
              <a:rPr lang="en-US" altLang="zh-CN" sz="1600" dirty="0">
                <a:solidFill>
                  <a:schemeClr val="tx1"/>
                </a:solidFill>
              </a:rPr>
              <a:t>UMAP </a:t>
            </a:r>
            <a:r>
              <a:rPr lang="zh-CN" altLang="en-US" sz="1600" dirty="0">
                <a:solidFill>
                  <a:schemeClr val="tx1"/>
                </a:solidFill>
              </a:rPr>
              <a:t>富集图及细胞类型汇总结果，为后续模型评估与改进提供了真实数据基础。</a:t>
            </a:r>
          </a:p>
        </p:txBody>
      </p:sp>
      <p:cxnSp>
        <p:nvCxnSpPr>
          <p:cNvPr id="85" name="直接箭头连接符 84">
            <a:extLst>
              <a:ext uri="{FF2B5EF4-FFF2-40B4-BE49-F238E27FC236}">
                <a16:creationId xmlns:a16="http://schemas.microsoft.com/office/drawing/2014/main" id="{A7FBDF87-532C-DB88-F9E2-282927E559E2}"/>
              </a:ext>
            </a:extLst>
          </p:cNvPr>
          <p:cNvCxnSpPr>
            <a:cxnSpLocks/>
            <a:stCxn id="39" idx="3"/>
            <a:endCxn id="83" idx="1"/>
          </p:cNvCxnSpPr>
          <p:nvPr/>
        </p:nvCxnSpPr>
        <p:spPr>
          <a:xfrm>
            <a:off x="6504852" y="3902423"/>
            <a:ext cx="1102459" cy="813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矩形: 圆角 96">
            <a:extLst>
              <a:ext uri="{FF2B5EF4-FFF2-40B4-BE49-F238E27FC236}">
                <a16:creationId xmlns:a16="http://schemas.microsoft.com/office/drawing/2014/main" id="{E2CE8A0E-1757-7774-2C70-E26D1BFC8724}"/>
              </a:ext>
            </a:extLst>
          </p:cNvPr>
          <p:cNvSpPr/>
          <p:nvPr/>
        </p:nvSpPr>
        <p:spPr>
          <a:xfrm>
            <a:off x="483812" y="1042251"/>
            <a:ext cx="4114027" cy="2072700"/>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rPr>
              <a:t>编程环境：</a:t>
            </a:r>
            <a:endParaRPr lang="en-US" altLang="zh-CN" sz="2000" b="1" dirty="0">
              <a:solidFill>
                <a:schemeClr val="tx1"/>
              </a:solidFill>
            </a:endParaRPr>
          </a:p>
          <a:p>
            <a:pPr marL="342900" indent="-342900">
              <a:buFont typeface="+mj-lt"/>
              <a:buAutoNum type="arabicPeriod"/>
            </a:pPr>
            <a:r>
              <a:rPr lang="zh-CN" altLang="en-US" dirty="0">
                <a:solidFill>
                  <a:schemeClr val="tx1"/>
                </a:solidFill>
              </a:rPr>
              <a:t>机器配置：</a:t>
            </a:r>
            <a:r>
              <a:rPr lang="en-US" altLang="zh-CN" dirty="0">
                <a:solidFill>
                  <a:schemeClr val="tx1"/>
                </a:solidFill>
              </a:rPr>
              <a:t>CPU Intel(R) Core(TM) i7-14650HX / </a:t>
            </a:r>
            <a:r>
              <a:rPr lang="zh-CN" altLang="en-US" dirty="0">
                <a:solidFill>
                  <a:schemeClr val="tx1"/>
                </a:solidFill>
              </a:rPr>
              <a:t>内存 </a:t>
            </a:r>
            <a:r>
              <a:rPr lang="en-US" altLang="zh-CN" b="1" dirty="0">
                <a:solidFill>
                  <a:schemeClr val="tx1"/>
                </a:solidFill>
              </a:rPr>
              <a:t>32.0 GB</a:t>
            </a:r>
            <a:r>
              <a:rPr lang="zh-CN" altLang="en-US" dirty="0">
                <a:solidFill>
                  <a:schemeClr val="tx1"/>
                </a:solidFill>
              </a:rPr>
              <a:t> </a:t>
            </a:r>
            <a:endParaRPr lang="en-US" altLang="zh-CN" dirty="0">
              <a:solidFill>
                <a:schemeClr val="tx1"/>
              </a:solidFill>
            </a:endParaRPr>
          </a:p>
          <a:p>
            <a:pPr marL="342900" indent="-342900">
              <a:buFont typeface="+mj-lt"/>
              <a:buAutoNum type="arabicPeriod"/>
            </a:pPr>
            <a:r>
              <a:rPr lang="zh-CN" altLang="zh-CN" dirty="0">
                <a:solidFill>
                  <a:schemeClr val="tx1"/>
                </a:solidFill>
              </a:rPr>
              <a:t>操作系统：</a:t>
            </a:r>
            <a:r>
              <a:rPr lang="en-US" altLang="zh-CN" dirty="0">
                <a:solidFill>
                  <a:schemeClr val="tx1"/>
                </a:solidFill>
              </a:rPr>
              <a:t>Windows</a:t>
            </a:r>
          </a:p>
          <a:p>
            <a:pPr marL="342900" indent="-342900">
              <a:spcBef>
                <a:spcPct val="0"/>
              </a:spcBef>
              <a:buFont typeface="+mj-lt"/>
              <a:buAutoNum type="arabicPeriod"/>
            </a:pPr>
            <a:r>
              <a:rPr lang="zh-CN" altLang="zh-CN" dirty="0">
                <a:solidFill>
                  <a:schemeClr val="tx1"/>
                </a:solidFill>
              </a:rPr>
              <a:t>编程语言及环境</a:t>
            </a:r>
            <a:r>
              <a:rPr lang="zh-CN" altLang="en-US" dirty="0">
                <a:solidFill>
                  <a:schemeClr val="tx1"/>
                </a:solidFill>
              </a:rPr>
              <a:t>：</a:t>
            </a:r>
            <a:r>
              <a:rPr lang="en-US" altLang="zh-CN" dirty="0">
                <a:solidFill>
                  <a:schemeClr val="tx1"/>
                </a:solidFill>
              </a:rPr>
              <a:t>R</a:t>
            </a:r>
            <a:endParaRPr lang="zh-CN" altLang="zh-CN" dirty="0">
              <a:solidFill>
                <a:schemeClr val="tx1"/>
              </a:solidFill>
            </a:endParaRPr>
          </a:p>
          <a:p>
            <a:pPr marL="342900" indent="-342900">
              <a:spcBef>
                <a:spcPct val="0"/>
              </a:spcBef>
              <a:buFont typeface="+mj-lt"/>
              <a:buAutoNum type="arabicPeriod"/>
            </a:pPr>
            <a:r>
              <a:rPr lang="en-US" altLang="zh-CN" dirty="0">
                <a:solidFill>
                  <a:schemeClr val="tx1"/>
                </a:solidFill>
              </a:rPr>
              <a:t>Internet</a:t>
            </a:r>
            <a:r>
              <a:rPr lang="zh-CN" altLang="zh-CN" dirty="0">
                <a:solidFill>
                  <a:schemeClr val="tx1"/>
                </a:solidFill>
              </a:rPr>
              <a:t>网络</a:t>
            </a:r>
          </a:p>
        </p:txBody>
      </p:sp>
    </p:spTree>
  </p:cSld>
  <p:clrMapOvr>
    <a:masterClrMapping/>
  </p:clrMapOvr>
  <mc:AlternateContent xmlns:mc="http://schemas.openxmlformats.org/markup-compatibility/2006" xmlns:p14="http://schemas.microsoft.com/office/powerpoint/2010/main">
    <mc:Choice Requires="p14">
      <p:transition spd="slow" p14:dur="2000" advTm="24342"/>
    </mc:Choice>
    <mc:Fallback xmlns="">
      <p:transition spd="slow" advTm="2434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27741-58F2-C4A2-B98A-2B9239A45D6F}"/>
            </a:ext>
          </a:extLst>
        </p:cNvPr>
        <p:cNvGrpSpPr/>
        <p:nvPr/>
      </p:nvGrpSpPr>
      <p:grpSpPr>
        <a:xfrm>
          <a:off x="0" y="0"/>
          <a:ext cx="0" cy="0"/>
          <a:chOff x="0" y="0"/>
          <a:chExt cx="0" cy="0"/>
        </a:xfrm>
      </p:grpSpPr>
      <p:sp>
        <p:nvSpPr>
          <p:cNvPr id="31" name="矩形: 圆角 30">
            <a:extLst>
              <a:ext uri="{FF2B5EF4-FFF2-40B4-BE49-F238E27FC236}">
                <a16:creationId xmlns:a16="http://schemas.microsoft.com/office/drawing/2014/main" id="{BBF042B9-667C-9F9D-E870-67F7A40A7105}"/>
              </a:ext>
            </a:extLst>
          </p:cNvPr>
          <p:cNvSpPr/>
          <p:nvPr/>
        </p:nvSpPr>
        <p:spPr>
          <a:xfrm>
            <a:off x="912067" y="827046"/>
            <a:ext cx="10367866" cy="49647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algn="ctr">
              <a:lnSpc>
                <a:spcPct val="125000"/>
              </a:lnSpc>
              <a:buClr>
                <a:schemeClr val="bg2"/>
              </a:buClr>
            </a:pPr>
            <a:r>
              <a:rPr lang="zh-CN" altLang="en-US" sz="2000" b="1" dirty="0">
                <a:solidFill>
                  <a:schemeClr val="tx1"/>
                </a:solidFill>
                <a:latin typeface="微软雅黑" panose="020B0503020204020204" pitchFamily="34" charset="-122"/>
                <a:ea typeface="微软雅黑" panose="020B0503020204020204" pitchFamily="34" charset="-122"/>
              </a:rPr>
              <a:t>从 </a:t>
            </a:r>
            <a:r>
              <a:rPr lang="en-US" altLang="zh-CN" sz="2000" b="1" dirty="0">
                <a:solidFill>
                  <a:schemeClr val="tx1"/>
                </a:solidFill>
                <a:latin typeface="微软雅黑" panose="020B0503020204020204" pitchFamily="34" charset="-122"/>
                <a:ea typeface="微软雅黑" panose="020B0503020204020204" pitchFamily="34" charset="-122"/>
              </a:rPr>
              <a:t>PageRank </a:t>
            </a:r>
            <a:r>
              <a:rPr lang="zh-CN" altLang="en-US" sz="2000" b="1" dirty="0">
                <a:solidFill>
                  <a:schemeClr val="tx1"/>
                </a:solidFill>
                <a:latin typeface="微软雅黑" panose="020B0503020204020204" pitchFamily="34" charset="-122"/>
                <a:ea typeface="微软雅黑" panose="020B0503020204020204" pitchFamily="34" charset="-122"/>
              </a:rPr>
              <a:t>到 </a:t>
            </a:r>
            <a:r>
              <a:rPr lang="en-US" altLang="zh-CN" sz="2000" b="1">
                <a:solidFill>
                  <a:schemeClr val="tx1"/>
                </a:solidFill>
                <a:latin typeface="微软雅黑" panose="020B0503020204020204" pitchFamily="34" charset="-122"/>
                <a:ea typeface="微软雅黑" panose="020B0503020204020204" pitchFamily="34" charset="-122"/>
              </a:rPr>
              <a:t>SCAVENGE</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a:solidFill>
                  <a:schemeClr val="tx1"/>
                </a:solidFill>
                <a:latin typeface="微软雅黑" panose="020B0503020204020204" pitchFamily="34" charset="-122"/>
                <a:ea typeface="微软雅黑" panose="020B0503020204020204" pitchFamily="34" charset="-122"/>
              </a:rPr>
              <a:t>用</a:t>
            </a:r>
            <a:r>
              <a:rPr lang="zh-CN" altLang="en-US" sz="2000" b="1" dirty="0">
                <a:solidFill>
                  <a:schemeClr val="tx1"/>
                </a:solidFill>
                <a:latin typeface="微软雅黑" panose="020B0503020204020204" pitchFamily="34" charset="-122"/>
                <a:ea typeface="微软雅黑" panose="020B0503020204020204" pitchFamily="34" charset="-122"/>
              </a:rPr>
              <a:t>网络传播识别表型相关细胞</a:t>
            </a:r>
          </a:p>
        </p:txBody>
      </p:sp>
      <p:sp>
        <p:nvSpPr>
          <p:cNvPr id="10" name="灯片编号占位符 9">
            <a:extLst>
              <a:ext uri="{FF2B5EF4-FFF2-40B4-BE49-F238E27FC236}">
                <a16:creationId xmlns:a16="http://schemas.microsoft.com/office/drawing/2014/main" id="{DC77516B-9A55-2394-9550-AE86BFAE4E77}"/>
              </a:ext>
            </a:extLst>
          </p:cNvPr>
          <p:cNvSpPr>
            <a:spLocks noGrp="1"/>
          </p:cNvSpPr>
          <p:nvPr>
            <p:ph type="sldNum" sz="quarter" idx="12"/>
          </p:nvPr>
        </p:nvSpPr>
        <p:spPr/>
        <p:txBody>
          <a:bodyPr/>
          <a:lstStyle/>
          <a:p>
            <a:fld id="{5E2EABFD-C142-48D2-8272-3C2D8BEF2F38}" type="slidenum">
              <a:rPr lang="zh-CN" altLang="en-US" smtClean="0"/>
              <a:t>7</a:t>
            </a:fld>
            <a:endParaRPr lang="zh-CN" altLang="en-US"/>
          </a:p>
        </p:txBody>
      </p:sp>
      <p:sp>
        <p:nvSpPr>
          <p:cNvPr id="11" name="矩形 10">
            <a:extLst>
              <a:ext uri="{FF2B5EF4-FFF2-40B4-BE49-F238E27FC236}">
                <a16:creationId xmlns:a16="http://schemas.microsoft.com/office/drawing/2014/main" id="{85398CE2-0E6D-56CB-B21C-D8C0EEB3B130}"/>
              </a:ext>
            </a:extLst>
          </p:cNvPr>
          <p:cNvSpPr/>
          <p:nvPr/>
        </p:nvSpPr>
        <p:spPr>
          <a:xfrm>
            <a:off x="4888550"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关键技术</a:t>
            </a:r>
          </a:p>
        </p:txBody>
      </p:sp>
      <p:pic>
        <p:nvPicPr>
          <p:cNvPr id="6" name="图片 5">
            <a:extLst>
              <a:ext uri="{FF2B5EF4-FFF2-40B4-BE49-F238E27FC236}">
                <a16:creationId xmlns:a16="http://schemas.microsoft.com/office/drawing/2014/main" id="{4BB8869F-AA92-F171-6BDD-E2362708E052}"/>
              </a:ext>
            </a:extLst>
          </p:cNvPr>
          <p:cNvPicPr>
            <a:picLocks noChangeAspect="1"/>
          </p:cNvPicPr>
          <p:nvPr/>
        </p:nvPicPr>
        <p:blipFill>
          <a:blip r:embed="rId6"/>
          <a:stretch>
            <a:fillRect/>
          </a:stretch>
        </p:blipFill>
        <p:spPr>
          <a:xfrm>
            <a:off x="0" y="6540163"/>
            <a:ext cx="1019230" cy="296398"/>
          </a:xfrm>
          <a:prstGeom prst="rect">
            <a:avLst/>
          </a:prstGeom>
        </p:spPr>
      </p:pic>
      <p:pic>
        <p:nvPicPr>
          <p:cNvPr id="13" name="图形 12">
            <a:extLst>
              <a:ext uri="{FF2B5EF4-FFF2-40B4-BE49-F238E27FC236}">
                <a16:creationId xmlns:a16="http://schemas.microsoft.com/office/drawing/2014/main" id="{6B1699D3-C6D0-4E56-BB13-9FC6EDE2B7E3}"/>
              </a:ext>
            </a:extLst>
          </p:cNvPr>
          <p:cNvPicPr>
            <a:picLocks noChangeAspect="1"/>
          </p:cNvPicPr>
          <p:nvPr>
            <p:custDataLst>
              <p:tags r:id="rId1"/>
            </p:custDataLst>
          </p:nvPr>
        </p:nvPicPr>
        <p:blipFill>
          <a:blip r:embed="rId7">
            <a:extLst>
              <a:ext uri="{96DAC541-7B7A-43D3-8B79-37D633B846F1}">
                <asvg:svgBlip xmlns:asvg="http://schemas.microsoft.com/office/drawing/2016/SVG/main" r:embed="rId8"/>
              </a:ext>
            </a:extLst>
          </a:blip>
          <a:stretch>
            <a:fillRect/>
          </a:stretch>
        </p:blipFill>
        <p:spPr>
          <a:xfrm>
            <a:off x="310360" y="1582762"/>
            <a:ext cx="1019230" cy="968072"/>
          </a:xfrm>
          <a:prstGeom prst="rect">
            <a:avLst/>
          </a:prstGeom>
        </p:spPr>
      </p:pic>
      <p:grpSp>
        <p:nvGrpSpPr>
          <p:cNvPr id="33" name="组合 32">
            <a:extLst>
              <a:ext uri="{FF2B5EF4-FFF2-40B4-BE49-F238E27FC236}">
                <a16:creationId xmlns:a16="http://schemas.microsoft.com/office/drawing/2014/main" id="{39A0870F-BA4F-D9B8-62B1-83448D5BF268}"/>
              </a:ext>
            </a:extLst>
          </p:cNvPr>
          <p:cNvGrpSpPr/>
          <p:nvPr/>
        </p:nvGrpSpPr>
        <p:grpSpPr>
          <a:xfrm>
            <a:off x="1418301" y="1486199"/>
            <a:ext cx="3436577" cy="838813"/>
            <a:chOff x="1734059" y="1450479"/>
            <a:chExt cx="3436577" cy="838813"/>
          </a:xfrm>
        </p:grpSpPr>
        <p:sp>
          <p:nvSpPr>
            <p:cNvPr id="32" name="矩形: 圆角 31">
              <a:extLst>
                <a:ext uri="{FF2B5EF4-FFF2-40B4-BE49-F238E27FC236}">
                  <a16:creationId xmlns:a16="http://schemas.microsoft.com/office/drawing/2014/main" id="{201CDDD5-A49A-EAB4-B65F-B7E0B40079F8}"/>
                </a:ext>
              </a:extLst>
            </p:cNvPr>
            <p:cNvSpPr/>
            <p:nvPr/>
          </p:nvSpPr>
          <p:spPr>
            <a:xfrm>
              <a:off x="2144563" y="1868497"/>
              <a:ext cx="565745" cy="295360"/>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7D11D495-52A0-5F17-F0AC-169BA82E4C97}"/>
                </a:ext>
              </a:extLst>
            </p:cNvPr>
            <p:cNvGrpSpPr/>
            <p:nvPr/>
          </p:nvGrpSpPr>
          <p:grpSpPr>
            <a:xfrm>
              <a:off x="1734059" y="1450479"/>
              <a:ext cx="3436577" cy="838813"/>
              <a:chOff x="1826154" y="1595201"/>
              <a:chExt cx="3561569" cy="957225"/>
            </a:xfrm>
          </p:grpSpPr>
          <p:sp>
            <p:nvSpPr>
              <p:cNvPr id="21" name="对话气泡: 椭圆形 74">
                <a:extLst>
                  <a:ext uri="{FF2B5EF4-FFF2-40B4-BE49-F238E27FC236}">
                    <a16:creationId xmlns:a16="http://schemas.microsoft.com/office/drawing/2014/main" id="{88D6F578-CEE9-3B93-FFA0-5A96970B3890}"/>
                  </a:ext>
                </a:extLst>
              </p:cNvPr>
              <p:cNvSpPr/>
              <p:nvPr/>
            </p:nvSpPr>
            <p:spPr>
              <a:xfrm>
                <a:off x="1826154" y="1595201"/>
                <a:ext cx="3561569" cy="957225"/>
              </a:xfrm>
              <a:prstGeom prst="wedgeEllipseCallout">
                <a:avLst>
                  <a:gd name="adj1" fmla="val -25173"/>
                  <a:gd name="adj2" fmla="val 59708"/>
                </a:avLst>
              </a:prstGeom>
              <a:solidFill>
                <a:schemeClr val="accent5">
                  <a:lumMod val="20000"/>
                  <a:lumOff val="80000"/>
                  <a:alpha val="30000"/>
                </a:schemeClr>
              </a:solidFill>
              <a:ln w="6055"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文本框 21">
                <a:extLst>
                  <a:ext uri="{FF2B5EF4-FFF2-40B4-BE49-F238E27FC236}">
                    <a16:creationId xmlns:a16="http://schemas.microsoft.com/office/drawing/2014/main" id="{E1A28CA6-4373-7439-B869-C6DBB7B28C6E}"/>
                  </a:ext>
                </a:extLst>
              </p:cNvPr>
              <p:cNvSpPr txBox="1"/>
              <p:nvPr/>
            </p:nvSpPr>
            <p:spPr>
              <a:xfrm>
                <a:off x="2172843" y="1812203"/>
                <a:ext cx="2868190" cy="597081"/>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搜索关键词时，搜索引擎如何把</a:t>
                </a:r>
                <a:r>
                  <a:rPr lang="zh-CN" altLang="en-US" sz="1400" b="1" dirty="0">
                    <a:latin typeface="微软雅黑" panose="020B0503020204020204" pitchFamily="34" charset="-122"/>
                    <a:ea typeface="微软雅黑" panose="020B0503020204020204" pitchFamily="34" charset="-122"/>
                  </a:rPr>
                  <a:t>最重要</a:t>
                </a:r>
                <a:r>
                  <a:rPr lang="zh-CN" altLang="en-US" sz="1400" dirty="0">
                    <a:latin typeface="微软雅黑" panose="020B0503020204020204" pitchFamily="34" charset="-122"/>
                    <a:ea typeface="微软雅黑" panose="020B0503020204020204" pitchFamily="34" charset="-122"/>
                  </a:rPr>
                  <a:t>的网页排在搜索结果前面？</a:t>
                </a:r>
              </a:p>
            </p:txBody>
          </p:sp>
        </p:grpSp>
      </p:grpSp>
      <p:sp>
        <p:nvSpPr>
          <p:cNvPr id="34" name="箭头: 下 33">
            <a:extLst>
              <a:ext uri="{FF2B5EF4-FFF2-40B4-BE49-F238E27FC236}">
                <a16:creationId xmlns:a16="http://schemas.microsoft.com/office/drawing/2014/main" id="{F8841986-FC91-2429-4FA2-F4233429307F}"/>
              </a:ext>
            </a:extLst>
          </p:cNvPr>
          <p:cNvSpPr/>
          <p:nvPr/>
        </p:nvSpPr>
        <p:spPr>
          <a:xfrm>
            <a:off x="2013001" y="2199577"/>
            <a:ext cx="171040" cy="1901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a16="http://schemas.microsoft.com/office/drawing/2014/main" id="{107BFA32-2F89-128C-5382-7E5B84A6ED02}"/>
              </a:ext>
            </a:extLst>
          </p:cNvPr>
          <p:cNvSpPr/>
          <p:nvPr/>
        </p:nvSpPr>
        <p:spPr>
          <a:xfrm>
            <a:off x="1551190" y="2400380"/>
            <a:ext cx="3170798" cy="295360"/>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rPr>
              <a:t>随机上网的人会更容易走到哪些网页？</a:t>
            </a:r>
          </a:p>
        </p:txBody>
      </p:sp>
      <p:sp>
        <p:nvSpPr>
          <p:cNvPr id="40" name="矩形: 圆角 39">
            <a:extLst>
              <a:ext uri="{FF2B5EF4-FFF2-40B4-BE49-F238E27FC236}">
                <a16:creationId xmlns:a16="http://schemas.microsoft.com/office/drawing/2014/main" id="{6613979F-63DE-1A6C-3F9C-86096AA2643F}"/>
              </a:ext>
            </a:extLst>
          </p:cNvPr>
          <p:cNvSpPr/>
          <p:nvPr/>
        </p:nvSpPr>
        <p:spPr>
          <a:xfrm>
            <a:off x="114134" y="2845464"/>
            <a:ext cx="1817334" cy="295360"/>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量</a:t>
            </a:r>
            <a:r>
              <a:rPr lang="zh-CN" altLang="en-US" sz="1400" dirty="0">
                <a:solidFill>
                  <a:schemeClr val="tx1"/>
                </a:solidFill>
                <a:latin typeface="微软雅黑" panose="020B0503020204020204" pitchFamily="34" charset="-122"/>
                <a:ea typeface="微软雅黑" panose="020B0503020204020204" pitchFamily="34" charset="-122"/>
              </a:rPr>
              <a:t>：链接网络的数量</a:t>
            </a:r>
          </a:p>
        </p:txBody>
      </p:sp>
      <p:sp>
        <p:nvSpPr>
          <p:cNvPr id="43" name="矩形: 圆角 42">
            <a:extLst>
              <a:ext uri="{FF2B5EF4-FFF2-40B4-BE49-F238E27FC236}">
                <a16:creationId xmlns:a16="http://schemas.microsoft.com/office/drawing/2014/main" id="{6BC281A5-F579-FF04-46AA-48D490F99F2E}"/>
              </a:ext>
            </a:extLst>
          </p:cNvPr>
          <p:cNvSpPr/>
          <p:nvPr/>
        </p:nvSpPr>
        <p:spPr>
          <a:xfrm>
            <a:off x="1987153" y="2845464"/>
            <a:ext cx="1997017" cy="295360"/>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质</a:t>
            </a:r>
            <a:r>
              <a:rPr lang="zh-CN" altLang="en-US" sz="1400" dirty="0">
                <a:solidFill>
                  <a:schemeClr val="tx1"/>
                </a:solidFill>
                <a:latin typeface="微软雅黑" panose="020B0503020204020204" pitchFamily="34" charset="-122"/>
                <a:ea typeface="微软雅黑" panose="020B0503020204020204" pitchFamily="34" charset="-122"/>
              </a:rPr>
              <a:t>：链接网络的重要性</a:t>
            </a:r>
          </a:p>
        </p:txBody>
      </p:sp>
      <p:sp>
        <p:nvSpPr>
          <p:cNvPr id="47" name="矩形: 圆角 46">
            <a:extLst>
              <a:ext uri="{FF2B5EF4-FFF2-40B4-BE49-F238E27FC236}">
                <a16:creationId xmlns:a16="http://schemas.microsoft.com/office/drawing/2014/main" id="{07A6F482-EDD5-409E-765A-043D05A39DDC}"/>
              </a:ext>
            </a:extLst>
          </p:cNvPr>
          <p:cNvSpPr/>
          <p:nvPr/>
        </p:nvSpPr>
        <p:spPr>
          <a:xfrm>
            <a:off x="310360" y="3331211"/>
            <a:ext cx="5045646" cy="635460"/>
          </a:xfrm>
          <a:prstGeom prst="roundRect">
            <a:avLst/>
          </a:prstGeom>
          <a:solidFill>
            <a:schemeClr val="accent3">
              <a:lumMod val="20000"/>
              <a:lumOff val="8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b="1" dirty="0">
                <a:solidFill>
                  <a:schemeClr val="tx1"/>
                </a:solidFill>
                <a:latin typeface="微软雅黑" panose="020B0503020204020204" pitchFamily="34" charset="-122"/>
                <a:ea typeface="微软雅黑" panose="020B0503020204020204" pitchFamily="34" charset="-122"/>
              </a:rPr>
              <a:t>PageRank </a:t>
            </a:r>
            <a:r>
              <a:rPr lang="zh-CN" altLang="en-US" sz="1600" b="1" dirty="0">
                <a:solidFill>
                  <a:schemeClr val="tx1"/>
                </a:solidFill>
                <a:latin typeface="微软雅黑" panose="020B0503020204020204" pitchFamily="34" charset="-122"/>
                <a:ea typeface="微软雅黑" panose="020B0503020204020204" pitchFamily="34" charset="-122"/>
              </a:rPr>
              <a:t>的本质：</a:t>
            </a:r>
          </a:p>
          <a:p>
            <a:r>
              <a:rPr lang="zh-CN" altLang="en-US" sz="1600" dirty="0">
                <a:solidFill>
                  <a:schemeClr val="tx1"/>
                </a:solidFill>
                <a:latin typeface="微软雅黑" panose="020B0503020204020204" pitchFamily="34" charset="-122"/>
                <a:ea typeface="微软雅黑" panose="020B0503020204020204" pitchFamily="34" charset="-122"/>
              </a:rPr>
              <a:t>某网页的重要性 </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随机游走者长期到达该网页的概率</a:t>
            </a:r>
          </a:p>
        </p:txBody>
      </p:sp>
      <p:cxnSp>
        <p:nvCxnSpPr>
          <p:cNvPr id="49" name="直接箭头连接符 48">
            <a:extLst>
              <a:ext uri="{FF2B5EF4-FFF2-40B4-BE49-F238E27FC236}">
                <a16:creationId xmlns:a16="http://schemas.microsoft.com/office/drawing/2014/main" id="{8223C3E9-0A9A-1DE6-2C60-792079F295D1}"/>
              </a:ext>
            </a:extLst>
          </p:cNvPr>
          <p:cNvCxnSpPr>
            <a:cxnSpLocks/>
            <a:stCxn id="35" idx="2"/>
            <a:endCxn id="40" idx="0"/>
          </p:cNvCxnSpPr>
          <p:nvPr/>
        </p:nvCxnSpPr>
        <p:spPr>
          <a:xfrm flipH="1">
            <a:off x="1022801" y="2695740"/>
            <a:ext cx="2113788" cy="149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0DA81AF-1C6F-B1BF-9F7D-45A5846DC89C}"/>
              </a:ext>
            </a:extLst>
          </p:cNvPr>
          <p:cNvCxnSpPr>
            <a:cxnSpLocks/>
            <a:stCxn id="35" idx="2"/>
            <a:endCxn id="43" idx="0"/>
          </p:cNvCxnSpPr>
          <p:nvPr/>
        </p:nvCxnSpPr>
        <p:spPr>
          <a:xfrm flipH="1">
            <a:off x="2985662" y="2695740"/>
            <a:ext cx="150927" cy="149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1110D55D-B172-CB73-7947-BD7BD8ACD7A9}"/>
              </a:ext>
            </a:extLst>
          </p:cNvPr>
          <p:cNvPicPr>
            <a:picLocks noChangeAspect="1"/>
          </p:cNvPicPr>
          <p:nvPr/>
        </p:nvPicPr>
        <p:blipFill>
          <a:blip r:embed="rId9"/>
          <a:stretch>
            <a:fillRect/>
          </a:stretch>
        </p:blipFill>
        <p:spPr>
          <a:xfrm>
            <a:off x="1256487" y="4090622"/>
            <a:ext cx="3486234" cy="2325589"/>
          </a:xfrm>
          <a:prstGeom prst="rect">
            <a:avLst/>
          </a:prstGeom>
        </p:spPr>
      </p:pic>
      <p:sp>
        <p:nvSpPr>
          <p:cNvPr id="56" name="矩形: 圆角 55">
            <a:extLst>
              <a:ext uri="{FF2B5EF4-FFF2-40B4-BE49-F238E27FC236}">
                <a16:creationId xmlns:a16="http://schemas.microsoft.com/office/drawing/2014/main" id="{D636FECF-5ADC-3AC2-D09A-28CD672FA0EF}"/>
              </a:ext>
            </a:extLst>
          </p:cNvPr>
          <p:cNvSpPr/>
          <p:nvPr/>
        </p:nvSpPr>
        <p:spPr>
          <a:xfrm>
            <a:off x="1051002" y="4076545"/>
            <a:ext cx="3869320" cy="2353744"/>
          </a:xfrm>
          <a:prstGeom prst="roundRect">
            <a:avLst/>
          </a:prstGeom>
          <a:noFill/>
          <a:ln>
            <a:solidFill>
              <a:schemeClr val="bg2">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D81B7DE6-F7CD-7F8F-9B40-115146C0651F}"/>
              </a:ext>
            </a:extLst>
          </p:cNvPr>
          <p:cNvSpPr txBox="1"/>
          <p:nvPr/>
        </p:nvSpPr>
        <p:spPr>
          <a:xfrm>
            <a:off x="1206814" y="4128781"/>
            <a:ext cx="54600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网页</a:t>
            </a:r>
          </a:p>
        </p:txBody>
      </p:sp>
      <p:sp>
        <p:nvSpPr>
          <p:cNvPr id="59" name="文本框 58">
            <a:extLst>
              <a:ext uri="{FF2B5EF4-FFF2-40B4-BE49-F238E27FC236}">
                <a16:creationId xmlns:a16="http://schemas.microsoft.com/office/drawing/2014/main" id="{CC21D5B8-0BB4-0A7C-7461-ADDA729FE74A}"/>
              </a:ext>
            </a:extLst>
          </p:cNvPr>
          <p:cNvSpPr txBox="1"/>
          <p:nvPr/>
        </p:nvSpPr>
        <p:spPr>
          <a:xfrm>
            <a:off x="1370127" y="6416211"/>
            <a:ext cx="111438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整个互联网</a:t>
            </a:r>
          </a:p>
        </p:txBody>
      </p:sp>
      <p:sp>
        <p:nvSpPr>
          <p:cNvPr id="62" name="文本框 61">
            <a:extLst>
              <a:ext uri="{FF2B5EF4-FFF2-40B4-BE49-F238E27FC236}">
                <a16:creationId xmlns:a16="http://schemas.microsoft.com/office/drawing/2014/main" id="{C2F32F4D-F1AA-94EF-EABA-91D007D4E05B}"/>
              </a:ext>
            </a:extLst>
          </p:cNvPr>
          <p:cNvSpPr txBox="1"/>
          <p:nvPr/>
        </p:nvSpPr>
        <p:spPr>
          <a:xfrm>
            <a:off x="3556798" y="4275729"/>
            <a:ext cx="54600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链接</a:t>
            </a:r>
          </a:p>
        </p:txBody>
      </p:sp>
      <p:pic>
        <p:nvPicPr>
          <p:cNvPr id="64" name="图形 63">
            <a:extLst>
              <a:ext uri="{FF2B5EF4-FFF2-40B4-BE49-F238E27FC236}">
                <a16:creationId xmlns:a16="http://schemas.microsoft.com/office/drawing/2014/main" id="{E0DA1790-4A06-F57F-A4BD-6FE47E455A53}"/>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3810000" y="0"/>
            <a:ext cx="4572000" cy="6858000"/>
          </a:xfrm>
          <a:prstGeom prst="rect">
            <a:avLst/>
          </a:prstGeom>
        </p:spPr>
      </p:pic>
      <p:pic>
        <p:nvPicPr>
          <p:cNvPr id="66" name="图形 65">
            <a:extLst>
              <a:ext uri="{FF2B5EF4-FFF2-40B4-BE49-F238E27FC236}">
                <a16:creationId xmlns:a16="http://schemas.microsoft.com/office/drawing/2014/main" id="{412123E8-006D-C1F3-091E-8F81EADF8DA6}"/>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462305" y="4117014"/>
            <a:ext cx="357670" cy="970562"/>
          </a:xfrm>
          <a:prstGeom prst="rect">
            <a:avLst/>
          </a:prstGeom>
        </p:spPr>
      </p:pic>
      <p:sp>
        <p:nvSpPr>
          <p:cNvPr id="67" name="箭头: 右 66">
            <a:extLst>
              <a:ext uri="{FF2B5EF4-FFF2-40B4-BE49-F238E27FC236}">
                <a16:creationId xmlns:a16="http://schemas.microsoft.com/office/drawing/2014/main" id="{5BDFBFCF-F9CC-AC0E-0064-502A9C5E5AA9}"/>
              </a:ext>
            </a:extLst>
          </p:cNvPr>
          <p:cNvSpPr/>
          <p:nvPr/>
        </p:nvSpPr>
        <p:spPr>
          <a:xfrm>
            <a:off x="912067" y="4564097"/>
            <a:ext cx="370616" cy="178758"/>
          </a:xfrm>
          <a:prstGeom prst="rightArrow">
            <a:avLst/>
          </a:prstGeom>
          <a:solidFill>
            <a:schemeClr val="accent1">
              <a:lumMod val="20000"/>
              <a:lumOff val="8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D20D5AE1-11FD-6FDF-6CD9-18EE19EF4594}"/>
              </a:ext>
            </a:extLst>
          </p:cNvPr>
          <p:cNvSpPr txBox="1"/>
          <p:nvPr/>
        </p:nvSpPr>
        <p:spPr>
          <a:xfrm>
            <a:off x="-34561" y="5139424"/>
            <a:ext cx="1291048" cy="52322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随机点击链接</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跳转网页</a:t>
            </a:r>
          </a:p>
        </p:txBody>
      </p:sp>
      <p:pic>
        <p:nvPicPr>
          <p:cNvPr id="3073" name="Picture 1">
            <a:extLst>
              <a:ext uri="{FF2B5EF4-FFF2-40B4-BE49-F238E27FC236}">
                <a16:creationId xmlns:a16="http://schemas.microsoft.com/office/drawing/2014/main" id="{875412D2-4A6E-29D9-202B-0828BEA129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59856" y="1875046"/>
            <a:ext cx="1991719" cy="740343"/>
          </a:xfrm>
          <a:prstGeom prst="rect">
            <a:avLst/>
          </a:prstGeom>
          <a:noFill/>
          <a:extLst>
            <a:ext uri="{909E8E84-426E-40DD-AFC4-6F175D3DCCD1}">
              <a14:hiddenFill xmlns:a14="http://schemas.microsoft.com/office/drawing/2010/main">
                <a:solidFill>
                  <a:srgbClr val="FFFFFF"/>
                </a:solidFill>
              </a14:hiddenFill>
            </a:ext>
          </a:extLst>
        </p:spPr>
      </p:pic>
      <p:sp>
        <p:nvSpPr>
          <p:cNvPr id="69" name="Rectangle 2">
            <a:extLst>
              <a:ext uri="{FF2B5EF4-FFF2-40B4-BE49-F238E27FC236}">
                <a16:creationId xmlns:a16="http://schemas.microsoft.com/office/drawing/2014/main" id="{D9B13101-890F-7373-2E47-FD93AE14AD7E}"/>
              </a:ext>
            </a:extLst>
          </p:cNvPr>
          <p:cNvSpPr>
            <a:spLocks noChangeArrowheads="1"/>
          </p:cNvSpPr>
          <p:nvPr/>
        </p:nvSpPr>
        <p:spPr bwMode="auto">
          <a:xfrm>
            <a:off x="7093958" y="15064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0" name="矩形: 圆角 69">
            <a:extLst>
              <a:ext uri="{FF2B5EF4-FFF2-40B4-BE49-F238E27FC236}">
                <a16:creationId xmlns:a16="http://schemas.microsoft.com/office/drawing/2014/main" id="{A18990E3-52D4-004D-2065-5C859118B234}"/>
              </a:ext>
            </a:extLst>
          </p:cNvPr>
          <p:cNvSpPr/>
          <p:nvPr/>
        </p:nvSpPr>
        <p:spPr>
          <a:xfrm>
            <a:off x="5561491" y="1486199"/>
            <a:ext cx="6114491" cy="5040617"/>
          </a:xfrm>
          <a:prstGeom prst="roundRect">
            <a:avLst>
              <a:gd name="adj" fmla="val 168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A601E4D8-C153-5629-3AE1-6C2CFE99AB68}"/>
              </a:ext>
            </a:extLst>
          </p:cNvPr>
          <p:cNvSpPr txBox="1"/>
          <p:nvPr/>
        </p:nvSpPr>
        <p:spPr>
          <a:xfrm>
            <a:off x="5645054" y="1567269"/>
            <a:ext cx="5952695"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某个网页：</a:t>
            </a:r>
            <a:r>
              <a:rPr lang="en-US" altLang="zh-CN" sz="1400" dirty="0" err="1">
                <a:latin typeface="微软雅黑" panose="020B0503020204020204" pitchFamily="34" charset="-122"/>
                <a:ea typeface="微软雅黑" panose="020B0503020204020204" pitchFamily="34" charset="-122"/>
              </a:rPr>
              <a:t>i</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它的</a:t>
            </a:r>
            <a:r>
              <a:rPr lang="en-US" altLang="zh-CN" sz="1400" dirty="0" err="1">
                <a:latin typeface="微软雅黑" panose="020B0503020204020204" pitchFamily="34" charset="-122"/>
                <a:ea typeface="微软雅黑" panose="020B0503020204020204" pitchFamily="34" charset="-122"/>
              </a:rPr>
              <a:t>pagerank</a:t>
            </a:r>
            <a:r>
              <a:rPr lang="zh-CN" altLang="en-US" sz="1400" dirty="0">
                <a:latin typeface="微软雅黑" panose="020B0503020204020204" pitchFamily="34" charset="-122"/>
                <a:ea typeface="微软雅黑" panose="020B0503020204020204" pitchFamily="34" charset="-122"/>
              </a:rPr>
              <a:t>分数是：</a:t>
            </a:r>
            <a:r>
              <a:rPr lang="en-US" altLang="zh-CN" sz="1400" dirty="0">
                <a:latin typeface="微软雅黑" panose="020B0503020204020204" pitchFamily="34" charset="-122"/>
                <a:ea typeface="微软雅黑" panose="020B0503020204020204" pitchFamily="34" charset="-122"/>
              </a:rPr>
              <a:t>PR</a:t>
            </a:r>
            <a:r>
              <a:rPr lang="zh-CN" altLang="en-US"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i</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70EB914B-45C0-A279-FBB9-7F3D416975BC}"/>
              </a:ext>
            </a:extLst>
          </p:cNvPr>
          <p:cNvSpPr txBox="1"/>
          <p:nvPr/>
        </p:nvSpPr>
        <p:spPr>
          <a:xfrm>
            <a:off x="7780987" y="1842790"/>
            <a:ext cx="3816762"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所有指向</a:t>
            </a:r>
            <a:r>
              <a:rPr lang="en-US" altLang="zh-CN" sz="1400" dirty="0" err="1">
                <a:latin typeface="微软雅黑" panose="020B0503020204020204" pitchFamily="34" charset="-122"/>
                <a:ea typeface="微软雅黑" panose="020B0503020204020204" pitchFamily="34" charset="-122"/>
              </a:rPr>
              <a:t>i</a:t>
            </a:r>
            <a:r>
              <a:rPr lang="zh-CN" altLang="en-US" sz="1400" dirty="0">
                <a:latin typeface="微软雅黑" panose="020B0503020204020204" pitchFamily="34" charset="-122"/>
                <a:ea typeface="微软雅黑" panose="020B0503020204020204" pitchFamily="34" charset="-122"/>
              </a:rPr>
              <a:t>的网页</a:t>
            </a:r>
            <a:r>
              <a:rPr lang="en-US" altLang="zh-CN" sz="1400" dirty="0">
                <a:latin typeface="微软雅黑" panose="020B0503020204020204" pitchFamily="34" charset="-122"/>
                <a:ea typeface="微软雅黑" panose="020B0503020204020204" pitchFamily="34" charset="-122"/>
              </a:rPr>
              <a:t>j</a:t>
            </a:r>
            <a:r>
              <a:rPr lang="zh-CN" altLang="en-US" sz="1400" dirty="0">
                <a:latin typeface="微软雅黑" panose="020B0503020204020204" pitchFamily="34" charset="-122"/>
                <a:ea typeface="微软雅黑" panose="020B0503020204020204" pitchFamily="34" charset="-122"/>
              </a:rPr>
              <a:t>，都会把自己的一部分分数传递给</a:t>
            </a:r>
            <a:r>
              <a:rPr lang="en-US" altLang="zh-CN" sz="1400" dirty="0" err="1">
                <a:latin typeface="微软雅黑" panose="020B0503020204020204" pitchFamily="34" charset="-122"/>
                <a:ea typeface="微软雅黑" panose="020B0503020204020204" pitchFamily="34" charset="-122"/>
              </a:rPr>
              <a:t>i</a:t>
            </a:r>
            <a:r>
              <a:rPr lang="zh-CN" altLang="en-US" sz="1400" dirty="0">
                <a:latin typeface="微软雅黑" panose="020B0503020204020204" pitchFamily="34" charset="-122"/>
                <a:ea typeface="微软雅黑" panose="020B0503020204020204" pitchFamily="34" charset="-122"/>
              </a:rPr>
              <a:t>。分数大小取决于网页</a:t>
            </a:r>
            <a:r>
              <a:rPr lang="en-US" altLang="zh-CN" sz="1400" dirty="0">
                <a:latin typeface="微软雅黑" panose="020B0503020204020204" pitchFamily="34" charset="-122"/>
                <a:ea typeface="微软雅黑" panose="020B0503020204020204" pitchFamily="34" charset="-122"/>
              </a:rPr>
              <a:t>j</a:t>
            </a:r>
            <a:r>
              <a:rPr lang="zh-CN" altLang="en-US" sz="1400" dirty="0">
                <a:latin typeface="微软雅黑" panose="020B0503020204020204" pitchFamily="34" charset="-122"/>
                <a:ea typeface="微软雅黑" panose="020B0503020204020204" pitchFamily="34" charset="-122"/>
              </a:rPr>
              <a:t>自己的分数</a:t>
            </a:r>
            <a:r>
              <a:rPr lang="en-US" altLang="zh-CN" sz="1400" dirty="0">
                <a:latin typeface="微软雅黑" panose="020B0503020204020204" pitchFamily="34" charset="-122"/>
                <a:ea typeface="微软雅黑" panose="020B0503020204020204" pitchFamily="34" charset="-122"/>
              </a:rPr>
              <a:t>PR(j)</a:t>
            </a:r>
            <a:r>
              <a:rPr lang="zh-CN" altLang="en-US" sz="1400" dirty="0">
                <a:latin typeface="微软雅黑" panose="020B0503020204020204" pitchFamily="34" charset="-122"/>
                <a:ea typeface="微软雅黑" panose="020B0503020204020204" pitchFamily="34" charset="-122"/>
              </a:rPr>
              <a:t>与外链数量</a:t>
            </a:r>
            <a:r>
              <a:rPr lang="en-US" altLang="zh-CN" sz="1400" dirty="0">
                <a:latin typeface="微软雅黑" panose="020B0503020204020204" pitchFamily="34" charset="-122"/>
                <a:ea typeface="微软雅黑" panose="020B0503020204020204" pitchFamily="34" charset="-122"/>
              </a:rPr>
              <a:t>L(j)</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922C72DA-2940-E120-9457-3F7F1C0EEF64}"/>
              </a:ext>
            </a:extLst>
          </p:cNvPr>
          <p:cNvSpPr txBox="1"/>
          <p:nvPr/>
        </p:nvSpPr>
        <p:spPr>
          <a:xfrm>
            <a:off x="5641251" y="2523130"/>
            <a:ext cx="5952695" cy="95410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在真实的互联网中，会出现以下问题：</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有些网页没有外链</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随机游走者走到这些网页会“卡住”。</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有些网页会形成封闭小圈子</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几个网页互相链接，但不指向外面。</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解决方法：</a:t>
            </a:r>
            <a:r>
              <a:rPr lang="en-US" altLang="zh-CN" sz="1400" b="1" dirty="0">
                <a:latin typeface="微软雅黑" panose="020B0503020204020204" pitchFamily="34" charset="-122"/>
                <a:ea typeface="微软雅黑" panose="020B0503020204020204" pitchFamily="34" charset="-122"/>
              </a:rPr>
              <a:t>damping factor</a:t>
            </a:r>
            <a:r>
              <a:rPr lang="zh-CN" altLang="en-US" sz="1400" b="1" dirty="0">
                <a:latin typeface="微软雅黑" panose="020B0503020204020204" pitchFamily="34" charset="-122"/>
                <a:ea typeface="微软雅黑" panose="020B0503020204020204" pitchFamily="34" charset="-122"/>
              </a:rPr>
              <a:t>（阻尼因子）</a:t>
            </a:r>
            <a:endParaRPr lang="en-US" altLang="zh-CN" sz="1400" b="1" dirty="0">
              <a:latin typeface="微软雅黑" panose="020B0503020204020204" pitchFamily="34" charset="-122"/>
              <a:ea typeface="微软雅黑" panose="020B0503020204020204" pitchFamily="34" charset="-122"/>
            </a:endParaRPr>
          </a:p>
        </p:txBody>
      </p:sp>
      <p:pic>
        <p:nvPicPr>
          <p:cNvPr id="3077" name="Picture 5">
            <a:extLst>
              <a:ext uri="{FF2B5EF4-FFF2-40B4-BE49-F238E27FC236}">
                <a16:creationId xmlns:a16="http://schemas.microsoft.com/office/drawing/2014/main" id="{5D24B717-03B3-F8B1-4AF0-953F1714401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48717" y="3477237"/>
            <a:ext cx="3128441" cy="785251"/>
          </a:xfrm>
          <a:prstGeom prst="rect">
            <a:avLst/>
          </a:prstGeom>
          <a:noFill/>
          <a:extLst>
            <a:ext uri="{909E8E84-426E-40DD-AFC4-6F175D3DCCD1}">
              <a14:hiddenFill xmlns:a14="http://schemas.microsoft.com/office/drawing/2010/main">
                <a:solidFill>
                  <a:srgbClr val="FFFFFF"/>
                </a:solidFill>
              </a14:hiddenFill>
            </a:ext>
          </a:extLst>
        </p:spPr>
      </p:pic>
      <p:sp>
        <p:nvSpPr>
          <p:cNvPr id="76" name="文本框 75">
            <a:extLst>
              <a:ext uri="{FF2B5EF4-FFF2-40B4-BE49-F238E27FC236}">
                <a16:creationId xmlns:a16="http://schemas.microsoft.com/office/drawing/2014/main" id="{F4EB883A-5C89-7DCF-9889-7BC8C814941D}"/>
              </a:ext>
            </a:extLst>
          </p:cNvPr>
          <p:cNvSpPr txBox="1"/>
          <p:nvPr/>
        </p:nvSpPr>
        <p:spPr>
          <a:xfrm>
            <a:off x="8777158" y="3409266"/>
            <a:ext cx="2824254" cy="954107"/>
          </a:xfrm>
          <a:prstGeom prst="rect">
            <a:avLst/>
          </a:prstGeom>
          <a:noFill/>
        </p:spPr>
        <p:txBody>
          <a:bodyPr wrap="square" rtlCol="0">
            <a:spAutoFit/>
          </a:bodyPr>
          <a:lstStyle/>
          <a:p>
            <a:r>
              <a:rPr lang="en-US" altLang="zh-CN" sz="1400" dirty="0"/>
              <a:t>N</a:t>
            </a:r>
            <a:r>
              <a:rPr lang="zh-CN" altLang="en-US" sz="1400" dirty="0"/>
              <a:t>：网页总数</a:t>
            </a:r>
          </a:p>
          <a:p>
            <a:r>
              <a:rPr lang="en-US" altLang="zh-CN" sz="1400" dirty="0"/>
              <a:t>d</a:t>
            </a:r>
            <a:r>
              <a:rPr lang="zh-CN" altLang="en-US" sz="1400" dirty="0"/>
              <a:t>：阻尼因子，常取 </a:t>
            </a:r>
            <a:r>
              <a:rPr lang="en-US" altLang="zh-CN" sz="1400" dirty="0"/>
              <a:t>0.85</a:t>
            </a:r>
          </a:p>
          <a:p>
            <a:r>
              <a:rPr lang="en-US" altLang="zh-CN" sz="1400" dirty="0"/>
              <a:t>1-d/N</a:t>
            </a:r>
            <a:r>
              <a:rPr lang="zh-CN" altLang="en-US" sz="1400" dirty="0"/>
              <a:t>：表示有一部分概率会随机跳转到</a:t>
            </a:r>
            <a:r>
              <a:rPr lang="zh-CN" altLang="en-US" sz="1400" b="1" dirty="0">
                <a:solidFill>
                  <a:srgbClr val="C00000"/>
                </a:solidFill>
              </a:rPr>
              <a:t>任意网页</a:t>
            </a:r>
          </a:p>
        </p:txBody>
      </p:sp>
      <p:sp>
        <p:nvSpPr>
          <p:cNvPr id="77" name="文本框 76">
            <a:extLst>
              <a:ext uri="{FF2B5EF4-FFF2-40B4-BE49-F238E27FC236}">
                <a16:creationId xmlns:a16="http://schemas.microsoft.com/office/drawing/2014/main" id="{B0813784-6B81-97E9-887A-DF4AEAAAFBB2}"/>
              </a:ext>
            </a:extLst>
          </p:cNvPr>
          <p:cNvSpPr txBox="1"/>
          <p:nvPr/>
        </p:nvSpPr>
        <p:spPr>
          <a:xfrm>
            <a:off x="5645054" y="4343954"/>
            <a:ext cx="5952695" cy="2246769"/>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可以把整个过程看成马尔可夫链，定义一个概率向量</a:t>
            </a:r>
            <a:r>
              <a:rPr lang="en-US" altLang="zh-CN" sz="1400" dirty="0">
                <a:latin typeface="微软雅黑" panose="020B0503020204020204" pitchFamily="34" charset="-122"/>
                <a:ea typeface="微软雅黑" panose="020B0503020204020204" pitchFamily="34" charset="-122"/>
              </a:rPr>
              <a:t>Vs</a:t>
            </a:r>
            <a:r>
              <a:rPr lang="zh-CN" altLang="en-US" sz="1400" dirty="0">
                <a:latin typeface="微软雅黑" panose="020B0503020204020204" pitchFamily="34" charset="-122"/>
                <a:ea typeface="微软雅黑" panose="020B0503020204020204" pitchFamily="34" charset="-122"/>
              </a:rPr>
              <a:t>：第 </a:t>
            </a:r>
            <a:r>
              <a:rPr lang="en-US" altLang="zh-CN" sz="1400" dirty="0">
                <a:latin typeface="微软雅黑" panose="020B0503020204020204" pitchFamily="34" charset="-122"/>
                <a:ea typeface="微软雅黑" panose="020B0503020204020204" pitchFamily="34" charset="-122"/>
              </a:rPr>
              <a:t>s </a:t>
            </a:r>
            <a:r>
              <a:rPr lang="zh-CN" altLang="en-US" sz="1400" dirty="0">
                <a:latin typeface="微软雅黑" panose="020B0503020204020204" pitchFamily="34" charset="-122"/>
                <a:ea typeface="微软雅黑" panose="020B0503020204020204" pitchFamily="34" charset="-122"/>
              </a:rPr>
              <a:t>步时，每个网页被访问的概率分布。</a:t>
            </a:r>
          </a:p>
          <a:p>
            <a:r>
              <a:rPr lang="zh-CN" altLang="en-US" sz="1400" dirty="0">
                <a:latin typeface="微软雅黑" panose="020B0503020204020204" pitchFamily="34" charset="-122"/>
                <a:ea typeface="微软雅黑" panose="020B0503020204020204" pitchFamily="34" charset="-122"/>
              </a:rPr>
              <a:t>不断迭代：</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en-US" altLang="zh-CN" sz="1400" dirty="0"/>
              <a:t>M</a:t>
            </a:r>
            <a:r>
              <a:rPr lang="zh-CN" altLang="en-US" sz="1400" dirty="0"/>
              <a:t>：按网页链接定义的转移矩阵</a:t>
            </a:r>
          </a:p>
          <a:p>
            <a:r>
              <a:rPr lang="en-US" altLang="zh-CN" sz="1400" dirty="0"/>
              <a:t>u</a:t>
            </a:r>
            <a:r>
              <a:rPr lang="zh-CN" altLang="en-US" sz="1400" dirty="0"/>
              <a:t>：随机跳转分布，通常是均匀分布</a:t>
            </a:r>
          </a:p>
          <a:p>
            <a:r>
              <a:rPr lang="en-US" altLang="zh-CN" sz="1400" dirty="0"/>
              <a:t>d</a:t>
            </a:r>
            <a:r>
              <a:rPr lang="zh-CN" altLang="en-US" sz="1400" dirty="0"/>
              <a:t>：继续沿链接走的概率</a:t>
            </a:r>
          </a:p>
          <a:p>
            <a:r>
              <a:rPr lang="zh-CN" altLang="en-US" sz="1400" dirty="0">
                <a:latin typeface="微软雅黑" panose="020B0503020204020204" pitchFamily="34" charset="-122"/>
                <a:ea typeface="微软雅黑" panose="020B0503020204020204" pitchFamily="34" charset="-122"/>
              </a:rPr>
              <a:t>经过很多次迭代之后，</a:t>
            </a:r>
            <a:r>
              <a:rPr lang="en-US" altLang="zh-CN" sz="1400" dirty="0">
                <a:latin typeface="微软雅黑" panose="020B0503020204020204" pitchFamily="34" charset="-122"/>
                <a:ea typeface="微软雅黑" panose="020B0503020204020204" pitchFamily="34" charset="-122"/>
              </a:rPr>
              <a:t>Vs</a:t>
            </a:r>
            <a:r>
              <a:rPr lang="zh-CN" altLang="en-US" sz="1400" dirty="0">
                <a:latin typeface="微软雅黑" panose="020B0503020204020204" pitchFamily="34" charset="-122"/>
                <a:ea typeface="微软雅黑" panose="020B0503020204020204" pitchFamily="34" charset="-122"/>
              </a:rPr>
              <a:t>会稳定下来，变成 </a:t>
            </a:r>
            <a:r>
              <a:rPr lang="en-US" altLang="zh-CN" sz="1400" dirty="0">
                <a:latin typeface="微软雅黑" panose="020B0503020204020204" pitchFamily="34" charset="-122"/>
                <a:ea typeface="微软雅黑" panose="020B0503020204020204" pitchFamily="34" charset="-122"/>
              </a:rPr>
              <a:t>V*</a:t>
            </a:r>
            <a:r>
              <a:rPr lang="zh-CN" altLang="en-US" sz="1400" dirty="0">
                <a:latin typeface="微软雅黑" panose="020B0503020204020204" pitchFamily="34" charset="-122"/>
                <a:ea typeface="微软雅黑" panose="020B0503020204020204" pitchFamily="34" charset="-122"/>
              </a:rPr>
              <a:t>，就是 </a:t>
            </a:r>
            <a:r>
              <a:rPr lang="en-US" altLang="zh-CN" sz="1400" dirty="0">
                <a:latin typeface="微软雅黑" panose="020B0503020204020204" pitchFamily="34" charset="-122"/>
                <a:ea typeface="微软雅黑" panose="020B0503020204020204" pitchFamily="34" charset="-122"/>
              </a:rPr>
              <a:t>PageRank </a:t>
            </a:r>
            <a:r>
              <a:rPr lang="zh-CN" altLang="en-US" sz="1400" dirty="0">
                <a:latin typeface="微软雅黑" panose="020B0503020204020204" pitchFamily="34" charset="-122"/>
                <a:ea typeface="微软雅黑" panose="020B0503020204020204" pitchFamily="34" charset="-122"/>
              </a:rPr>
              <a:t>分数。</a:t>
            </a:r>
          </a:p>
          <a:p>
            <a:endParaRPr lang="zh-CN" altLang="en-US" sz="1400" dirty="0">
              <a:latin typeface="微软雅黑" panose="020B0503020204020204" pitchFamily="34" charset="-122"/>
              <a:ea typeface="微软雅黑" panose="020B0503020204020204" pitchFamily="34" charset="-122"/>
            </a:endParaRPr>
          </a:p>
        </p:txBody>
      </p:sp>
      <p:pic>
        <p:nvPicPr>
          <p:cNvPr id="3079" name="Picture 7">
            <a:extLst>
              <a:ext uri="{FF2B5EF4-FFF2-40B4-BE49-F238E27FC236}">
                <a16:creationId xmlns:a16="http://schemas.microsoft.com/office/drawing/2014/main" id="{49AB98DB-2253-AAD9-5463-EBF212CF5955}"/>
              </a:ext>
            </a:extLst>
          </p:cNvPr>
          <p:cNvPicPr>
            <a:picLocks noChangeArrowheads="1"/>
          </p:cNvPicPr>
          <p:nvPr/>
        </p:nvPicPr>
        <p:blipFill rotWithShape="1">
          <a:blip r:embed="rId16">
            <a:extLst>
              <a:ext uri="{28A0092B-C50C-407E-A947-70E740481C1C}">
                <a14:useLocalDpi xmlns:a14="http://schemas.microsoft.com/office/drawing/2010/main" val="0"/>
              </a:ext>
            </a:extLst>
          </a:blip>
          <a:srcRect t="44016" r="8152"/>
          <a:stretch>
            <a:fillRect/>
          </a:stretch>
        </p:blipFill>
        <p:spPr bwMode="auto">
          <a:xfrm>
            <a:off x="7048778" y="5083032"/>
            <a:ext cx="2666444" cy="325935"/>
          </a:xfrm>
          <a:prstGeom prst="rect">
            <a:avLst/>
          </a:prstGeom>
          <a:noFill/>
          <a:extLst>
            <a:ext uri="{909E8E84-426E-40DD-AFC4-6F175D3DCCD1}">
              <a14:hiddenFill xmlns:a14="http://schemas.microsoft.com/office/drawing/2010/main">
                <a:solidFill>
                  <a:srgbClr val="FFFFFF"/>
                </a:solidFill>
              </a14:hiddenFill>
            </a:ext>
          </a:extLst>
        </p:spPr>
      </p:pic>
      <p:sp>
        <p:nvSpPr>
          <p:cNvPr id="88" name="矩形: 圆角 87">
            <a:extLst>
              <a:ext uri="{FF2B5EF4-FFF2-40B4-BE49-F238E27FC236}">
                <a16:creationId xmlns:a16="http://schemas.microsoft.com/office/drawing/2014/main" id="{EB09749C-D5F5-4A69-B3C3-4C54D2E7F5C7}"/>
              </a:ext>
            </a:extLst>
          </p:cNvPr>
          <p:cNvSpPr/>
          <p:nvPr/>
        </p:nvSpPr>
        <p:spPr>
          <a:xfrm>
            <a:off x="4039855" y="2782031"/>
            <a:ext cx="1373905" cy="471382"/>
          </a:xfrm>
          <a:prstGeom prst="roundRect">
            <a:avLst/>
          </a:prstGeom>
          <a:solidFill>
            <a:schemeClr val="accent5">
              <a:lumMod val="20000"/>
              <a:lumOff val="8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拓扑结构</a:t>
            </a:r>
            <a:r>
              <a:rPr lang="zh-CN" altLang="en-US" sz="1400" dirty="0">
                <a:solidFill>
                  <a:schemeClr val="tx1"/>
                </a:solidFill>
                <a:latin typeface="微软雅黑" panose="020B0503020204020204" pitchFamily="34" charset="-122"/>
                <a:ea typeface="微软雅黑" panose="020B0503020204020204" pitchFamily="34" charset="-122"/>
              </a:rPr>
              <a:t>：在网络中的位置</a:t>
            </a:r>
          </a:p>
        </p:txBody>
      </p:sp>
      <p:cxnSp>
        <p:nvCxnSpPr>
          <p:cNvPr id="90" name="直接箭头连接符 89">
            <a:extLst>
              <a:ext uri="{FF2B5EF4-FFF2-40B4-BE49-F238E27FC236}">
                <a16:creationId xmlns:a16="http://schemas.microsoft.com/office/drawing/2014/main" id="{6B5F89D3-D9DF-166C-5E79-3663D6422B51}"/>
              </a:ext>
            </a:extLst>
          </p:cNvPr>
          <p:cNvCxnSpPr>
            <a:stCxn id="35" idx="2"/>
            <a:endCxn id="88" idx="0"/>
          </p:cNvCxnSpPr>
          <p:nvPr/>
        </p:nvCxnSpPr>
        <p:spPr>
          <a:xfrm>
            <a:off x="3136589" y="2695740"/>
            <a:ext cx="1590219" cy="8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矩形: 圆角 92">
            <a:extLst>
              <a:ext uri="{FF2B5EF4-FFF2-40B4-BE49-F238E27FC236}">
                <a16:creationId xmlns:a16="http://schemas.microsoft.com/office/drawing/2014/main" id="{602C7B86-5206-B632-D2C3-BFD57815A66C}"/>
              </a:ext>
            </a:extLst>
          </p:cNvPr>
          <p:cNvSpPr/>
          <p:nvPr/>
        </p:nvSpPr>
        <p:spPr>
          <a:xfrm>
            <a:off x="1684011" y="4126899"/>
            <a:ext cx="750084"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单细胞</a:t>
            </a:r>
          </a:p>
        </p:txBody>
      </p:sp>
      <p:sp>
        <p:nvSpPr>
          <p:cNvPr id="94" name="矩形: 圆角 93">
            <a:extLst>
              <a:ext uri="{FF2B5EF4-FFF2-40B4-BE49-F238E27FC236}">
                <a16:creationId xmlns:a16="http://schemas.microsoft.com/office/drawing/2014/main" id="{E481CC46-E819-814D-A2F6-9DA087AB29DE}"/>
              </a:ext>
            </a:extLst>
          </p:cNvPr>
          <p:cNvSpPr/>
          <p:nvPr/>
        </p:nvSpPr>
        <p:spPr>
          <a:xfrm>
            <a:off x="4019334" y="3938411"/>
            <a:ext cx="1709432" cy="635460"/>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细胞在高维特征空间中的相似性连接</a:t>
            </a:r>
          </a:p>
        </p:txBody>
      </p:sp>
      <p:sp>
        <p:nvSpPr>
          <p:cNvPr id="95" name="矩形: 圆角 94">
            <a:extLst>
              <a:ext uri="{FF2B5EF4-FFF2-40B4-BE49-F238E27FC236}">
                <a16:creationId xmlns:a16="http://schemas.microsoft.com/office/drawing/2014/main" id="{460E9303-227F-F7B4-3BF5-78FF78F86285}"/>
              </a:ext>
            </a:extLst>
          </p:cNvPr>
          <p:cNvSpPr/>
          <p:nvPr/>
        </p:nvSpPr>
        <p:spPr>
          <a:xfrm>
            <a:off x="2375902" y="6436834"/>
            <a:ext cx="1402326"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细胞</a:t>
            </a:r>
            <a:r>
              <a:rPr lang="en-US" altLang="zh-CN" sz="1400" dirty="0">
                <a:solidFill>
                  <a:srgbClr val="C00000"/>
                </a:solidFill>
                <a:latin typeface="微软雅黑" panose="020B0503020204020204" pitchFamily="34" charset="-122"/>
                <a:ea typeface="微软雅黑" panose="020B0503020204020204" pitchFamily="34" charset="-122"/>
              </a:rPr>
              <a:t>-</a:t>
            </a:r>
            <a:r>
              <a:rPr lang="zh-CN" altLang="en-US" sz="1400" dirty="0">
                <a:solidFill>
                  <a:srgbClr val="C00000"/>
                </a:solidFill>
                <a:latin typeface="微软雅黑" panose="020B0503020204020204" pitchFamily="34" charset="-122"/>
                <a:ea typeface="微软雅黑" panose="020B0503020204020204" pitchFamily="34" charset="-122"/>
              </a:rPr>
              <a:t>细胞网络</a:t>
            </a:r>
          </a:p>
        </p:txBody>
      </p:sp>
      <p:sp>
        <p:nvSpPr>
          <p:cNvPr id="96" name="矩形: 圆角 95">
            <a:extLst>
              <a:ext uri="{FF2B5EF4-FFF2-40B4-BE49-F238E27FC236}">
                <a16:creationId xmlns:a16="http://schemas.microsoft.com/office/drawing/2014/main" id="{F32DC2B0-A71F-6760-467A-B6F757F8D7F9}"/>
              </a:ext>
            </a:extLst>
          </p:cNvPr>
          <p:cNvSpPr/>
          <p:nvPr/>
        </p:nvSpPr>
        <p:spPr>
          <a:xfrm>
            <a:off x="10164430" y="4080971"/>
            <a:ext cx="1458928"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重启到种子细胞</a:t>
            </a:r>
          </a:p>
        </p:txBody>
      </p:sp>
      <p:sp>
        <p:nvSpPr>
          <p:cNvPr id="97" name="矩形: 圆角 96">
            <a:extLst>
              <a:ext uri="{FF2B5EF4-FFF2-40B4-BE49-F238E27FC236}">
                <a16:creationId xmlns:a16="http://schemas.microsoft.com/office/drawing/2014/main" id="{5C35A521-DDD5-3C60-EB1B-C03B3BCDA3DD}"/>
              </a:ext>
            </a:extLst>
          </p:cNvPr>
          <p:cNvSpPr/>
          <p:nvPr/>
        </p:nvSpPr>
        <p:spPr>
          <a:xfrm>
            <a:off x="5514609" y="6364412"/>
            <a:ext cx="1609849"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全局</a:t>
            </a:r>
            <a:r>
              <a:rPr lang="en-US" altLang="zh-CN" sz="1400" dirty="0">
                <a:solidFill>
                  <a:srgbClr val="C00000"/>
                </a:solidFill>
                <a:latin typeface="微软雅黑" panose="020B0503020204020204" pitchFamily="34" charset="-122"/>
                <a:ea typeface="微软雅黑" panose="020B0503020204020204" pitchFamily="34" charset="-122"/>
              </a:rPr>
              <a:t>PageRank</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99" name="箭头: 右 98">
            <a:extLst>
              <a:ext uri="{FF2B5EF4-FFF2-40B4-BE49-F238E27FC236}">
                <a16:creationId xmlns:a16="http://schemas.microsoft.com/office/drawing/2014/main" id="{6377F910-4E87-F264-1605-11364729BE5E}"/>
              </a:ext>
            </a:extLst>
          </p:cNvPr>
          <p:cNvSpPr/>
          <p:nvPr/>
        </p:nvSpPr>
        <p:spPr>
          <a:xfrm>
            <a:off x="7117877" y="6436834"/>
            <a:ext cx="205485" cy="157953"/>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圆角 99">
            <a:extLst>
              <a:ext uri="{FF2B5EF4-FFF2-40B4-BE49-F238E27FC236}">
                <a16:creationId xmlns:a16="http://schemas.microsoft.com/office/drawing/2014/main" id="{716A0DD2-1BBE-7F5E-2CA5-FCB62284DDA1}"/>
              </a:ext>
            </a:extLst>
          </p:cNvPr>
          <p:cNvSpPr/>
          <p:nvPr/>
        </p:nvSpPr>
        <p:spPr>
          <a:xfrm>
            <a:off x="7314646" y="6364412"/>
            <a:ext cx="1609849"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个性化</a:t>
            </a:r>
            <a:r>
              <a:rPr lang="en-US" altLang="zh-CN" sz="1400" dirty="0">
                <a:solidFill>
                  <a:srgbClr val="C00000"/>
                </a:solidFill>
                <a:latin typeface="微软雅黑" panose="020B0503020204020204" pitchFamily="34" charset="-122"/>
                <a:ea typeface="微软雅黑" panose="020B0503020204020204" pitchFamily="34" charset="-122"/>
              </a:rPr>
              <a:t>PageRank</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01" name="箭头: 右 100">
            <a:extLst>
              <a:ext uri="{FF2B5EF4-FFF2-40B4-BE49-F238E27FC236}">
                <a16:creationId xmlns:a16="http://schemas.microsoft.com/office/drawing/2014/main" id="{45069CDA-D28A-6D3A-A744-AAF5E097B983}"/>
              </a:ext>
            </a:extLst>
          </p:cNvPr>
          <p:cNvSpPr/>
          <p:nvPr/>
        </p:nvSpPr>
        <p:spPr>
          <a:xfrm>
            <a:off x="8929904" y="6436834"/>
            <a:ext cx="214115" cy="17105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01">
            <a:extLst>
              <a:ext uri="{FF2B5EF4-FFF2-40B4-BE49-F238E27FC236}">
                <a16:creationId xmlns:a16="http://schemas.microsoft.com/office/drawing/2014/main" id="{F0CD372F-E1F3-FBC0-92EF-AC12F0F6BFCA}"/>
              </a:ext>
            </a:extLst>
          </p:cNvPr>
          <p:cNvSpPr/>
          <p:nvPr/>
        </p:nvSpPr>
        <p:spPr>
          <a:xfrm>
            <a:off x="9134170" y="6369588"/>
            <a:ext cx="1326004"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00000"/>
                </a:solidFill>
                <a:latin typeface="微软雅黑" panose="020B0503020204020204" pitchFamily="34" charset="-122"/>
                <a:ea typeface="微软雅黑" panose="020B0503020204020204" pitchFamily="34" charset="-122"/>
              </a:rPr>
              <a:t>应用在细胞图</a:t>
            </a:r>
          </a:p>
        </p:txBody>
      </p:sp>
      <p:sp>
        <p:nvSpPr>
          <p:cNvPr id="103" name="箭头: 右 102">
            <a:extLst>
              <a:ext uri="{FF2B5EF4-FFF2-40B4-BE49-F238E27FC236}">
                <a16:creationId xmlns:a16="http://schemas.microsoft.com/office/drawing/2014/main" id="{639D7720-DC35-91C0-A1D3-F1A1E064EF58}"/>
              </a:ext>
            </a:extLst>
          </p:cNvPr>
          <p:cNvSpPr/>
          <p:nvPr/>
        </p:nvSpPr>
        <p:spPr>
          <a:xfrm>
            <a:off x="10437415" y="6424523"/>
            <a:ext cx="214115" cy="171052"/>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00</a:t>
            </a:r>
            <a:endParaRPr lang="zh-CN" altLang="en-US" dirty="0"/>
          </a:p>
        </p:txBody>
      </p:sp>
      <p:sp>
        <p:nvSpPr>
          <p:cNvPr id="104" name="矩形: 圆角 103">
            <a:extLst>
              <a:ext uri="{FF2B5EF4-FFF2-40B4-BE49-F238E27FC236}">
                <a16:creationId xmlns:a16="http://schemas.microsoft.com/office/drawing/2014/main" id="{C6AD24E4-E163-AFE5-A121-9E9FE2748EDE}"/>
              </a:ext>
            </a:extLst>
          </p:cNvPr>
          <p:cNvSpPr/>
          <p:nvPr/>
        </p:nvSpPr>
        <p:spPr>
          <a:xfrm>
            <a:off x="10643535" y="6364412"/>
            <a:ext cx="1152419"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C00000"/>
                </a:solidFill>
                <a:latin typeface="微软雅黑" panose="020B0503020204020204" pitchFamily="34" charset="-122"/>
                <a:ea typeface="微软雅黑" panose="020B0503020204020204" pitchFamily="34" charset="-122"/>
              </a:rPr>
              <a:t>SCAVENGE</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05" name="矩形: 圆角 104">
            <a:extLst>
              <a:ext uri="{FF2B5EF4-FFF2-40B4-BE49-F238E27FC236}">
                <a16:creationId xmlns:a16="http://schemas.microsoft.com/office/drawing/2014/main" id="{445A414A-4847-C219-3975-E4AEA886333B}"/>
              </a:ext>
            </a:extLst>
          </p:cNvPr>
          <p:cNvSpPr/>
          <p:nvPr/>
        </p:nvSpPr>
        <p:spPr>
          <a:xfrm>
            <a:off x="8534257" y="5743970"/>
            <a:ext cx="3110374" cy="30777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C00000"/>
                </a:solidFill>
                <a:latin typeface="微软雅黑" panose="020B0503020204020204" pitchFamily="34" charset="-122"/>
                <a:ea typeface="微软雅黑" panose="020B0503020204020204" pitchFamily="34" charset="-122"/>
              </a:rPr>
              <a:t>TRS</a:t>
            </a:r>
            <a:r>
              <a:rPr lang="zh-CN" altLang="en-US" sz="1400" dirty="0">
                <a:solidFill>
                  <a:srgbClr val="C00000"/>
                </a:solidFill>
                <a:latin typeface="微软雅黑" panose="020B0503020204020204" pitchFamily="34" charset="-122"/>
                <a:ea typeface="微软雅黑" panose="020B0503020204020204" pitchFamily="34" charset="-122"/>
              </a:rPr>
              <a:t>→每个细胞与性状的相关性分数</a:t>
            </a:r>
          </a:p>
        </p:txBody>
      </p:sp>
    </p:spTree>
    <p:extLst>
      <p:ext uri="{BB962C8B-B14F-4D97-AF65-F5344CB8AC3E}">
        <p14:creationId xmlns:p14="http://schemas.microsoft.com/office/powerpoint/2010/main" val="2278124435"/>
      </p:ext>
    </p:extLst>
  </p:cSld>
  <p:clrMapOvr>
    <a:masterClrMapping/>
  </p:clrMapOvr>
  <mc:AlternateContent xmlns:mc="http://schemas.openxmlformats.org/markup-compatibility/2006" xmlns:p14="http://schemas.microsoft.com/office/powerpoint/2010/main">
    <mc:Choice Requires="p14">
      <p:transition spd="slow" p14:dur="2000" advTm="11846"/>
    </mc:Choice>
    <mc:Fallback xmlns="" xmlns:a14="http://schemas.microsoft.com/office/drawing/2010/main">
      <p:transition spd="slow" advTm="1184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矩形: 圆角 573"/>
          <p:cNvSpPr/>
          <p:nvPr/>
        </p:nvSpPr>
        <p:spPr>
          <a:xfrm>
            <a:off x="339827" y="3945349"/>
            <a:ext cx="4287138" cy="2487794"/>
          </a:xfrm>
          <a:prstGeom prst="roundRect">
            <a:avLst>
              <a:gd name="adj" fmla="val 3704"/>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3" name="矩形: 圆角 572"/>
          <p:cNvSpPr/>
          <p:nvPr/>
        </p:nvSpPr>
        <p:spPr>
          <a:xfrm>
            <a:off x="339827" y="1281624"/>
            <a:ext cx="4279158" cy="2487793"/>
          </a:xfrm>
          <a:prstGeom prst="roundRect">
            <a:avLst>
              <a:gd name="adj" fmla="val 3704"/>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5" name="文本框 504"/>
          <p:cNvSpPr txBox="1"/>
          <p:nvPr/>
        </p:nvSpPr>
        <p:spPr>
          <a:xfrm>
            <a:off x="1472521" y="1157829"/>
            <a:ext cx="1816688"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每细胞非零</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peak</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数</a:t>
            </a:r>
          </a:p>
        </p:txBody>
      </p:sp>
      <p:sp>
        <p:nvSpPr>
          <p:cNvPr id="506" name="矩形: 圆角 505"/>
          <p:cNvSpPr/>
          <p:nvPr/>
        </p:nvSpPr>
        <p:spPr>
          <a:xfrm>
            <a:off x="420200" y="1454858"/>
            <a:ext cx="4119793" cy="581401"/>
          </a:xfrm>
          <a:prstGeom prst="roundRect">
            <a:avLst>
              <a:gd name="adj" fmla="val 4610"/>
            </a:avLst>
          </a:prstGeom>
          <a:solidFill>
            <a:schemeClr val="accent1">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数据规模：</a:t>
            </a:r>
            <a:endParaRPr lang="en-US" altLang="zh-CN" sz="1400" b="1" dirty="0">
              <a:solidFill>
                <a:schemeClr val="tx1"/>
              </a:solidFill>
              <a:latin typeface="微软雅黑" panose="020B0503020204020204" pitchFamily="34" charset="-122"/>
              <a:ea typeface="微软雅黑" panose="020B0503020204020204" pitchFamily="34" charset="-122"/>
            </a:endParaRPr>
          </a:p>
          <a:p>
            <a:r>
              <a:rPr lang="zh-CN" altLang="en-US" sz="1400" dirty="0">
                <a:solidFill>
                  <a:schemeClr val="tx1"/>
                </a:solidFill>
                <a:latin typeface="微软雅黑" panose="020B0503020204020204" pitchFamily="34" charset="-122"/>
                <a:ea typeface="微软雅黑" panose="020B0503020204020204" pitchFamily="34" charset="-122"/>
              </a:rPr>
              <a:t>细胞数：</a:t>
            </a:r>
            <a:r>
              <a:rPr lang="en-US" altLang="zh-CN" sz="1400" dirty="0">
                <a:solidFill>
                  <a:schemeClr val="tx1"/>
                </a:solidFill>
                <a:latin typeface="微软雅黑" panose="020B0503020204020204" pitchFamily="34" charset="-122"/>
                <a:ea typeface="微软雅黑" panose="020B0503020204020204" pitchFamily="34" charset="-122"/>
              </a:rPr>
              <a:t>N=35,038   Peak </a:t>
            </a:r>
            <a:r>
              <a:rPr lang="zh-CN" altLang="en-US" sz="1400" dirty="0">
                <a:solidFill>
                  <a:schemeClr val="tx1"/>
                </a:solidFill>
                <a:latin typeface="微软雅黑" panose="020B0503020204020204" pitchFamily="34" charset="-122"/>
                <a:ea typeface="微软雅黑" panose="020B0503020204020204" pitchFamily="34" charset="-122"/>
              </a:rPr>
              <a:t>数：</a:t>
            </a:r>
            <a:r>
              <a:rPr lang="en-US" altLang="zh-CN" sz="1400" dirty="0">
                <a:solidFill>
                  <a:schemeClr val="tx1"/>
                </a:solidFill>
                <a:latin typeface="微软雅黑" panose="020B0503020204020204" pitchFamily="34" charset="-122"/>
                <a:ea typeface="微软雅黑" panose="020B0503020204020204" pitchFamily="34" charset="-122"/>
              </a:rPr>
              <a:t>P=452,004</a:t>
            </a:r>
          </a:p>
        </p:txBody>
      </p:sp>
      <p:sp>
        <p:nvSpPr>
          <p:cNvPr id="575" name="矩形: 圆角 574"/>
          <p:cNvSpPr/>
          <p:nvPr/>
        </p:nvSpPr>
        <p:spPr>
          <a:xfrm>
            <a:off x="4999481" y="1290862"/>
            <a:ext cx="4207017" cy="5288788"/>
          </a:xfrm>
          <a:prstGeom prst="roundRect">
            <a:avLst>
              <a:gd name="adj" fmla="val 1766"/>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9" name="文本框 548"/>
          <p:cNvSpPr txBox="1"/>
          <p:nvPr/>
        </p:nvSpPr>
        <p:spPr>
          <a:xfrm>
            <a:off x="6747606" y="1162483"/>
            <a:ext cx="858851"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数据分析</a:t>
            </a:r>
          </a:p>
        </p:txBody>
      </p:sp>
      <p:cxnSp>
        <p:nvCxnSpPr>
          <p:cNvPr id="629" name="直接箭头连接符 628"/>
          <p:cNvCxnSpPr/>
          <p:nvPr/>
        </p:nvCxnSpPr>
        <p:spPr>
          <a:xfrm>
            <a:off x="9226879" y="2436981"/>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0" name="直接箭头连接符 629"/>
          <p:cNvCxnSpPr/>
          <p:nvPr/>
        </p:nvCxnSpPr>
        <p:spPr>
          <a:xfrm>
            <a:off x="9226879" y="4096176"/>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1" name="直接箭头连接符 630"/>
          <p:cNvCxnSpPr/>
          <p:nvPr/>
        </p:nvCxnSpPr>
        <p:spPr>
          <a:xfrm>
            <a:off x="9226879" y="5817923"/>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06" name="矩形 605"/>
          <p:cNvSpPr/>
          <p:nvPr/>
        </p:nvSpPr>
        <p:spPr>
          <a:xfrm>
            <a:off x="9762217" y="4315496"/>
            <a:ext cx="1941227" cy="2040854"/>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a:solidFill>
                <a:srgbClr val="EFF1F5"/>
              </a:solidFill>
              <a:latin typeface="微软雅黑" panose="020B0503020204020204" pitchFamily="34" charset="-122"/>
              <a:ea typeface="微软雅黑" panose="020B0503020204020204" pitchFamily="34" charset="-122"/>
            </a:endParaRPr>
          </a:p>
        </p:txBody>
      </p:sp>
      <p:sp>
        <p:nvSpPr>
          <p:cNvPr id="605" name="矩形 604"/>
          <p:cNvSpPr/>
          <p:nvPr/>
        </p:nvSpPr>
        <p:spPr>
          <a:xfrm>
            <a:off x="9771850" y="3167114"/>
            <a:ext cx="1941227" cy="598834"/>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96" name="矩形 595"/>
          <p:cNvSpPr/>
          <p:nvPr/>
        </p:nvSpPr>
        <p:spPr>
          <a:xfrm>
            <a:off x="9762217" y="2034660"/>
            <a:ext cx="1941227" cy="589066"/>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a:solidFill>
                <a:srgbClr val="EFF1F5"/>
              </a:solidFill>
              <a:latin typeface="微软雅黑" panose="020B0503020204020204" pitchFamily="34" charset="-122"/>
              <a:ea typeface="微软雅黑" panose="020B0503020204020204" pitchFamily="34" charset="-122"/>
            </a:endParaRPr>
          </a:p>
        </p:txBody>
      </p:sp>
      <p:sp>
        <p:nvSpPr>
          <p:cNvPr id="551" name="文本框 550"/>
          <p:cNvSpPr txBox="1"/>
          <p:nvPr/>
        </p:nvSpPr>
        <p:spPr>
          <a:xfrm>
            <a:off x="9798332" y="3196285"/>
            <a:ext cx="1871779" cy="531023"/>
          </a:xfrm>
          <a:prstGeom prst="rect">
            <a:avLst/>
          </a:prstGeom>
          <a:noFill/>
          <a:ln w="12700">
            <a:noFill/>
          </a:ln>
        </p:spPr>
        <p:txBody>
          <a:bodyPr wrap="square" lIns="0" tIns="0" rIns="0" bIns="0" rtlCol="0" anchor="ctr" anchorCtr="1">
            <a:no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多数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peaks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只在极少数细胞中被观测到</a:t>
            </a:r>
          </a:p>
        </p:txBody>
      </p:sp>
      <p:sp>
        <p:nvSpPr>
          <p:cNvPr id="552" name="文本框 551"/>
          <p:cNvSpPr txBox="1"/>
          <p:nvPr/>
        </p:nvSpPr>
        <p:spPr>
          <a:xfrm>
            <a:off x="9811318" y="2075911"/>
            <a:ext cx="1832481" cy="477028"/>
          </a:xfrm>
          <a:prstGeom prst="rect">
            <a:avLst/>
          </a:prstGeom>
          <a:noFill/>
          <a:ln w="12700">
            <a:noFill/>
          </a:ln>
        </p:spPr>
        <p:txBody>
          <a:bodyPr wrap="square" lIns="0" tIns="0" rIns="0" bIns="0" rtlCol="0" anchor="ctr" anchorCtr="1">
            <a:no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单个细胞仅覆盖少量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peaks</a:t>
            </a:r>
          </a:p>
        </p:txBody>
      </p:sp>
      <p:sp>
        <p:nvSpPr>
          <p:cNvPr id="554" name="文本框 553"/>
          <p:cNvSpPr txBox="1"/>
          <p:nvPr/>
        </p:nvSpPr>
        <p:spPr>
          <a:xfrm>
            <a:off x="9731848" y="4465088"/>
            <a:ext cx="1938263" cy="1746951"/>
          </a:xfrm>
          <a:prstGeom prst="rect">
            <a:avLst/>
          </a:prstGeom>
          <a:noFill/>
          <a:ln w="12700">
            <a:noFill/>
          </a:ln>
        </p:spPr>
        <p:txBody>
          <a:bodyPr wrap="square" lIns="0" tIns="0" rIns="0" bIns="0" rtlCol="0" anchor="ctr" anchorCtr="1">
            <a:noAutofit/>
          </a:bodyPr>
          <a:lstStyle/>
          <a:p>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数据高度稀疏时，大量“</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值可能反映的是技术掉落而非真实生物学缺失，因此基于原始峰信号的定位与富集分析更容易受到噪声干扰，稳定性也会下降。</a:t>
            </a:r>
          </a:p>
        </p:txBody>
      </p:sp>
      <p:cxnSp>
        <p:nvCxnSpPr>
          <p:cNvPr id="559" name="直接箭头连接符 558"/>
          <p:cNvCxnSpPr>
            <a:cxnSpLocks/>
          </p:cNvCxnSpPr>
          <p:nvPr/>
        </p:nvCxnSpPr>
        <p:spPr>
          <a:xfrm>
            <a:off x="10783553" y="2632873"/>
            <a:ext cx="0" cy="509627"/>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60" name="直接箭头连接符 559"/>
          <p:cNvCxnSpPr>
            <a:cxnSpLocks/>
          </p:cNvCxnSpPr>
          <p:nvPr/>
        </p:nvCxnSpPr>
        <p:spPr>
          <a:xfrm>
            <a:off x="10796457" y="3768518"/>
            <a:ext cx="0" cy="507463"/>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6" name="矩形 575"/>
          <p:cNvSpPr/>
          <p:nvPr/>
        </p:nvSpPr>
        <p:spPr>
          <a:xfrm>
            <a:off x="9658466" y="1289363"/>
            <a:ext cx="2142509" cy="523745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2" name="文本框 631"/>
          <p:cNvSpPr txBox="1"/>
          <p:nvPr/>
        </p:nvSpPr>
        <p:spPr>
          <a:xfrm>
            <a:off x="9771850" y="1454129"/>
            <a:ext cx="1924300" cy="492443"/>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研究结论</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（对下游分析的影响）</a:t>
            </a:r>
          </a:p>
        </p:txBody>
      </p:sp>
      <p:cxnSp>
        <p:nvCxnSpPr>
          <p:cNvPr id="13" name="直接箭头连接符 12"/>
          <p:cNvCxnSpPr/>
          <p:nvPr/>
        </p:nvCxnSpPr>
        <p:spPr>
          <a:xfrm>
            <a:off x="4608880" y="2824732"/>
            <a:ext cx="369880" cy="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a:off x="4608880" y="5210475"/>
            <a:ext cx="369880" cy="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206336" y="3825923"/>
            <a:ext cx="2554119"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每</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peak</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被检测到的细胞比例</a:t>
            </a:r>
          </a:p>
        </p:txBody>
      </p:sp>
      <p:sp>
        <p:nvSpPr>
          <p:cNvPr id="20" name="文本框 19"/>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8</a:t>
            </a:fld>
            <a:endParaRPr lang="zh-CN" altLang="en-US"/>
          </a:p>
        </p:txBody>
      </p:sp>
      <p:sp>
        <p:nvSpPr>
          <p:cNvPr id="5" name="文本框 4"/>
          <p:cNvSpPr txBox="1"/>
          <p:nvPr/>
        </p:nvSpPr>
        <p:spPr>
          <a:xfrm>
            <a:off x="267402" y="727714"/>
            <a:ext cx="11497749"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研究内容一： </a:t>
            </a:r>
            <a:r>
              <a:rPr lang="zh-CN" altLang="en-US" sz="2000" b="1" kern="100" dirty="0">
                <a:latin typeface="微软雅黑" panose="020B0503020204020204" pitchFamily="34" charset="-122"/>
                <a:ea typeface="微软雅黑" panose="020B0503020204020204" pitchFamily="34" charset="-122"/>
              </a:rPr>
              <a:t>数据规模与稀疏性统计（</a:t>
            </a:r>
            <a:r>
              <a:rPr lang="zh-CN" altLang="en-US" sz="2000" dirty="0"/>
              <a:t>约</a:t>
            </a:r>
            <a:r>
              <a:rPr lang="en-US" altLang="zh-CN" sz="2000" dirty="0"/>
              <a:t>3.4</a:t>
            </a:r>
            <a:r>
              <a:rPr lang="zh-CN" altLang="en-US" sz="2000" dirty="0"/>
              <a:t>万个造血 </a:t>
            </a:r>
            <a:r>
              <a:rPr lang="en-US" altLang="zh-CN" sz="2000" dirty="0" err="1"/>
              <a:t>scATAC</a:t>
            </a:r>
            <a:r>
              <a:rPr lang="en-US" altLang="zh-CN" sz="2000" dirty="0"/>
              <a:t>-seq </a:t>
            </a:r>
            <a:r>
              <a:rPr lang="zh-CN" altLang="en-US" sz="2000" dirty="0"/>
              <a:t>细胞</a:t>
            </a:r>
            <a:r>
              <a:rPr lang="zh-CN" altLang="en-US" sz="2000" b="1" kern="100" dirty="0">
                <a:latin typeface="微软雅黑" panose="020B0503020204020204" pitchFamily="34" charset="-122"/>
                <a:ea typeface="微软雅黑" panose="020B0503020204020204" pitchFamily="34" charset="-122"/>
              </a:rPr>
              <a:t>）</a:t>
            </a:r>
          </a:p>
        </p:txBody>
      </p:sp>
      <p:pic>
        <p:nvPicPr>
          <p:cNvPr id="2" name="图片 1">
            <a:extLst>
              <a:ext uri="{FF2B5EF4-FFF2-40B4-BE49-F238E27FC236}">
                <a16:creationId xmlns:a16="http://schemas.microsoft.com/office/drawing/2014/main" id="{C21AF091-500E-C59A-5B40-6BFCE5B78558}"/>
              </a:ext>
            </a:extLst>
          </p:cNvPr>
          <p:cNvPicPr>
            <a:picLocks noChangeAspect="1"/>
          </p:cNvPicPr>
          <p:nvPr/>
        </p:nvPicPr>
        <p:blipFill>
          <a:blip r:embed="rId3"/>
          <a:stretch>
            <a:fillRect/>
          </a:stretch>
        </p:blipFill>
        <p:spPr>
          <a:xfrm>
            <a:off x="0" y="6540163"/>
            <a:ext cx="1019230" cy="296398"/>
          </a:xfrm>
          <a:prstGeom prst="rect">
            <a:avLst/>
          </a:prstGeom>
        </p:spPr>
      </p:pic>
      <p:pic>
        <p:nvPicPr>
          <p:cNvPr id="16" name="图片 15">
            <a:extLst>
              <a:ext uri="{FF2B5EF4-FFF2-40B4-BE49-F238E27FC236}">
                <a16:creationId xmlns:a16="http://schemas.microsoft.com/office/drawing/2014/main" id="{5686D541-7A70-9599-26D5-6943170053EB}"/>
              </a:ext>
            </a:extLst>
          </p:cNvPr>
          <p:cNvPicPr>
            <a:picLocks/>
          </p:cNvPicPr>
          <p:nvPr/>
        </p:nvPicPr>
        <p:blipFill>
          <a:blip r:embed="rId4"/>
          <a:srcRect l="2784"/>
          <a:stretch>
            <a:fillRect/>
          </a:stretch>
        </p:blipFill>
        <p:spPr>
          <a:xfrm>
            <a:off x="391025" y="2100223"/>
            <a:ext cx="2823883" cy="266267"/>
          </a:xfrm>
          <a:prstGeom prst="rect">
            <a:avLst/>
          </a:prstGeom>
        </p:spPr>
      </p:pic>
      <p:pic>
        <p:nvPicPr>
          <p:cNvPr id="18" name="图片 17">
            <a:extLst>
              <a:ext uri="{FF2B5EF4-FFF2-40B4-BE49-F238E27FC236}">
                <a16:creationId xmlns:a16="http://schemas.microsoft.com/office/drawing/2014/main" id="{44C9204C-D36F-16BE-0550-6A9D61882281}"/>
              </a:ext>
            </a:extLst>
          </p:cNvPr>
          <p:cNvPicPr>
            <a:picLocks noChangeAspect="1"/>
          </p:cNvPicPr>
          <p:nvPr/>
        </p:nvPicPr>
        <p:blipFill>
          <a:blip r:embed="rId5"/>
          <a:stretch>
            <a:fillRect/>
          </a:stretch>
        </p:blipFill>
        <p:spPr>
          <a:xfrm>
            <a:off x="1256893" y="2393101"/>
            <a:ext cx="2445025" cy="1058295"/>
          </a:xfrm>
          <a:prstGeom prst="rect">
            <a:avLst/>
          </a:prstGeom>
        </p:spPr>
      </p:pic>
      <p:pic>
        <p:nvPicPr>
          <p:cNvPr id="22" name="图片 21">
            <a:extLst>
              <a:ext uri="{FF2B5EF4-FFF2-40B4-BE49-F238E27FC236}">
                <a16:creationId xmlns:a16="http://schemas.microsoft.com/office/drawing/2014/main" id="{AD79A72B-4DFB-1BEC-F5A3-C26AAF30E383}"/>
              </a:ext>
            </a:extLst>
          </p:cNvPr>
          <p:cNvPicPr>
            <a:picLocks noChangeAspect="1"/>
          </p:cNvPicPr>
          <p:nvPr/>
        </p:nvPicPr>
        <p:blipFill>
          <a:blip r:embed="rId6"/>
          <a:stretch>
            <a:fillRect/>
          </a:stretch>
        </p:blipFill>
        <p:spPr>
          <a:xfrm>
            <a:off x="435760" y="3392477"/>
            <a:ext cx="4087290" cy="210527"/>
          </a:xfrm>
          <a:prstGeom prst="rect">
            <a:avLst/>
          </a:prstGeom>
        </p:spPr>
      </p:pic>
      <p:pic>
        <p:nvPicPr>
          <p:cNvPr id="2053" name="Picture 5">
            <a:extLst>
              <a:ext uri="{FF2B5EF4-FFF2-40B4-BE49-F238E27FC236}">
                <a16:creationId xmlns:a16="http://schemas.microsoft.com/office/drawing/2014/main" id="{CC41ED70-E919-6231-1273-74B61DB134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0136" y="1405857"/>
            <a:ext cx="3875983" cy="2583988"/>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6">
            <a:extLst>
              <a:ext uri="{FF2B5EF4-FFF2-40B4-BE49-F238E27FC236}">
                <a16:creationId xmlns:a16="http://schemas.microsoft.com/office/drawing/2014/main" id="{B98D34BF-9042-43A3-46FE-10D4BCE516DE}"/>
              </a:ext>
            </a:extLst>
          </p:cNvPr>
          <p:cNvSpPr>
            <a:spLocks noChangeArrowheads="1"/>
          </p:cNvSpPr>
          <p:nvPr/>
        </p:nvSpPr>
        <p:spPr bwMode="auto">
          <a:xfrm>
            <a:off x="5097250" y="1378785"/>
            <a:ext cx="26720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28" name="图片 27">
            <a:extLst>
              <a:ext uri="{FF2B5EF4-FFF2-40B4-BE49-F238E27FC236}">
                <a16:creationId xmlns:a16="http://schemas.microsoft.com/office/drawing/2014/main" id="{825CC1D6-904C-74E0-007F-F491543BEA4E}"/>
              </a:ext>
            </a:extLst>
          </p:cNvPr>
          <p:cNvPicPr>
            <a:picLocks noChangeAspect="1"/>
          </p:cNvPicPr>
          <p:nvPr/>
        </p:nvPicPr>
        <p:blipFill>
          <a:blip r:embed="rId8"/>
          <a:stretch>
            <a:fillRect/>
          </a:stretch>
        </p:blipFill>
        <p:spPr>
          <a:xfrm>
            <a:off x="447330" y="4144748"/>
            <a:ext cx="4075720" cy="288880"/>
          </a:xfrm>
          <a:prstGeom prst="rect">
            <a:avLst/>
          </a:prstGeom>
        </p:spPr>
      </p:pic>
      <p:pic>
        <p:nvPicPr>
          <p:cNvPr id="30" name="图片 29">
            <a:extLst>
              <a:ext uri="{FF2B5EF4-FFF2-40B4-BE49-F238E27FC236}">
                <a16:creationId xmlns:a16="http://schemas.microsoft.com/office/drawing/2014/main" id="{59612859-C83A-327B-6608-764305A2C802}"/>
              </a:ext>
            </a:extLst>
          </p:cNvPr>
          <p:cNvPicPr>
            <a:picLocks noChangeAspect="1"/>
          </p:cNvPicPr>
          <p:nvPr/>
        </p:nvPicPr>
        <p:blipFill>
          <a:blip r:embed="rId9"/>
          <a:stretch>
            <a:fillRect/>
          </a:stretch>
        </p:blipFill>
        <p:spPr>
          <a:xfrm>
            <a:off x="1076267" y="4481503"/>
            <a:ext cx="2796174" cy="1080683"/>
          </a:xfrm>
          <a:prstGeom prst="rect">
            <a:avLst/>
          </a:prstGeom>
        </p:spPr>
      </p:pic>
      <p:pic>
        <p:nvPicPr>
          <p:cNvPr id="45" name="图片 44">
            <a:extLst>
              <a:ext uri="{FF2B5EF4-FFF2-40B4-BE49-F238E27FC236}">
                <a16:creationId xmlns:a16="http://schemas.microsoft.com/office/drawing/2014/main" id="{77AB54C3-6C7E-28AC-0204-ED3A39D6B112}"/>
              </a:ext>
            </a:extLst>
          </p:cNvPr>
          <p:cNvPicPr>
            <a:picLocks/>
          </p:cNvPicPr>
          <p:nvPr/>
        </p:nvPicPr>
        <p:blipFill>
          <a:blip r:embed="rId10"/>
          <a:srcRect l="71924" t="15478"/>
          <a:stretch>
            <a:fillRect/>
          </a:stretch>
        </p:blipFill>
        <p:spPr>
          <a:xfrm>
            <a:off x="397603" y="5722069"/>
            <a:ext cx="1522518" cy="218042"/>
          </a:xfrm>
          <a:prstGeom prst="rect">
            <a:avLst/>
          </a:prstGeom>
        </p:spPr>
      </p:pic>
      <p:grpSp>
        <p:nvGrpSpPr>
          <p:cNvPr id="57" name="组合 56">
            <a:extLst>
              <a:ext uri="{FF2B5EF4-FFF2-40B4-BE49-F238E27FC236}">
                <a16:creationId xmlns:a16="http://schemas.microsoft.com/office/drawing/2014/main" id="{052F9270-EECE-54F2-ADAD-93D75525A7EC}"/>
              </a:ext>
            </a:extLst>
          </p:cNvPr>
          <p:cNvGrpSpPr/>
          <p:nvPr/>
        </p:nvGrpSpPr>
        <p:grpSpPr>
          <a:xfrm>
            <a:off x="434848" y="5465299"/>
            <a:ext cx="4038553" cy="717280"/>
            <a:chOff x="434848" y="5465299"/>
            <a:chExt cx="4038553" cy="717280"/>
          </a:xfrm>
        </p:grpSpPr>
        <p:pic>
          <p:nvPicPr>
            <p:cNvPr id="32" name="图片 31">
              <a:extLst>
                <a:ext uri="{FF2B5EF4-FFF2-40B4-BE49-F238E27FC236}">
                  <a16:creationId xmlns:a16="http://schemas.microsoft.com/office/drawing/2014/main" id="{AAFF04CE-6E4C-BD13-27CE-7D46CBBB97F2}"/>
                </a:ext>
              </a:extLst>
            </p:cNvPr>
            <p:cNvPicPr>
              <a:picLocks/>
            </p:cNvPicPr>
            <p:nvPr/>
          </p:nvPicPr>
          <p:blipFill>
            <a:blip r:embed="rId10"/>
            <a:srcRect r="29022" b="-7668"/>
            <a:stretch>
              <a:fillRect/>
            </a:stretch>
          </p:blipFill>
          <p:spPr>
            <a:xfrm>
              <a:off x="436052" y="5465299"/>
              <a:ext cx="3780714" cy="272818"/>
            </a:xfrm>
            <a:prstGeom prst="rect">
              <a:avLst/>
            </a:prstGeom>
          </p:spPr>
        </p:pic>
        <p:pic>
          <p:nvPicPr>
            <p:cNvPr id="47" name="图片 46">
              <a:extLst>
                <a:ext uri="{FF2B5EF4-FFF2-40B4-BE49-F238E27FC236}">
                  <a16:creationId xmlns:a16="http://schemas.microsoft.com/office/drawing/2014/main" id="{BB0DA5AB-A2D2-518E-A3F1-5BEAB1D8E9E0}"/>
                </a:ext>
              </a:extLst>
            </p:cNvPr>
            <p:cNvPicPr>
              <a:picLocks noChangeAspect="1"/>
            </p:cNvPicPr>
            <p:nvPr/>
          </p:nvPicPr>
          <p:blipFill>
            <a:blip r:embed="rId11"/>
            <a:stretch>
              <a:fillRect/>
            </a:stretch>
          </p:blipFill>
          <p:spPr>
            <a:xfrm>
              <a:off x="1869627" y="5722069"/>
              <a:ext cx="2603774" cy="277931"/>
            </a:xfrm>
            <a:prstGeom prst="rect">
              <a:avLst/>
            </a:prstGeom>
          </p:spPr>
        </p:pic>
        <p:pic>
          <p:nvPicPr>
            <p:cNvPr id="50" name="图片 49">
              <a:extLst>
                <a:ext uri="{FF2B5EF4-FFF2-40B4-BE49-F238E27FC236}">
                  <a16:creationId xmlns:a16="http://schemas.microsoft.com/office/drawing/2014/main" id="{F1EBE7F7-63EE-6D06-EC49-01D412335889}"/>
                </a:ext>
              </a:extLst>
            </p:cNvPr>
            <p:cNvPicPr>
              <a:picLocks noChangeAspect="1"/>
            </p:cNvPicPr>
            <p:nvPr/>
          </p:nvPicPr>
          <p:blipFill>
            <a:blip r:embed="rId12"/>
            <a:stretch>
              <a:fillRect/>
            </a:stretch>
          </p:blipFill>
          <p:spPr>
            <a:xfrm>
              <a:off x="434848" y="5935371"/>
              <a:ext cx="3867437" cy="247208"/>
            </a:xfrm>
            <a:prstGeom prst="rect">
              <a:avLst/>
            </a:prstGeom>
          </p:spPr>
        </p:pic>
      </p:grpSp>
      <p:pic>
        <p:nvPicPr>
          <p:cNvPr id="56" name="图片 55">
            <a:extLst>
              <a:ext uri="{FF2B5EF4-FFF2-40B4-BE49-F238E27FC236}">
                <a16:creationId xmlns:a16="http://schemas.microsoft.com/office/drawing/2014/main" id="{313A1BFA-949D-E346-712B-73EB2C4BD4FF}"/>
              </a:ext>
            </a:extLst>
          </p:cNvPr>
          <p:cNvPicPr>
            <a:picLocks noChangeAspect="1"/>
          </p:cNvPicPr>
          <p:nvPr/>
        </p:nvPicPr>
        <p:blipFill>
          <a:blip r:embed="rId13"/>
          <a:stretch>
            <a:fillRect/>
          </a:stretch>
        </p:blipFill>
        <p:spPr>
          <a:xfrm>
            <a:off x="407889" y="6180580"/>
            <a:ext cx="2154956" cy="206326"/>
          </a:xfrm>
          <a:prstGeom prst="rect">
            <a:avLst/>
          </a:prstGeom>
        </p:spPr>
      </p:pic>
      <p:pic>
        <p:nvPicPr>
          <p:cNvPr id="2055" name="Picture 7">
            <a:extLst>
              <a:ext uri="{FF2B5EF4-FFF2-40B4-BE49-F238E27FC236}">
                <a16:creationId xmlns:a16="http://schemas.microsoft.com/office/drawing/2014/main" id="{F4C64FF5-A373-2CF2-D362-E17E480EEE2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64143" y="3970111"/>
            <a:ext cx="3825779" cy="2550519"/>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8">
            <a:extLst>
              <a:ext uri="{FF2B5EF4-FFF2-40B4-BE49-F238E27FC236}">
                <a16:creationId xmlns:a16="http://schemas.microsoft.com/office/drawing/2014/main" id="{B356CF31-CF16-BB80-3DA7-13DF18B796FF}"/>
              </a:ext>
            </a:extLst>
          </p:cNvPr>
          <p:cNvSpPr>
            <a:spLocks noChangeArrowheads="1"/>
          </p:cNvSpPr>
          <p:nvPr/>
        </p:nvSpPr>
        <p:spPr bwMode="auto">
          <a:xfrm flipV="1">
            <a:off x="4820856" y="-4477969"/>
            <a:ext cx="214749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 name="矩形 5">
            <a:extLst>
              <a:ext uri="{FF2B5EF4-FFF2-40B4-BE49-F238E27FC236}">
                <a16:creationId xmlns:a16="http://schemas.microsoft.com/office/drawing/2014/main" id="{F4BEFEA1-7158-83EC-FD37-53F7AA8CAB97}"/>
              </a:ext>
            </a:extLst>
          </p:cNvPr>
          <p:cNvSpPr/>
          <p:nvPr/>
        </p:nvSpPr>
        <p:spPr>
          <a:xfrm>
            <a:off x="7343006"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spTree>
  </p:cSld>
  <p:clrMapOvr>
    <a:masterClrMapping/>
  </p:clrMapOvr>
  <mc:AlternateContent xmlns:mc="http://schemas.openxmlformats.org/markup-compatibility/2006" xmlns:p14="http://schemas.microsoft.com/office/powerpoint/2010/main">
    <mc:Choice Requires="p14">
      <p:transition spd="slow" p14:dur="2000" advTm="66649"/>
    </mc:Choice>
    <mc:Fallback xmlns="" xmlns:a16="http://schemas.microsoft.com/office/drawing/2014/main">
      <p:transition spd="slow" advTm="6664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 name="矩形: 圆角 1052"/>
          <p:cNvSpPr/>
          <p:nvPr/>
        </p:nvSpPr>
        <p:spPr>
          <a:xfrm>
            <a:off x="4539108" y="1289364"/>
            <a:ext cx="3990007" cy="5237452"/>
          </a:xfrm>
          <a:prstGeom prst="roundRect">
            <a:avLst>
              <a:gd name="adj" fmla="val 168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 name="矩形: 圆角 1047"/>
          <p:cNvSpPr/>
          <p:nvPr/>
        </p:nvSpPr>
        <p:spPr>
          <a:xfrm>
            <a:off x="334963" y="1289364"/>
            <a:ext cx="4132139" cy="5237452"/>
          </a:xfrm>
          <a:prstGeom prst="roundRect">
            <a:avLst>
              <a:gd name="adj" fmla="val 168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文本框 1053"/>
          <p:cNvSpPr txBox="1"/>
          <p:nvPr/>
        </p:nvSpPr>
        <p:spPr>
          <a:xfrm>
            <a:off x="1821842" y="1172830"/>
            <a:ext cx="1177760"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预处理阶段</a:t>
            </a:r>
          </a:p>
        </p:txBody>
      </p:sp>
      <p:sp>
        <p:nvSpPr>
          <p:cNvPr id="1055" name="文本框 1054"/>
          <p:cNvSpPr txBox="1"/>
          <p:nvPr/>
        </p:nvSpPr>
        <p:spPr>
          <a:xfrm>
            <a:off x="5813665" y="1188027"/>
            <a:ext cx="1440892"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核心循环阶段</a:t>
            </a:r>
          </a:p>
        </p:txBody>
      </p:sp>
      <p:sp>
        <p:nvSpPr>
          <p:cNvPr id="5" name="文本框 4"/>
          <p:cNvSpPr txBox="1"/>
          <p:nvPr/>
        </p:nvSpPr>
        <p:spPr>
          <a:xfrm>
            <a:off x="9366915"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9</a:t>
            </a:fld>
            <a:endParaRPr lang="zh-CN" altLang="en-US"/>
          </a:p>
        </p:txBody>
      </p:sp>
      <p:sp>
        <p:nvSpPr>
          <p:cNvPr id="56" name="矩形 55"/>
          <p:cNvSpPr/>
          <p:nvPr/>
        </p:nvSpPr>
        <p:spPr>
          <a:xfrm>
            <a:off x="8601120" y="1289363"/>
            <a:ext cx="3207476" cy="523745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67402" y="727714"/>
            <a:ext cx="7751721"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研究内容二：</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真实数据集实验</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latin typeface="微软雅黑" panose="020B0503020204020204" pitchFamily="34" charset="-122"/>
                <a:ea typeface="微软雅黑" panose="020B0503020204020204" pitchFamily="34" charset="-122"/>
              </a:rPr>
              <a:t>血细胞特征富集的系统发现 </a:t>
            </a:r>
          </a:p>
        </p:txBody>
      </p:sp>
      <p:pic>
        <p:nvPicPr>
          <p:cNvPr id="2" name="图片 1">
            <a:extLst>
              <a:ext uri="{FF2B5EF4-FFF2-40B4-BE49-F238E27FC236}">
                <a16:creationId xmlns:a16="http://schemas.microsoft.com/office/drawing/2014/main" id="{4A4868E1-C9CA-BE39-E336-94DE6915009F}"/>
              </a:ext>
            </a:extLst>
          </p:cNvPr>
          <p:cNvPicPr>
            <a:picLocks noChangeAspect="1"/>
          </p:cNvPicPr>
          <p:nvPr/>
        </p:nvPicPr>
        <p:blipFill>
          <a:blip r:embed="rId3"/>
          <a:stretch>
            <a:fillRect/>
          </a:stretch>
        </p:blipFill>
        <p:spPr>
          <a:xfrm>
            <a:off x="0" y="6540163"/>
            <a:ext cx="1019230" cy="296398"/>
          </a:xfrm>
          <a:prstGeom prst="rect">
            <a:avLst/>
          </a:prstGeom>
        </p:spPr>
      </p:pic>
      <p:sp>
        <p:nvSpPr>
          <p:cNvPr id="7" name="矩形 6">
            <a:extLst>
              <a:ext uri="{FF2B5EF4-FFF2-40B4-BE49-F238E27FC236}">
                <a16:creationId xmlns:a16="http://schemas.microsoft.com/office/drawing/2014/main" id="{E1159F8C-5549-FC08-E6C0-07B2AF4BF3E7}"/>
              </a:ext>
            </a:extLst>
          </p:cNvPr>
          <p:cNvSpPr/>
          <p:nvPr/>
        </p:nvSpPr>
        <p:spPr>
          <a:xfrm>
            <a:off x="7343006"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sp>
        <p:nvSpPr>
          <p:cNvPr id="13" name="文本框 12">
            <a:extLst>
              <a:ext uri="{FF2B5EF4-FFF2-40B4-BE49-F238E27FC236}">
                <a16:creationId xmlns:a16="http://schemas.microsoft.com/office/drawing/2014/main" id="{9A918779-6712-B5FD-3B58-FC39FC23A5B6}"/>
              </a:ext>
            </a:extLst>
          </p:cNvPr>
          <p:cNvSpPr txBox="1"/>
          <p:nvPr/>
        </p:nvSpPr>
        <p:spPr>
          <a:xfrm>
            <a:off x="9679620" y="1188026"/>
            <a:ext cx="1050475" cy="246221"/>
          </a:xfrm>
          <a:prstGeom prst="rect">
            <a:avLst/>
          </a:prstGeom>
          <a:solidFill>
            <a:schemeClr val="bg1"/>
          </a:solidFill>
        </p:spPr>
        <p:txBody>
          <a:bodyPr wrap="square" lIns="0" tIns="0" rIns="0" bIns="0"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输出阶段</a:t>
            </a:r>
          </a:p>
        </p:txBody>
      </p:sp>
      <p:sp>
        <p:nvSpPr>
          <p:cNvPr id="15" name="文本框 14">
            <a:extLst>
              <a:ext uri="{FF2B5EF4-FFF2-40B4-BE49-F238E27FC236}">
                <a16:creationId xmlns:a16="http://schemas.microsoft.com/office/drawing/2014/main" id="{E5CD3529-DDAD-2F05-D999-63595179FFB3}"/>
              </a:ext>
            </a:extLst>
          </p:cNvPr>
          <p:cNvSpPr txBox="1"/>
          <p:nvPr/>
        </p:nvSpPr>
        <p:spPr>
          <a:xfrm>
            <a:off x="791757" y="1942882"/>
            <a:ext cx="1177760" cy="396000"/>
          </a:xfrm>
          <a:prstGeom prst="rect">
            <a:avLst/>
          </a:prstGeom>
          <a:noFill/>
          <a:ln w="19050">
            <a:noFill/>
          </a:ln>
        </p:spPr>
        <p:txBody>
          <a:bodyPr wrap="square" lIns="0" tIns="0" rIns="0" bIns="0" rtlCol="0" anchor="ctr" anchorCtr="1">
            <a:noAutofit/>
          </a:bodyPr>
          <a:lstStyle/>
          <a:p>
            <a:pPr algn="ctr"/>
            <a:r>
              <a:rPr lang="zh-CN" altLang="en-US" sz="1400" b="1" dirty="0"/>
              <a:t>遗传变异信息</a:t>
            </a:r>
            <a:endParaRPr lang="zh-CN" altLang="en-US" sz="1400" dirty="0"/>
          </a:p>
        </p:txBody>
      </p:sp>
      <p:grpSp>
        <p:nvGrpSpPr>
          <p:cNvPr id="21" name="组合 20">
            <a:extLst>
              <a:ext uri="{FF2B5EF4-FFF2-40B4-BE49-F238E27FC236}">
                <a16:creationId xmlns:a16="http://schemas.microsoft.com/office/drawing/2014/main" id="{E8B70E63-CF99-7B81-B393-BB446A81CDED}"/>
              </a:ext>
            </a:extLst>
          </p:cNvPr>
          <p:cNvGrpSpPr/>
          <p:nvPr/>
        </p:nvGrpSpPr>
        <p:grpSpPr>
          <a:xfrm>
            <a:off x="521748" y="2294107"/>
            <a:ext cx="1727047" cy="1023260"/>
            <a:chOff x="509614" y="2062413"/>
            <a:chExt cx="1727047" cy="1299158"/>
          </a:xfrm>
        </p:grpSpPr>
        <p:sp>
          <p:nvSpPr>
            <p:cNvPr id="17" name="矩形: 圆角 16">
              <a:extLst>
                <a:ext uri="{FF2B5EF4-FFF2-40B4-BE49-F238E27FC236}">
                  <a16:creationId xmlns:a16="http://schemas.microsoft.com/office/drawing/2014/main" id="{43E44451-9454-C26E-14AF-77A1E47C2409}"/>
                </a:ext>
              </a:extLst>
            </p:cNvPr>
            <p:cNvSpPr/>
            <p:nvPr/>
          </p:nvSpPr>
          <p:spPr>
            <a:xfrm>
              <a:off x="509614" y="2062413"/>
              <a:ext cx="1727047" cy="1299158"/>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FEE226C5-B4B1-5CBC-11B1-FA663943EF4B}"/>
                </a:ext>
              </a:extLst>
            </p:cNvPr>
            <p:cNvSpPr txBox="1"/>
            <p:nvPr/>
          </p:nvSpPr>
          <p:spPr>
            <a:xfrm>
              <a:off x="585991" y="2200621"/>
              <a:ext cx="1574292" cy="800774"/>
            </a:xfrm>
            <a:prstGeom prst="rect">
              <a:avLst/>
            </a:prstGeom>
            <a:solidFill>
              <a:schemeClr val="bg2"/>
            </a:solidFill>
            <a:ln w="19050">
              <a:noFill/>
            </a:ln>
          </p:spPr>
          <p:txBody>
            <a:bodyPr wrap="square" lIns="0" tIns="0" rIns="0" bIns="0" rtlCol="0" anchor="ctr" anchorCtr="1">
              <a:noAutofit/>
            </a:bodyPr>
            <a:lstStyle/>
            <a:p>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GWAS</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数据</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fine-mapping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后得到的候选因果变异</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0A0D69AE-D127-9033-C8BB-C3057D850B1E}"/>
                </a:ext>
              </a:extLst>
            </p:cNvPr>
            <p:cNvSpPr txBox="1"/>
            <p:nvPr/>
          </p:nvSpPr>
          <p:spPr>
            <a:xfrm>
              <a:off x="811047" y="3046598"/>
              <a:ext cx="1124180" cy="269768"/>
            </a:xfrm>
            <a:prstGeom prst="rect">
              <a:avLst/>
            </a:prstGeom>
            <a:noFill/>
            <a:ln w="19050">
              <a:noFill/>
            </a:ln>
          </p:spPr>
          <p:txBody>
            <a:bodyPr wrap="square" lIns="0" tIns="0" rIns="0" bIns="0" rtlCol="0" anchor="ctr" anchorCtr="1">
              <a:no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后验概率（</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PP</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a:t>
              </a:r>
            </a:p>
          </p:txBody>
        </p:sp>
      </p:grpSp>
      <p:sp>
        <p:nvSpPr>
          <p:cNvPr id="19" name="文本框 18">
            <a:extLst>
              <a:ext uri="{FF2B5EF4-FFF2-40B4-BE49-F238E27FC236}">
                <a16:creationId xmlns:a16="http://schemas.microsoft.com/office/drawing/2014/main" id="{5227530F-5A75-2CE1-B3B8-5C16DB32C355}"/>
              </a:ext>
            </a:extLst>
          </p:cNvPr>
          <p:cNvSpPr txBox="1"/>
          <p:nvPr/>
        </p:nvSpPr>
        <p:spPr>
          <a:xfrm>
            <a:off x="1897441" y="1510922"/>
            <a:ext cx="1026562" cy="340089"/>
          </a:xfrm>
          <a:prstGeom prst="rect">
            <a:avLst/>
          </a:prstGeom>
          <a:noFill/>
          <a:ln w="19050">
            <a:noFill/>
          </a:ln>
        </p:spPr>
        <p:txBody>
          <a:bodyPr wrap="square" lIns="0" tIns="0" rIns="0" bIns="0" rtlCol="0" anchor="ctr" anchorCtr="1">
            <a:noAutofit/>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输入数据</a:t>
            </a:r>
          </a:p>
        </p:txBody>
      </p:sp>
      <p:sp>
        <p:nvSpPr>
          <p:cNvPr id="22" name="文本框 21">
            <a:extLst>
              <a:ext uri="{FF2B5EF4-FFF2-40B4-BE49-F238E27FC236}">
                <a16:creationId xmlns:a16="http://schemas.microsoft.com/office/drawing/2014/main" id="{B8629280-9031-BB27-56FC-D54FE45144CD}"/>
              </a:ext>
            </a:extLst>
          </p:cNvPr>
          <p:cNvSpPr txBox="1"/>
          <p:nvPr/>
        </p:nvSpPr>
        <p:spPr>
          <a:xfrm>
            <a:off x="2646098" y="1942882"/>
            <a:ext cx="1591491" cy="396000"/>
          </a:xfrm>
          <a:prstGeom prst="rect">
            <a:avLst/>
          </a:prstGeom>
          <a:noFill/>
          <a:ln w="19050">
            <a:noFill/>
          </a:ln>
        </p:spPr>
        <p:txBody>
          <a:bodyPr wrap="square" lIns="0" tIns="0" rIns="0" bIns="0" rtlCol="0" anchor="ctr" anchorCtr="1">
            <a:noAutofit/>
          </a:bodyPr>
          <a:lstStyle/>
          <a:p>
            <a:pPr algn="ctr"/>
            <a:r>
              <a:rPr lang="zh-CN" altLang="en-US" sz="1400" b="1" dirty="0"/>
              <a:t>单细胞表观组数据</a:t>
            </a:r>
          </a:p>
        </p:txBody>
      </p:sp>
      <p:cxnSp>
        <p:nvCxnSpPr>
          <p:cNvPr id="30" name="直接箭头连接符 29">
            <a:extLst>
              <a:ext uri="{FF2B5EF4-FFF2-40B4-BE49-F238E27FC236}">
                <a16:creationId xmlns:a16="http://schemas.microsoft.com/office/drawing/2014/main" id="{9F024C18-8C47-0E51-944D-A81D45004D53}"/>
              </a:ext>
            </a:extLst>
          </p:cNvPr>
          <p:cNvCxnSpPr>
            <a:cxnSpLocks/>
            <a:endCxn id="22" idx="0"/>
          </p:cNvCxnSpPr>
          <p:nvPr/>
        </p:nvCxnSpPr>
        <p:spPr>
          <a:xfrm>
            <a:off x="2390623" y="1851011"/>
            <a:ext cx="1051221" cy="91871"/>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CA1D9025-6452-9D25-2508-CC5BA15D1D76}"/>
              </a:ext>
            </a:extLst>
          </p:cNvPr>
          <p:cNvCxnSpPr>
            <a:cxnSpLocks/>
            <a:stCxn id="19" idx="2"/>
            <a:endCxn id="15" idx="0"/>
          </p:cNvCxnSpPr>
          <p:nvPr/>
        </p:nvCxnSpPr>
        <p:spPr>
          <a:xfrm flipH="1">
            <a:off x="1380637" y="1851011"/>
            <a:ext cx="1030085" cy="91871"/>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圆角 37">
            <a:extLst>
              <a:ext uri="{FF2B5EF4-FFF2-40B4-BE49-F238E27FC236}">
                <a16:creationId xmlns:a16="http://schemas.microsoft.com/office/drawing/2014/main" id="{88A7ABA6-F5E1-42DC-9298-3F7C080711EE}"/>
              </a:ext>
            </a:extLst>
          </p:cNvPr>
          <p:cNvSpPr/>
          <p:nvPr/>
        </p:nvSpPr>
        <p:spPr>
          <a:xfrm>
            <a:off x="499314" y="3450196"/>
            <a:ext cx="1727047" cy="1023260"/>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EE3FB378-BAC5-DEE9-BA12-D20F42A3C7F1}"/>
              </a:ext>
            </a:extLst>
          </p:cNvPr>
          <p:cNvSpPr txBox="1"/>
          <p:nvPr/>
        </p:nvSpPr>
        <p:spPr>
          <a:xfrm>
            <a:off x="585992" y="3537974"/>
            <a:ext cx="1574292" cy="447155"/>
          </a:xfrm>
          <a:prstGeom prst="rect">
            <a:avLst/>
          </a:prstGeom>
          <a:solidFill>
            <a:schemeClr val="bg2"/>
          </a:solidFill>
          <a:ln w="19050">
            <a:noFill/>
          </a:ln>
        </p:spPr>
        <p:txBody>
          <a:bodyPr wrap="square" lIns="0" tIns="0" rIns="0" bIns="0" rtlCol="0" anchor="ctr" anchorCtr="1">
            <a:noAutofit/>
          </a:bodyPr>
          <a:lstStyle/>
          <a:p>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g-</a:t>
            </a:r>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chromVAR</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计算偏倚校正 </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Z-score</a:t>
            </a:r>
          </a:p>
        </p:txBody>
      </p:sp>
      <p:sp>
        <p:nvSpPr>
          <p:cNvPr id="40" name="文本框 39">
            <a:extLst>
              <a:ext uri="{FF2B5EF4-FFF2-40B4-BE49-F238E27FC236}">
                <a16:creationId xmlns:a16="http://schemas.microsoft.com/office/drawing/2014/main" id="{CC5D57C5-067D-7C5D-6EDA-A8EEEA7D7B7D}"/>
              </a:ext>
            </a:extLst>
          </p:cNvPr>
          <p:cNvSpPr txBox="1"/>
          <p:nvPr/>
        </p:nvSpPr>
        <p:spPr>
          <a:xfrm>
            <a:off x="585992" y="4055474"/>
            <a:ext cx="1574291" cy="313142"/>
          </a:xfrm>
          <a:prstGeom prst="rect">
            <a:avLst/>
          </a:prstGeom>
          <a:noFill/>
          <a:ln w="19050">
            <a:noFill/>
          </a:ln>
        </p:spPr>
        <p:txBody>
          <a:bodyPr wrap="square" lIns="0" tIns="0" rIns="0" bIns="0" rtlCol="0" anchor="ctr" anchorCtr="1">
            <a:no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整合变异概率与染色质可及性</a:t>
            </a:r>
          </a:p>
        </p:txBody>
      </p:sp>
      <p:sp>
        <p:nvSpPr>
          <p:cNvPr id="42" name="矩形: 圆角 41">
            <a:extLst>
              <a:ext uri="{FF2B5EF4-FFF2-40B4-BE49-F238E27FC236}">
                <a16:creationId xmlns:a16="http://schemas.microsoft.com/office/drawing/2014/main" id="{C9BE6CE6-CAD3-99D8-3DD2-8AC8220D4CBA}"/>
              </a:ext>
            </a:extLst>
          </p:cNvPr>
          <p:cNvSpPr/>
          <p:nvPr/>
        </p:nvSpPr>
        <p:spPr>
          <a:xfrm>
            <a:off x="499315" y="4621788"/>
            <a:ext cx="1727047" cy="851413"/>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C3178D2C-C3FA-30A7-59F2-792E04F8DC64}"/>
              </a:ext>
            </a:extLst>
          </p:cNvPr>
          <p:cNvSpPr txBox="1"/>
          <p:nvPr/>
        </p:nvSpPr>
        <p:spPr>
          <a:xfrm>
            <a:off x="593491" y="4708365"/>
            <a:ext cx="1574292" cy="230079"/>
          </a:xfrm>
          <a:prstGeom prst="rect">
            <a:avLst/>
          </a:prstGeom>
          <a:solidFill>
            <a:schemeClr val="bg2"/>
          </a:solidFill>
          <a:ln w="19050">
            <a:noFill/>
          </a:ln>
        </p:spPr>
        <p:txBody>
          <a:bodyPr wrap="square" lIns="0" tIns="0" rIns="0" bIns="0" rtlCol="0" anchor="ctr" anchorCtr="1">
            <a:noAutofit/>
          </a:bodyPr>
          <a:lstStyle/>
          <a:p>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筛选 </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seed cells</a:t>
            </a:r>
          </a:p>
        </p:txBody>
      </p:sp>
      <p:sp>
        <p:nvSpPr>
          <p:cNvPr id="47" name="文本框 46">
            <a:extLst>
              <a:ext uri="{FF2B5EF4-FFF2-40B4-BE49-F238E27FC236}">
                <a16:creationId xmlns:a16="http://schemas.microsoft.com/office/drawing/2014/main" id="{2624A77B-E1C8-EE84-B6ED-2296D2EAA4AA}"/>
              </a:ext>
            </a:extLst>
          </p:cNvPr>
          <p:cNvSpPr txBox="1"/>
          <p:nvPr/>
        </p:nvSpPr>
        <p:spPr>
          <a:xfrm>
            <a:off x="593491" y="5024695"/>
            <a:ext cx="1574292" cy="322383"/>
          </a:xfrm>
          <a:prstGeom prst="rect">
            <a:avLst/>
          </a:prstGeom>
          <a:noFill/>
          <a:ln w="19050">
            <a:noFill/>
          </a:ln>
        </p:spPr>
        <p:txBody>
          <a:bodyPr wrap="square" lIns="0" tIns="0" rIns="0" bIns="0" rtlCol="0" anchor="ctr" anchorCtr="1">
            <a:no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单尾检验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P &lt; 0.05</a:t>
            </a:r>
            <a:b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b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数量过多时保留前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5%</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28" name="组合 1027">
            <a:extLst>
              <a:ext uri="{FF2B5EF4-FFF2-40B4-BE49-F238E27FC236}">
                <a16:creationId xmlns:a16="http://schemas.microsoft.com/office/drawing/2014/main" id="{67E02EA6-C89D-A3F8-A19E-F6B6A7536943}"/>
              </a:ext>
            </a:extLst>
          </p:cNvPr>
          <p:cNvGrpSpPr/>
          <p:nvPr/>
        </p:nvGrpSpPr>
        <p:grpSpPr>
          <a:xfrm>
            <a:off x="2550228" y="2294107"/>
            <a:ext cx="1727047" cy="599414"/>
            <a:chOff x="2550228" y="2294107"/>
            <a:chExt cx="1727047" cy="599414"/>
          </a:xfrm>
        </p:grpSpPr>
        <p:sp>
          <p:nvSpPr>
            <p:cNvPr id="63" name="矩形: 圆角 62">
              <a:extLst>
                <a:ext uri="{FF2B5EF4-FFF2-40B4-BE49-F238E27FC236}">
                  <a16:creationId xmlns:a16="http://schemas.microsoft.com/office/drawing/2014/main" id="{1A426670-8A4A-33F3-F5EE-7A8A9FD8182A}"/>
                </a:ext>
              </a:extLst>
            </p:cNvPr>
            <p:cNvSpPr/>
            <p:nvPr/>
          </p:nvSpPr>
          <p:spPr>
            <a:xfrm>
              <a:off x="2550228" y="2294107"/>
              <a:ext cx="1727047" cy="599414"/>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24" name="文本框 1023">
              <a:extLst>
                <a:ext uri="{FF2B5EF4-FFF2-40B4-BE49-F238E27FC236}">
                  <a16:creationId xmlns:a16="http://schemas.microsoft.com/office/drawing/2014/main" id="{57221160-39CB-CF60-AFFF-A1371C2CAA68}"/>
                </a:ext>
              </a:extLst>
            </p:cNvPr>
            <p:cNvSpPr txBox="1"/>
            <p:nvPr/>
          </p:nvSpPr>
          <p:spPr>
            <a:xfrm>
              <a:off x="2626605" y="2376652"/>
              <a:ext cx="1574292" cy="447155"/>
            </a:xfrm>
            <a:prstGeom prst="rect">
              <a:avLst/>
            </a:prstGeom>
            <a:solidFill>
              <a:schemeClr val="bg2"/>
            </a:solidFill>
            <a:ln w="19050">
              <a:noFill/>
            </a:ln>
          </p:spPr>
          <p:txBody>
            <a:bodyPr wrap="square" lIns="0" tIns="0" rIns="0" bIns="0" rtlCol="0" anchor="ctr" anchorCtr="1">
              <a:noAutofit/>
            </a:bodyPr>
            <a:lstStyle/>
            <a:p>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scATAC</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-seq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特征</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细胞矩阵</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029" name="组合 1028">
            <a:extLst>
              <a:ext uri="{FF2B5EF4-FFF2-40B4-BE49-F238E27FC236}">
                <a16:creationId xmlns:a16="http://schemas.microsoft.com/office/drawing/2014/main" id="{D6F5ED3C-4CFC-9DBB-F47E-8AC7BC00A087}"/>
              </a:ext>
            </a:extLst>
          </p:cNvPr>
          <p:cNvGrpSpPr/>
          <p:nvPr/>
        </p:nvGrpSpPr>
        <p:grpSpPr>
          <a:xfrm>
            <a:off x="2550228" y="3068244"/>
            <a:ext cx="1727047" cy="376954"/>
            <a:chOff x="2550228" y="2294107"/>
            <a:chExt cx="1727047" cy="599414"/>
          </a:xfrm>
        </p:grpSpPr>
        <p:sp>
          <p:nvSpPr>
            <p:cNvPr id="1030" name="矩形: 圆角 1029">
              <a:extLst>
                <a:ext uri="{FF2B5EF4-FFF2-40B4-BE49-F238E27FC236}">
                  <a16:creationId xmlns:a16="http://schemas.microsoft.com/office/drawing/2014/main" id="{073CFC10-1609-5A47-82F6-C5597A4E8AA3}"/>
                </a:ext>
              </a:extLst>
            </p:cNvPr>
            <p:cNvSpPr/>
            <p:nvPr/>
          </p:nvSpPr>
          <p:spPr>
            <a:xfrm>
              <a:off x="2550228" y="2294107"/>
              <a:ext cx="1727047" cy="599414"/>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1" name="文本框 1030">
              <a:extLst>
                <a:ext uri="{FF2B5EF4-FFF2-40B4-BE49-F238E27FC236}">
                  <a16:creationId xmlns:a16="http://schemas.microsoft.com/office/drawing/2014/main" id="{4A61423E-F38D-6949-4D47-DB1F6EEE88A6}"/>
                </a:ext>
              </a:extLst>
            </p:cNvPr>
            <p:cNvSpPr txBox="1"/>
            <p:nvPr/>
          </p:nvSpPr>
          <p:spPr>
            <a:xfrm>
              <a:off x="2626605" y="2376652"/>
              <a:ext cx="1574292" cy="447155"/>
            </a:xfrm>
            <a:prstGeom prst="rect">
              <a:avLst/>
            </a:prstGeom>
            <a:solidFill>
              <a:schemeClr val="bg2"/>
            </a:solidFill>
            <a:ln w="19050">
              <a:noFill/>
            </a:ln>
          </p:spPr>
          <p:txBody>
            <a:bodyPr wrap="square" lIns="0" tIns="0" rIns="0" bIns="0" rtlCol="0" anchor="ctr" anchorCtr="1">
              <a:noAutofit/>
            </a:bodyPr>
            <a:lstStyle/>
            <a:p>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TF-IDF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转换</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35" name="矩形: 圆角 1034">
            <a:extLst>
              <a:ext uri="{FF2B5EF4-FFF2-40B4-BE49-F238E27FC236}">
                <a16:creationId xmlns:a16="http://schemas.microsoft.com/office/drawing/2014/main" id="{3BB77EC2-4EA3-9506-3CE0-DDAB5B8E3866}"/>
              </a:ext>
            </a:extLst>
          </p:cNvPr>
          <p:cNvSpPr/>
          <p:nvPr/>
        </p:nvSpPr>
        <p:spPr>
          <a:xfrm>
            <a:off x="2550228" y="3619921"/>
            <a:ext cx="1727047" cy="663181"/>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6" name="文本框 1035">
            <a:extLst>
              <a:ext uri="{FF2B5EF4-FFF2-40B4-BE49-F238E27FC236}">
                <a16:creationId xmlns:a16="http://schemas.microsoft.com/office/drawing/2014/main" id="{AEC3CB03-F96F-FE6C-AF0E-0863BEE1B1E9}"/>
              </a:ext>
            </a:extLst>
          </p:cNvPr>
          <p:cNvSpPr txBox="1"/>
          <p:nvPr/>
        </p:nvSpPr>
        <p:spPr>
          <a:xfrm>
            <a:off x="2626605" y="3710010"/>
            <a:ext cx="1574292" cy="275119"/>
          </a:xfrm>
          <a:prstGeom prst="rect">
            <a:avLst/>
          </a:prstGeom>
          <a:solidFill>
            <a:schemeClr val="bg2"/>
          </a:solidFill>
          <a:ln w="19050">
            <a:noFill/>
          </a:ln>
        </p:spPr>
        <p:txBody>
          <a:bodyPr wrap="square" lIns="0" tIns="0" rIns="0" bIns="0" rtlCol="0" anchor="ctr" anchorCtr="1">
            <a:noAutofit/>
          </a:bodyPr>
          <a:lstStyle/>
          <a:p>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SVD / LSI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降维表示</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7" name="文本框 1036">
            <a:extLst>
              <a:ext uri="{FF2B5EF4-FFF2-40B4-BE49-F238E27FC236}">
                <a16:creationId xmlns:a16="http://schemas.microsoft.com/office/drawing/2014/main" id="{37652D57-1E4F-4236-3714-272F6D497DB7}"/>
              </a:ext>
            </a:extLst>
          </p:cNvPr>
          <p:cNvSpPr txBox="1"/>
          <p:nvPr/>
        </p:nvSpPr>
        <p:spPr>
          <a:xfrm>
            <a:off x="2626605" y="3969960"/>
            <a:ext cx="1574291" cy="313142"/>
          </a:xfrm>
          <a:prstGeom prst="rect">
            <a:avLst/>
          </a:prstGeom>
          <a:noFill/>
          <a:ln w="19050">
            <a:noFill/>
          </a:ln>
        </p:spPr>
        <p:txBody>
          <a:bodyPr wrap="square" lIns="0" tIns="0" rIns="0" bIns="0" rtlCol="0" anchor="ctr" anchorCtr="1">
            <a:noAutofit/>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获得更稳定的潜在空间</a:t>
            </a:r>
          </a:p>
        </p:txBody>
      </p:sp>
      <p:sp>
        <p:nvSpPr>
          <p:cNvPr id="1038" name="矩形: 圆角 1037">
            <a:extLst>
              <a:ext uri="{FF2B5EF4-FFF2-40B4-BE49-F238E27FC236}">
                <a16:creationId xmlns:a16="http://schemas.microsoft.com/office/drawing/2014/main" id="{B75EB715-90FE-B6C4-3A16-CA728E19C189}"/>
              </a:ext>
            </a:extLst>
          </p:cNvPr>
          <p:cNvSpPr/>
          <p:nvPr/>
        </p:nvSpPr>
        <p:spPr>
          <a:xfrm>
            <a:off x="2550228" y="4457825"/>
            <a:ext cx="1727047" cy="788570"/>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buFont typeface="Arial" panose="020B0604020202020204" pitchFamily="34" charset="0"/>
              <a:buChar char="•"/>
            </a:pPr>
            <a:endParaRPr lang="en-US" altLang="zh-CN" sz="1600" b="1">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9" name="文本框 1038">
            <a:extLst>
              <a:ext uri="{FF2B5EF4-FFF2-40B4-BE49-F238E27FC236}">
                <a16:creationId xmlns:a16="http://schemas.microsoft.com/office/drawing/2014/main" id="{CC419A67-F94B-6999-8F7A-20FF2B290CE3}"/>
              </a:ext>
            </a:extLst>
          </p:cNvPr>
          <p:cNvSpPr txBox="1"/>
          <p:nvPr/>
        </p:nvSpPr>
        <p:spPr>
          <a:xfrm>
            <a:off x="2626605" y="4547914"/>
            <a:ext cx="1574292" cy="390530"/>
          </a:xfrm>
          <a:prstGeom prst="rect">
            <a:avLst/>
          </a:prstGeom>
          <a:solidFill>
            <a:schemeClr val="bg2"/>
          </a:solidFill>
          <a:ln w="19050">
            <a:noFill/>
          </a:ln>
        </p:spPr>
        <p:txBody>
          <a:bodyPr wrap="square" lIns="0" tIns="0" rIns="0" bIns="0" rtlCol="0" anchor="ctr" anchorCtr="1">
            <a:noAutofit/>
          </a:bodyPr>
          <a:lstStyle/>
          <a:p>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构建 </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200" b="1" dirty="0" err="1">
                <a:latin typeface="微软雅黑" panose="020B0503020204020204" pitchFamily="34" charset="-122"/>
                <a:ea typeface="微软雅黑" panose="020B0503020204020204" pitchFamily="34" charset="-122"/>
                <a:cs typeface="Times New Roman" panose="02020603050405020304" pitchFamily="18" charset="0"/>
              </a:rPr>
              <a:t>kNN</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细胞相似性图</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0" name="文本框 1039">
            <a:extLst>
              <a:ext uri="{FF2B5EF4-FFF2-40B4-BE49-F238E27FC236}">
                <a16:creationId xmlns:a16="http://schemas.microsoft.com/office/drawing/2014/main" id="{6E8AF622-64F8-4BA1-4D0D-BF5D05DC87F1}"/>
              </a:ext>
            </a:extLst>
          </p:cNvPr>
          <p:cNvSpPr txBox="1"/>
          <p:nvPr/>
        </p:nvSpPr>
        <p:spPr>
          <a:xfrm>
            <a:off x="2626604" y="4968154"/>
            <a:ext cx="1574291" cy="278241"/>
          </a:xfrm>
          <a:prstGeom prst="rect">
            <a:avLst/>
          </a:prstGeom>
          <a:noFill/>
          <a:ln w="19050">
            <a:noFill/>
          </a:ln>
        </p:spPr>
        <p:txBody>
          <a:bodyPr wrap="square" lIns="0" tIns="0" rIns="0" bIns="0" rtlCol="0" anchor="ctr" anchorCtr="1">
            <a:noAutofit/>
          </a:bodyPr>
          <a:lstStyle/>
          <a:p>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 = 30, k = 30</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47" name="直接箭头连接符 1046">
            <a:extLst>
              <a:ext uri="{FF2B5EF4-FFF2-40B4-BE49-F238E27FC236}">
                <a16:creationId xmlns:a16="http://schemas.microsoft.com/office/drawing/2014/main" id="{953151DF-C1C2-F135-C64B-FF8B474BD210}"/>
              </a:ext>
            </a:extLst>
          </p:cNvPr>
          <p:cNvCxnSpPr/>
          <p:nvPr/>
        </p:nvCxnSpPr>
        <p:spPr>
          <a:xfrm flipH="1">
            <a:off x="1331498" y="3296371"/>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9" name="直接箭头连接符 1048">
            <a:extLst>
              <a:ext uri="{FF2B5EF4-FFF2-40B4-BE49-F238E27FC236}">
                <a16:creationId xmlns:a16="http://schemas.microsoft.com/office/drawing/2014/main" id="{5DB9A38F-7288-FE82-A980-E7C51564E281}"/>
              </a:ext>
            </a:extLst>
          </p:cNvPr>
          <p:cNvCxnSpPr/>
          <p:nvPr/>
        </p:nvCxnSpPr>
        <p:spPr>
          <a:xfrm flipH="1">
            <a:off x="1328673" y="4431183"/>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0" name="直接箭头连接符 1049">
            <a:extLst>
              <a:ext uri="{FF2B5EF4-FFF2-40B4-BE49-F238E27FC236}">
                <a16:creationId xmlns:a16="http://schemas.microsoft.com/office/drawing/2014/main" id="{62ED856A-0AB4-ED08-562F-F06BEB247A84}"/>
              </a:ext>
            </a:extLst>
          </p:cNvPr>
          <p:cNvCxnSpPr/>
          <p:nvPr/>
        </p:nvCxnSpPr>
        <p:spPr>
          <a:xfrm flipH="1">
            <a:off x="3441844" y="2854896"/>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2" name="直接箭头连接符 1051">
            <a:extLst>
              <a:ext uri="{FF2B5EF4-FFF2-40B4-BE49-F238E27FC236}">
                <a16:creationId xmlns:a16="http://schemas.microsoft.com/office/drawing/2014/main" id="{EE5E2217-0EDC-BE80-E146-E8BC36B20D2E}"/>
              </a:ext>
            </a:extLst>
          </p:cNvPr>
          <p:cNvCxnSpPr/>
          <p:nvPr/>
        </p:nvCxnSpPr>
        <p:spPr>
          <a:xfrm flipH="1">
            <a:off x="3441844" y="3401357"/>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8" name="直接箭头连接符 1057">
            <a:extLst>
              <a:ext uri="{FF2B5EF4-FFF2-40B4-BE49-F238E27FC236}">
                <a16:creationId xmlns:a16="http://schemas.microsoft.com/office/drawing/2014/main" id="{BC6F7A8C-A9F1-D47D-A4FC-93CD0148B4E9}"/>
              </a:ext>
            </a:extLst>
          </p:cNvPr>
          <p:cNvCxnSpPr/>
          <p:nvPr/>
        </p:nvCxnSpPr>
        <p:spPr>
          <a:xfrm flipH="1">
            <a:off x="3441844" y="4271620"/>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64" name="组合 1063">
            <a:extLst>
              <a:ext uri="{FF2B5EF4-FFF2-40B4-BE49-F238E27FC236}">
                <a16:creationId xmlns:a16="http://schemas.microsoft.com/office/drawing/2014/main" id="{46AD5B88-AFA4-5399-15BD-5D9464B17112}"/>
              </a:ext>
            </a:extLst>
          </p:cNvPr>
          <p:cNvGrpSpPr/>
          <p:nvPr/>
        </p:nvGrpSpPr>
        <p:grpSpPr>
          <a:xfrm>
            <a:off x="1201097" y="5622565"/>
            <a:ext cx="2379052" cy="787714"/>
            <a:chOff x="521747" y="5568636"/>
            <a:chExt cx="2379052" cy="787714"/>
          </a:xfrm>
        </p:grpSpPr>
        <p:sp>
          <p:nvSpPr>
            <p:cNvPr id="1062" name="矩形 1061">
              <a:extLst>
                <a:ext uri="{FF2B5EF4-FFF2-40B4-BE49-F238E27FC236}">
                  <a16:creationId xmlns:a16="http://schemas.microsoft.com/office/drawing/2014/main" id="{732B4478-64A8-BF95-9BE9-7A5B56F7B762}"/>
                </a:ext>
              </a:extLst>
            </p:cNvPr>
            <p:cNvSpPr/>
            <p:nvPr/>
          </p:nvSpPr>
          <p:spPr>
            <a:xfrm>
              <a:off x="521747" y="5568636"/>
              <a:ext cx="2379051" cy="7877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3" name="文本框 1062">
              <a:extLst>
                <a:ext uri="{FF2B5EF4-FFF2-40B4-BE49-F238E27FC236}">
                  <a16:creationId xmlns:a16="http://schemas.microsoft.com/office/drawing/2014/main" id="{3F7A250F-9246-72E4-64FB-D616C9ED9027}"/>
                </a:ext>
              </a:extLst>
            </p:cNvPr>
            <p:cNvSpPr txBox="1"/>
            <p:nvPr/>
          </p:nvSpPr>
          <p:spPr>
            <a:xfrm>
              <a:off x="585993" y="5611390"/>
              <a:ext cx="2314806" cy="738664"/>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传播前输入</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b="1" dirty="0">
                <a:latin typeface="微软雅黑" panose="020B0503020204020204" pitchFamily="34" charset="-122"/>
                <a:ea typeface="微软雅黑" panose="020B0503020204020204" pitchFamily="34" charset="-122"/>
                <a:cs typeface="Times New Roman" panose="02020603050405020304" pitchFamily="18" charset="0"/>
              </a:endParaRPr>
            </a:p>
            <a:p>
              <a:pPr marL="228600" indent="-228600">
                <a:buFont typeface="+mj-ea"/>
                <a:buAutoNum type="circleNumDbPlain"/>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seed cells</a:t>
              </a:r>
            </a:p>
            <a:p>
              <a:pPr marL="228600" indent="-228600">
                <a:buFont typeface="+mj-ea"/>
                <a:buAutoNum type="circleNumDbPlain"/>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kNN</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细胞相似性图</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框 3">
            <a:extLst>
              <a:ext uri="{FF2B5EF4-FFF2-40B4-BE49-F238E27FC236}">
                <a16:creationId xmlns:a16="http://schemas.microsoft.com/office/drawing/2014/main" id="{D664FE8C-DCCF-E370-E87C-C7B00ED24E3F}"/>
              </a:ext>
            </a:extLst>
          </p:cNvPr>
          <p:cNvSpPr txBox="1"/>
          <p:nvPr/>
        </p:nvSpPr>
        <p:spPr>
          <a:xfrm>
            <a:off x="5506565" y="1416401"/>
            <a:ext cx="2055091" cy="340089"/>
          </a:xfrm>
          <a:prstGeom prst="rect">
            <a:avLst/>
          </a:prstGeom>
          <a:noFill/>
          <a:ln w="19050">
            <a:noFill/>
          </a:ln>
        </p:spPr>
        <p:txBody>
          <a:bodyPr wrap="square" lIns="0" tIns="0" rIns="0" bIns="0" rtlCol="0" anchor="ctr" anchorCtr="1">
            <a:noAutofit/>
          </a:bodyPr>
          <a:lstStyle/>
          <a:p>
            <a:pPr algn="ctr"/>
            <a:r>
              <a:rPr lang="zh-CN" altLang="en-US" sz="1400" b="1" dirty="0">
                <a:latin typeface="微软雅黑" panose="020B0503020204020204" pitchFamily="34" charset="-122"/>
                <a:ea typeface="微软雅黑" panose="020B0503020204020204" pitchFamily="34" charset="-122"/>
              </a:rPr>
              <a:t>本次分析涵盖</a:t>
            </a:r>
            <a:r>
              <a:rPr lang="en-US" altLang="zh-CN" sz="1400" b="1" dirty="0">
                <a:latin typeface="微软雅黑" panose="020B0503020204020204" pitchFamily="34" charset="-122"/>
                <a:ea typeface="微软雅黑" panose="020B0503020204020204" pitchFamily="34" charset="-122"/>
              </a:rPr>
              <a:t>15</a:t>
            </a:r>
            <a:r>
              <a:rPr lang="zh-CN" altLang="en-US" sz="1400" b="1" dirty="0">
                <a:latin typeface="微软雅黑" panose="020B0503020204020204" pitchFamily="34" charset="-122"/>
                <a:ea typeface="微软雅黑" panose="020B0503020204020204" pitchFamily="34" charset="-122"/>
              </a:rPr>
              <a:t>个性状</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cxnSp>
        <p:nvCxnSpPr>
          <p:cNvPr id="6" name="直接箭头连接符 5">
            <a:extLst>
              <a:ext uri="{FF2B5EF4-FFF2-40B4-BE49-F238E27FC236}">
                <a16:creationId xmlns:a16="http://schemas.microsoft.com/office/drawing/2014/main" id="{BC38CF78-3C36-6E41-6C89-EFB1E66C28C4}"/>
              </a:ext>
            </a:extLst>
          </p:cNvPr>
          <p:cNvCxnSpPr/>
          <p:nvPr/>
        </p:nvCxnSpPr>
        <p:spPr>
          <a:xfrm flipH="1">
            <a:off x="6514375" y="1749912"/>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FE6DCE69-0425-34BB-7C7E-5B8CCDF8EC10}"/>
              </a:ext>
            </a:extLst>
          </p:cNvPr>
          <p:cNvSpPr/>
          <p:nvPr/>
        </p:nvSpPr>
        <p:spPr>
          <a:xfrm>
            <a:off x="4635870" y="2034904"/>
            <a:ext cx="3796479" cy="43690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EAD3D2A-9E79-5743-C805-FE414A4B34B0}"/>
              </a:ext>
            </a:extLst>
          </p:cNvPr>
          <p:cNvSpPr/>
          <p:nvPr/>
        </p:nvSpPr>
        <p:spPr>
          <a:xfrm>
            <a:off x="4635870" y="1709127"/>
            <a:ext cx="1758352" cy="326794"/>
          </a:xfrm>
          <a:prstGeom prst="rect">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对每个</a:t>
            </a:r>
            <a:r>
              <a:rPr lang="en-US" altLang="zh-CN" sz="1400" b="1" dirty="0">
                <a:solidFill>
                  <a:schemeClr val="tx1"/>
                </a:solidFill>
              </a:rPr>
              <a:t>trait</a:t>
            </a:r>
            <a:r>
              <a:rPr lang="zh-CN" altLang="en-US" sz="1400" b="1" dirty="0">
                <a:solidFill>
                  <a:schemeClr val="tx1"/>
                </a:solidFill>
              </a:rPr>
              <a:t>循环执行</a:t>
            </a:r>
          </a:p>
        </p:txBody>
      </p:sp>
      <p:sp>
        <p:nvSpPr>
          <p:cNvPr id="24" name="矩形 23">
            <a:extLst>
              <a:ext uri="{FF2B5EF4-FFF2-40B4-BE49-F238E27FC236}">
                <a16:creationId xmlns:a16="http://schemas.microsoft.com/office/drawing/2014/main" id="{4C5B2040-79A8-0405-E639-B3D618EE3373}"/>
              </a:ext>
            </a:extLst>
          </p:cNvPr>
          <p:cNvSpPr/>
          <p:nvPr/>
        </p:nvSpPr>
        <p:spPr>
          <a:xfrm>
            <a:off x="4707875" y="2115734"/>
            <a:ext cx="3652468" cy="326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第一步：提取当前 </a:t>
            </a:r>
            <a:r>
              <a:rPr lang="en-US" altLang="zh-CN" sz="1400" b="1" dirty="0">
                <a:solidFill>
                  <a:schemeClr val="tx1"/>
                </a:solidFill>
              </a:rPr>
              <a:t>trait </a:t>
            </a:r>
            <a:r>
              <a:rPr lang="zh-CN" altLang="en-US" sz="1400" b="1" dirty="0">
                <a:solidFill>
                  <a:schemeClr val="tx1"/>
                </a:solidFill>
              </a:rPr>
              <a:t>的遗传信号</a:t>
            </a:r>
          </a:p>
        </p:txBody>
      </p:sp>
      <p:sp>
        <p:nvSpPr>
          <p:cNvPr id="25" name="矩形 24">
            <a:extLst>
              <a:ext uri="{FF2B5EF4-FFF2-40B4-BE49-F238E27FC236}">
                <a16:creationId xmlns:a16="http://schemas.microsoft.com/office/drawing/2014/main" id="{01C1C5B7-28FD-EC86-6308-CAEFDE7AD2F0}"/>
              </a:ext>
            </a:extLst>
          </p:cNvPr>
          <p:cNvSpPr/>
          <p:nvPr/>
        </p:nvSpPr>
        <p:spPr>
          <a:xfrm>
            <a:off x="4707875" y="3203538"/>
            <a:ext cx="3652468" cy="502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第二步：计算这个 </a:t>
            </a:r>
            <a:r>
              <a:rPr lang="en-US" altLang="zh-CN" sz="1400" b="1" dirty="0">
                <a:solidFill>
                  <a:schemeClr val="tx1"/>
                </a:solidFill>
              </a:rPr>
              <a:t>trait </a:t>
            </a:r>
            <a:r>
              <a:rPr lang="zh-CN" altLang="en-US" sz="1400" b="1" dirty="0">
                <a:solidFill>
                  <a:schemeClr val="tx1"/>
                </a:solidFill>
              </a:rPr>
              <a:t>在每个细胞里的“原始富集程度”</a:t>
            </a:r>
          </a:p>
        </p:txBody>
      </p:sp>
      <p:sp>
        <p:nvSpPr>
          <p:cNvPr id="26" name="矩形 25">
            <a:extLst>
              <a:ext uri="{FF2B5EF4-FFF2-40B4-BE49-F238E27FC236}">
                <a16:creationId xmlns:a16="http://schemas.microsoft.com/office/drawing/2014/main" id="{7FEBE704-F579-DA48-F95E-5A5FB742B7BD}"/>
              </a:ext>
            </a:extLst>
          </p:cNvPr>
          <p:cNvSpPr/>
          <p:nvPr/>
        </p:nvSpPr>
        <p:spPr>
          <a:xfrm>
            <a:off x="4707875" y="4473231"/>
            <a:ext cx="3652468" cy="324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第三步：挑出 </a:t>
            </a:r>
            <a:r>
              <a:rPr lang="en-US" altLang="zh-CN" sz="1400" b="1" dirty="0">
                <a:solidFill>
                  <a:schemeClr val="tx1"/>
                </a:solidFill>
              </a:rPr>
              <a:t>seed cells</a:t>
            </a:r>
            <a:endParaRPr lang="zh-CN" altLang="en-US" sz="1400" b="1" dirty="0">
              <a:solidFill>
                <a:schemeClr val="tx1"/>
              </a:solidFill>
            </a:endParaRPr>
          </a:p>
        </p:txBody>
      </p:sp>
      <p:sp>
        <p:nvSpPr>
          <p:cNvPr id="27" name="矩形 26">
            <a:extLst>
              <a:ext uri="{FF2B5EF4-FFF2-40B4-BE49-F238E27FC236}">
                <a16:creationId xmlns:a16="http://schemas.microsoft.com/office/drawing/2014/main" id="{7F425EDB-229A-524A-877D-D424CF4EC338}"/>
              </a:ext>
            </a:extLst>
          </p:cNvPr>
          <p:cNvSpPr/>
          <p:nvPr/>
        </p:nvSpPr>
        <p:spPr>
          <a:xfrm>
            <a:off x="4707875" y="5341378"/>
            <a:ext cx="3652468" cy="324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第四步：在细胞相似图上做传播</a:t>
            </a:r>
          </a:p>
        </p:txBody>
      </p:sp>
      <p:sp>
        <p:nvSpPr>
          <p:cNvPr id="28" name="矩形 27">
            <a:extLst>
              <a:ext uri="{FF2B5EF4-FFF2-40B4-BE49-F238E27FC236}">
                <a16:creationId xmlns:a16="http://schemas.microsoft.com/office/drawing/2014/main" id="{15A33F6C-30D7-794D-679A-F524614DB77B}"/>
              </a:ext>
            </a:extLst>
          </p:cNvPr>
          <p:cNvSpPr/>
          <p:nvPr/>
        </p:nvSpPr>
        <p:spPr>
          <a:xfrm>
            <a:off x="4707875" y="5969401"/>
            <a:ext cx="3652468" cy="324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第五步：把传播结果整理成最终 </a:t>
            </a:r>
            <a:r>
              <a:rPr lang="en-US" altLang="zh-CN" sz="1400" b="1" dirty="0">
                <a:solidFill>
                  <a:schemeClr val="tx1"/>
                </a:solidFill>
              </a:rPr>
              <a:t>TRS</a:t>
            </a:r>
            <a:endParaRPr lang="zh-CN" altLang="en-US" sz="1400" b="1" dirty="0">
              <a:solidFill>
                <a:schemeClr val="tx1"/>
              </a:solidFill>
            </a:endParaRPr>
          </a:p>
        </p:txBody>
      </p:sp>
      <p:sp>
        <p:nvSpPr>
          <p:cNvPr id="29" name="文本框 28">
            <a:extLst>
              <a:ext uri="{FF2B5EF4-FFF2-40B4-BE49-F238E27FC236}">
                <a16:creationId xmlns:a16="http://schemas.microsoft.com/office/drawing/2014/main" id="{A6171B51-ED3F-41C1-7C4A-F424F616D145}"/>
              </a:ext>
            </a:extLst>
          </p:cNvPr>
          <p:cNvSpPr txBox="1"/>
          <p:nvPr/>
        </p:nvSpPr>
        <p:spPr>
          <a:xfrm>
            <a:off x="4707875" y="2442528"/>
            <a:ext cx="3652468" cy="523220"/>
          </a:xfrm>
          <a:prstGeom prst="rect">
            <a:avLst/>
          </a:prstGeom>
          <a:noFill/>
        </p:spPr>
        <p:txBody>
          <a:bodyPr wrap="square" rtlCol="0">
            <a:spAutoFit/>
          </a:bodyPr>
          <a:lstStyle/>
          <a:p>
            <a:pPr algn="ctr"/>
            <a:r>
              <a:rPr lang="zh-CN" altLang="en-US" sz="1400" i="1" dirty="0"/>
              <a:t>先从总的 </a:t>
            </a:r>
            <a:r>
              <a:rPr lang="en-US" altLang="zh-CN" sz="1400" i="1" dirty="0"/>
              <a:t>GWAS/fine-mapping </a:t>
            </a:r>
            <a:r>
              <a:rPr lang="zh-CN" altLang="en-US" sz="1400" i="1" dirty="0"/>
              <a:t>结果里，拿出这个 </a:t>
            </a:r>
            <a:r>
              <a:rPr lang="en-US" altLang="zh-CN" sz="1400" i="1" dirty="0"/>
              <a:t>trait </a:t>
            </a:r>
            <a:r>
              <a:rPr lang="zh-CN" altLang="en-US" sz="1400" i="1" dirty="0"/>
              <a:t>对应的候选变异及其概率</a:t>
            </a:r>
            <a:r>
              <a:rPr lang="en-US" altLang="zh-CN" sz="1400" i="1" dirty="0"/>
              <a:t>/</a:t>
            </a:r>
            <a:r>
              <a:rPr lang="zh-CN" altLang="en-US" sz="1400" i="1" dirty="0"/>
              <a:t>权重。</a:t>
            </a:r>
          </a:p>
        </p:txBody>
      </p:sp>
      <p:cxnSp>
        <p:nvCxnSpPr>
          <p:cNvPr id="31" name="直接箭头连接符 30">
            <a:extLst>
              <a:ext uri="{FF2B5EF4-FFF2-40B4-BE49-F238E27FC236}">
                <a16:creationId xmlns:a16="http://schemas.microsoft.com/office/drawing/2014/main" id="{F3EB2D79-5234-BD73-7227-100E280CBBF4}"/>
              </a:ext>
            </a:extLst>
          </p:cNvPr>
          <p:cNvCxnSpPr/>
          <p:nvPr/>
        </p:nvCxnSpPr>
        <p:spPr>
          <a:xfrm flipH="1">
            <a:off x="6522693" y="2935615"/>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00CD1A2D-DD4E-7300-4AE3-8EA9D0D4E1EE}"/>
              </a:ext>
            </a:extLst>
          </p:cNvPr>
          <p:cNvSpPr txBox="1"/>
          <p:nvPr/>
        </p:nvSpPr>
        <p:spPr>
          <a:xfrm>
            <a:off x="4707875" y="3695226"/>
            <a:ext cx="3652468" cy="523220"/>
          </a:xfrm>
          <a:prstGeom prst="rect">
            <a:avLst/>
          </a:prstGeom>
          <a:noFill/>
        </p:spPr>
        <p:txBody>
          <a:bodyPr wrap="square" rtlCol="0">
            <a:spAutoFit/>
          </a:bodyPr>
          <a:lstStyle/>
          <a:p>
            <a:pPr algn="ctr"/>
            <a:r>
              <a:rPr lang="zh-CN" altLang="en-US" sz="1400" i="1" dirty="0"/>
              <a:t>把 </a:t>
            </a:r>
            <a:r>
              <a:rPr lang="en-US" altLang="zh-CN" sz="1400" i="1" dirty="0"/>
              <a:t>trait </a:t>
            </a:r>
            <a:r>
              <a:rPr lang="zh-CN" altLang="en-US" sz="1400" i="1" dirty="0"/>
              <a:t>的变异权重映射到单细胞 </a:t>
            </a:r>
            <a:r>
              <a:rPr lang="en-US" altLang="zh-CN" sz="1400" i="1" dirty="0"/>
              <a:t>ATAC </a:t>
            </a:r>
            <a:r>
              <a:rPr lang="zh-CN" altLang="en-US" sz="1400" i="1" dirty="0"/>
              <a:t>的 </a:t>
            </a:r>
            <a:r>
              <a:rPr lang="en-US" altLang="zh-CN" sz="1400" i="1" dirty="0"/>
              <a:t>peak </a:t>
            </a:r>
            <a:r>
              <a:rPr lang="zh-CN" altLang="en-US" sz="1400" i="1" dirty="0"/>
              <a:t>上，计算每个细胞的富集 </a:t>
            </a:r>
            <a:r>
              <a:rPr lang="en-US" altLang="zh-CN" sz="1400" i="1" dirty="0"/>
              <a:t>z-score</a:t>
            </a:r>
            <a:r>
              <a:rPr lang="zh-CN" altLang="en-US" sz="1400" i="1" dirty="0"/>
              <a:t>。</a:t>
            </a:r>
          </a:p>
        </p:txBody>
      </p:sp>
      <p:cxnSp>
        <p:nvCxnSpPr>
          <p:cNvPr id="34" name="直接箭头连接符 33">
            <a:extLst>
              <a:ext uri="{FF2B5EF4-FFF2-40B4-BE49-F238E27FC236}">
                <a16:creationId xmlns:a16="http://schemas.microsoft.com/office/drawing/2014/main" id="{9AEF22D9-602A-7A8E-B28E-BE8BD8A669F7}"/>
              </a:ext>
            </a:extLst>
          </p:cNvPr>
          <p:cNvCxnSpPr/>
          <p:nvPr/>
        </p:nvCxnSpPr>
        <p:spPr>
          <a:xfrm flipH="1">
            <a:off x="6534109" y="4192567"/>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5EEE182-BC18-02E5-1754-64FFD8387BCB}"/>
              </a:ext>
            </a:extLst>
          </p:cNvPr>
          <p:cNvSpPr txBox="1"/>
          <p:nvPr/>
        </p:nvSpPr>
        <p:spPr>
          <a:xfrm>
            <a:off x="4688141" y="4803884"/>
            <a:ext cx="3652468" cy="307777"/>
          </a:xfrm>
          <a:prstGeom prst="rect">
            <a:avLst/>
          </a:prstGeom>
          <a:noFill/>
        </p:spPr>
        <p:txBody>
          <a:bodyPr wrap="square" rtlCol="0">
            <a:spAutoFit/>
          </a:bodyPr>
          <a:lstStyle/>
          <a:p>
            <a:pPr algn="ctr"/>
            <a:r>
              <a:rPr lang="zh-CN" altLang="en-US" sz="1400" i="1" dirty="0"/>
              <a:t>从 </a:t>
            </a:r>
            <a:r>
              <a:rPr lang="en-US" altLang="zh-CN" sz="1400" i="1" dirty="0"/>
              <a:t>z-score </a:t>
            </a:r>
            <a:r>
              <a:rPr lang="zh-CN" altLang="en-US" sz="1400" i="1" dirty="0"/>
              <a:t>最高的一批细胞里，选出 </a:t>
            </a:r>
            <a:r>
              <a:rPr lang="en-US" altLang="zh-CN" sz="1400" i="1" dirty="0"/>
              <a:t>seed cells</a:t>
            </a:r>
            <a:r>
              <a:rPr lang="zh-CN" altLang="en-US" sz="1400" i="1" dirty="0"/>
              <a:t>。</a:t>
            </a:r>
          </a:p>
        </p:txBody>
      </p:sp>
      <p:cxnSp>
        <p:nvCxnSpPr>
          <p:cNvPr id="36" name="直接箭头连接符 35">
            <a:extLst>
              <a:ext uri="{FF2B5EF4-FFF2-40B4-BE49-F238E27FC236}">
                <a16:creationId xmlns:a16="http://schemas.microsoft.com/office/drawing/2014/main" id="{A9EA6899-696A-9FCA-CC74-8DCD42223639}"/>
              </a:ext>
            </a:extLst>
          </p:cNvPr>
          <p:cNvCxnSpPr/>
          <p:nvPr/>
        </p:nvCxnSpPr>
        <p:spPr>
          <a:xfrm flipH="1">
            <a:off x="6534109" y="5081820"/>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9A9897E5-237D-89C1-6108-68C93C73D94B}"/>
              </a:ext>
            </a:extLst>
          </p:cNvPr>
          <p:cNvCxnSpPr/>
          <p:nvPr/>
        </p:nvCxnSpPr>
        <p:spPr>
          <a:xfrm flipH="1">
            <a:off x="6532108" y="5678475"/>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41B6A1E8-ED12-4AFA-571F-4A34BA6D66B7}"/>
              </a:ext>
            </a:extLst>
          </p:cNvPr>
          <p:cNvSpPr txBox="1"/>
          <p:nvPr/>
        </p:nvSpPr>
        <p:spPr>
          <a:xfrm>
            <a:off x="8699185" y="1453981"/>
            <a:ext cx="3011343" cy="340089"/>
          </a:xfrm>
          <a:prstGeom prst="rect">
            <a:avLst/>
          </a:prstGeom>
          <a:noFill/>
          <a:ln w="19050">
            <a:noFill/>
          </a:ln>
        </p:spPr>
        <p:txBody>
          <a:bodyPr wrap="square" lIns="0" tIns="0" rIns="0" bIns="0" rtlCol="0" anchor="ctr" anchorCtr="1">
            <a:noAutofit/>
          </a:bodyPr>
          <a:lstStyle/>
          <a:p>
            <a:pPr algn="ctr"/>
            <a:r>
              <a:rPr lang="zh-CN" altLang="en-US" sz="1400" b="1" dirty="0">
                <a:latin typeface="微软雅黑" panose="020B0503020204020204" pitchFamily="34" charset="-122"/>
                <a:ea typeface="微软雅黑" panose="020B0503020204020204" pitchFamily="34" charset="-122"/>
              </a:rPr>
              <a:t>单性状独立结果→单性状多维可视化：</a:t>
            </a:r>
          </a:p>
        </p:txBody>
      </p:sp>
      <p:sp>
        <p:nvSpPr>
          <p:cNvPr id="44" name="文本框 43">
            <a:extLst>
              <a:ext uri="{FF2B5EF4-FFF2-40B4-BE49-F238E27FC236}">
                <a16:creationId xmlns:a16="http://schemas.microsoft.com/office/drawing/2014/main" id="{496417A9-E641-EB4E-262D-5907B60F7A12}"/>
              </a:ext>
            </a:extLst>
          </p:cNvPr>
          <p:cNvSpPr txBox="1"/>
          <p:nvPr/>
        </p:nvSpPr>
        <p:spPr>
          <a:xfrm>
            <a:off x="8650152" y="1721022"/>
            <a:ext cx="3109408" cy="3785652"/>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a_celltype_umap.png</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t>基础 </a:t>
            </a:r>
            <a:r>
              <a:rPr lang="en-US" altLang="zh-CN" sz="1400" dirty="0"/>
              <a:t>UMAP </a:t>
            </a:r>
            <a:r>
              <a:rPr lang="zh-CN" altLang="en-US" sz="1400" dirty="0"/>
              <a:t>图，按细胞类型着色，用于展示数据集的基础流形结构。</a:t>
            </a:r>
            <a:endParaRPr lang="en-US" altLang="zh-CN" sz="1400" dirty="0"/>
          </a:p>
          <a:p>
            <a:r>
              <a:rPr lang="en-US" altLang="zh-CN" b="1" dirty="0"/>
              <a:t>b_zscore_umap.png</a:t>
            </a:r>
            <a:r>
              <a:rPr lang="zh-CN" altLang="en-US" sz="1400" dirty="0"/>
              <a:t>：传统 </a:t>
            </a:r>
            <a:r>
              <a:rPr lang="en-US" altLang="zh-CN" sz="1400" dirty="0"/>
              <a:t>Z-score </a:t>
            </a:r>
            <a:r>
              <a:rPr lang="zh-CN" altLang="en-US" sz="1400" dirty="0"/>
              <a:t>投射的 </a:t>
            </a:r>
            <a:r>
              <a:rPr lang="en-US" altLang="zh-CN" sz="1400" dirty="0"/>
              <a:t>UMAP </a:t>
            </a:r>
            <a:r>
              <a:rPr lang="zh-CN" altLang="en-US" sz="1400" dirty="0"/>
              <a:t>图，展示网络传播前的原始富集信号分布。</a:t>
            </a:r>
            <a:endParaRPr lang="en-US" altLang="zh-CN" sz="1400" dirty="0"/>
          </a:p>
          <a:p>
            <a:r>
              <a:rPr lang="en-US" altLang="zh-CN" b="1" dirty="0"/>
              <a:t>c_zscore_box.png</a:t>
            </a:r>
            <a:r>
              <a:rPr lang="zh-CN" altLang="en-US" sz="1400" dirty="0"/>
              <a:t>：以细胞类型为 </a:t>
            </a:r>
            <a:r>
              <a:rPr lang="en-US" altLang="zh-CN" sz="1400" dirty="0"/>
              <a:t>X </a:t>
            </a:r>
            <a:r>
              <a:rPr lang="zh-CN" altLang="en-US" sz="1400" dirty="0"/>
              <a:t>轴、</a:t>
            </a:r>
            <a:r>
              <a:rPr lang="en-US" altLang="zh-CN" sz="1400" dirty="0"/>
              <a:t>Z-score </a:t>
            </a:r>
            <a:r>
              <a:rPr lang="zh-CN" altLang="en-US" sz="1400" dirty="0"/>
              <a:t>为 </a:t>
            </a:r>
            <a:r>
              <a:rPr lang="en-US" altLang="zh-CN" sz="1400" dirty="0"/>
              <a:t>Y </a:t>
            </a:r>
            <a:r>
              <a:rPr lang="zh-CN" altLang="en-US" sz="1400" dirty="0"/>
              <a:t>轴的箱线图展示各细胞类型的初始富集水平。</a:t>
            </a:r>
            <a:endParaRPr lang="en-US" altLang="zh-CN" sz="1400" dirty="0"/>
          </a:p>
          <a:p>
            <a:r>
              <a:rPr lang="en-US" altLang="zh-CN" b="1" dirty="0"/>
              <a:t>d_trs_umap.png</a:t>
            </a:r>
            <a:r>
              <a:rPr lang="zh-CN" altLang="en-US" sz="1400" dirty="0"/>
              <a:t>：</a:t>
            </a:r>
            <a:r>
              <a:rPr lang="zh-CN" altLang="en-US" sz="1400" b="1" dirty="0"/>
              <a:t>核心结果</a:t>
            </a:r>
            <a:r>
              <a:rPr lang="zh-CN" altLang="en-US" sz="1400" dirty="0"/>
              <a:t>。展示 </a:t>
            </a:r>
            <a:r>
              <a:rPr lang="en-US" altLang="zh-CN" sz="1400" dirty="0"/>
              <a:t>SCAVENGE </a:t>
            </a:r>
            <a:r>
              <a:rPr lang="zh-CN" altLang="en-US" sz="1400" dirty="0"/>
              <a:t>网络传播后的 </a:t>
            </a:r>
            <a:r>
              <a:rPr lang="en-US" altLang="zh-CN" sz="1400" dirty="0"/>
              <a:t>TRS </a:t>
            </a:r>
            <a:r>
              <a:rPr lang="zh-CN" altLang="en-US" sz="1400" dirty="0"/>
              <a:t>得分在 </a:t>
            </a:r>
            <a:r>
              <a:rPr lang="en-US" altLang="zh-CN" sz="1400" dirty="0"/>
              <a:t>UMAP </a:t>
            </a:r>
            <a:r>
              <a:rPr lang="zh-CN" altLang="en-US" sz="1400" dirty="0"/>
              <a:t>上的投影。</a:t>
            </a:r>
            <a:endParaRPr lang="en-US" altLang="zh-CN" sz="1400" dirty="0"/>
          </a:p>
          <a:p>
            <a:r>
              <a:rPr lang="en-US" altLang="zh-CN" b="1" dirty="0"/>
              <a:t>e_trs_box.png</a:t>
            </a:r>
            <a:r>
              <a:rPr lang="zh-CN" altLang="en-US" sz="1400" dirty="0"/>
              <a:t>：以细胞类型为 </a:t>
            </a:r>
            <a:r>
              <a:rPr lang="en-US" altLang="zh-CN" sz="1400" dirty="0"/>
              <a:t>X </a:t>
            </a:r>
            <a:r>
              <a:rPr lang="zh-CN" altLang="en-US" sz="1400" dirty="0"/>
              <a:t>轴、最终 </a:t>
            </a:r>
            <a:r>
              <a:rPr lang="en-US" altLang="zh-CN" sz="1400" dirty="0"/>
              <a:t>TRS </a:t>
            </a:r>
            <a:r>
              <a:rPr lang="zh-CN" altLang="en-US" sz="1400" dirty="0"/>
              <a:t>为 </a:t>
            </a:r>
            <a:r>
              <a:rPr lang="en-US" altLang="zh-CN" sz="1400" dirty="0"/>
              <a:t>Y </a:t>
            </a:r>
            <a:r>
              <a:rPr lang="zh-CN" altLang="en-US" sz="1400" dirty="0"/>
              <a:t>轴的箱线图，直观对比哪些细胞类型与该性状关联最显著。</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文本框 49">
            <a:extLst>
              <a:ext uri="{FF2B5EF4-FFF2-40B4-BE49-F238E27FC236}">
                <a16:creationId xmlns:a16="http://schemas.microsoft.com/office/drawing/2014/main" id="{D732C7FF-F873-79A5-67CD-A2828F6EE602}"/>
              </a:ext>
            </a:extLst>
          </p:cNvPr>
          <p:cNvSpPr txBox="1"/>
          <p:nvPr/>
        </p:nvSpPr>
        <p:spPr>
          <a:xfrm>
            <a:off x="8699186" y="5423627"/>
            <a:ext cx="2411762" cy="340089"/>
          </a:xfrm>
          <a:prstGeom prst="rect">
            <a:avLst/>
          </a:prstGeom>
          <a:noFill/>
          <a:ln w="19050">
            <a:noFill/>
          </a:ln>
        </p:spPr>
        <p:txBody>
          <a:bodyPr wrap="square" lIns="0" tIns="0" rIns="0" bIns="0" rtlCol="0" anchor="ctr" anchorCtr="1">
            <a:noAutofit/>
          </a:bodyPr>
          <a:lstStyle/>
          <a:p>
            <a:r>
              <a:rPr lang="zh-CN" altLang="en-US" sz="1400" b="1" dirty="0">
                <a:latin typeface="微软雅黑" panose="020B0503020204020204" pitchFamily="34" charset="-122"/>
                <a:ea typeface="微软雅黑" panose="020B0503020204020204" pitchFamily="34" charset="-122"/>
              </a:rPr>
              <a:t>全局性状</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细胞类型关联聚类：</a:t>
            </a:r>
          </a:p>
        </p:txBody>
      </p:sp>
      <p:sp>
        <p:nvSpPr>
          <p:cNvPr id="52" name="文本框 51">
            <a:extLst>
              <a:ext uri="{FF2B5EF4-FFF2-40B4-BE49-F238E27FC236}">
                <a16:creationId xmlns:a16="http://schemas.microsoft.com/office/drawing/2014/main" id="{B43DEA2A-1081-AABA-0397-0E683285E484}"/>
              </a:ext>
            </a:extLst>
          </p:cNvPr>
          <p:cNvSpPr txBox="1"/>
          <p:nvPr/>
        </p:nvSpPr>
        <p:spPr>
          <a:xfrm>
            <a:off x="8650152" y="5700217"/>
            <a:ext cx="3109408" cy="738664"/>
          </a:xfrm>
          <a:prstGeom prst="rect">
            <a:avLst/>
          </a:prstGeom>
          <a:noFill/>
        </p:spPr>
        <p:txBody>
          <a:bodyPr wrap="square" rtlCol="0">
            <a:spAutoFit/>
          </a:bodyPr>
          <a:lstStyle/>
          <a:p>
            <a:r>
              <a:rPr lang="en-US" altLang="zh-CN" sz="1400" b="1" dirty="0" err="1"/>
              <a:t>medianTRS_heatmap</a:t>
            </a:r>
            <a:r>
              <a:rPr lang="zh-CN" altLang="en-US" sz="1400" dirty="0"/>
              <a:t>：计算每种细胞类型在每个性状上的中位数 </a:t>
            </a:r>
            <a:r>
              <a:rPr lang="en-US" altLang="zh-CN" sz="1400" dirty="0"/>
              <a:t>TRS</a:t>
            </a:r>
            <a:r>
              <a:rPr lang="zh-CN" altLang="en-US" sz="1400" dirty="0"/>
              <a:t>，并在 文件夹中输出全局热图。</a:t>
            </a:r>
            <a:endParaRPr lang="en-US" altLang="zh-CN" sz="1400" dirty="0"/>
          </a:p>
        </p:txBody>
      </p:sp>
      <p:sp>
        <p:nvSpPr>
          <p:cNvPr id="8" name="矩形 7">
            <a:extLst>
              <a:ext uri="{FF2B5EF4-FFF2-40B4-BE49-F238E27FC236}">
                <a16:creationId xmlns:a16="http://schemas.microsoft.com/office/drawing/2014/main" id="{A3CDCD8F-90DA-8156-2893-F543D926E76E}"/>
              </a:ext>
            </a:extLst>
          </p:cNvPr>
          <p:cNvSpPr/>
          <p:nvPr/>
        </p:nvSpPr>
        <p:spPr>
          <a:xfrm>
            <a:off x="499314" y="2243240"/>
            <a:ext cx="1799051" cy="32992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5867E389-F6C3-E93A-B1F1-7E0D8045101D}"/>
              </a:ext>
            </a:extLst>
          </p:cNvPr>
          <p:cNvCxnSpPr/>
          <p:nvPr/>
        </p:nvCxnSpPr>
        <p:spPr>
          <a:xfrm flipV="1">
            <a:off x="2298365" y="5164058"/>
            <a:ext cx="2337505" cy="2595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651D90BC-9FD0-AC57-E7D8-F9D142B732E2}"/>
              </a:ext>
            </a:extLst>
          </p:cNvPr>
          <p:cNvSpPr txBox="1"/>
          <p:nvPr/>
        </p:nvSpPr>
        <p:spPr>
          <a:xfrm>
            <a:off x="2626604" y="5423627"/>
            <a:ext cx="1937260" cy="646331"/>
          </a:xfrm>
          <a:prstGeom prst="rect">
            <a:avLst/>
          </a:prstGeom>
          <a:noFill/>
        </p:spPr>
        <p:txBody>
          <a:bodyPr wrap="square" rtlCol="0">
            <a:spAutoFit/>
          </a:bodyPr>
          <a:lstStyle/>
          <a:p>
            <a:r>
              <a:rPr lang="zh-CN" altLang="en-US" sz="1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实际实验中，不同性状对应不同种子细胞的筛选，在各自性状的循环内执行</a:t>
            </a:r>
          </a:p>
        </p:txBody>
      </p:sp>
    </p:spTree>
  </p:cSld>
  <p:clrMapOvr>
    <a:masterClrMapping/>
  </p:clrMapOvr>
  <mc:AlternateContent xmlns:mc="http://schemas.openxmlformats.org/markup-compatibility/2006" xmlns:p14="http://schemas.microsoft.com/office/powerpoint/2010/main">
    <mc:Choice Requires="p14">
      <p:transition spd="slow" p14:dur="2000" advTm="73796"/>
    </mc:Choice>
    <mc:Fallback xmlns="" xmlns:a14="http://schemas.microsoft.com/office/drawing/2010/main">
      <p:transition spd="slow" advTm="7379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267-250F-78F6-8AEB-FEBBB181A54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5B10E1A-3BFA-2241-9AC7-AACFD6D58B4C}"/>
              </a:ext>
            </a:extLst>
          </p:cNvPr>
          <p:cNvSpPr txBox="1"/>
          <p:nvPr/>
        </p:nvSpPr>
        <p:spPr>
          <a:xfrm>
            <a:off x="9366915"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10</a:t>
            </a:fld>
            <a:endParaRPr lang="zh-CN" altLang="en-US"/>
          </a:p>
        </p:txBody>
      </p:sp>
      <p:sp>
        <p:nvSpPr>
          <p:cNvPr id="3" name="文本框 2">
            <a:extLst>
              <a:ext uri="{FF2B5EF4-FFF2-40B4-BE49-F238E27FC236}">
                <a16:creationId xmlns:a16="http://schemas.microsoft.com/office/drawing/2014/main" id="{DD428042-3141-FAC0-1438-16E0E0767184}"/>
              </a:ext>
            </a:extLst>
          </p:cNvPr>
          <p:cNvSpPr txBox="1"/>
          <p:nvPr/>
        </p:nvSpPr>
        <p:spPr>
          <a:xfrm>
            <a:off x="267402" y="727714"/>
            <a:ext cx="8777922"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研究内容三：</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实验结果示例</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全局性状</a:t>
            </a:r>
            <a:endParaRPr lang="zh-CN" altLang="en-US" sz="2400" b="1" kern="1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4AAFFC7-996B-803D-5B01-7B4DD8C19027}"/>
              </a:ext>
            </a:extLst>
          </p:cNvPr>
          <p:cNvPicPr>
            <a:picLocks noChangeAspect="1"/>
          </p:cNvPicPr>
          <p:nvPr/>
        </p:nvPicPr>
        <p:blipFill>
          <a:blip r:embed="rId3"/>
          <a:stretch>
            <a:fillRect/>
          </a:stretch>
        </p:blipFill>
        <p:spPr>
          <a:xfrm>
            <a:off x="0" y="6540163"/>
            <a:ext cx="1019230" cy="296398"/>
          </a:xfrm>
          <a:prstGeom prst="rect">
            <a:avLst/>
          </a:prstGeom>
        </p:spPr>
      </p:pic>
      <p:sp>
        <p:nvSpPr>
          <p:cNvPr id="8" name="矩形 7">
            <a:extLst>
              <a:ext uri="{FF2B5EF4-FFF2-40B4-BE49-F238E27FC236}">
                <a16:creationId xmlns:a16="http://schemas.microsoft.com/office/drawing/2014/main" id="{4635164B-0EA6-3EE8-8430-3E65827F61B1}"/>
              </a:ext>
            </a:extLst>
          </p:cNvPr>
          <p:cNvSpPr/>
          <p:nvPr/>
        </p:nvSpPr>
        <p:spPr>
          <a:xfrm>
            <a:off x="7343006"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pic>
        <p:nvPicPr>
          <p:cNvPr id="13" name="图片 12">
            <a:extLst>
              <a:ext uri="{FF2B5EF4-FFF2-40B4-BE49-F238E27FC236}">
                <a16:creationId xmlns:a16="http://schemas.microsoft.com/office/drawing/2014/main" id="{3E15B95B-09E6-D460-83E9-6BDD1893A64A}"/>
              </a:ext>
            </a:extLst>
          </p:cNvPr>
          <p:cNvPicPr>
            <a:picLocks noChangeAspect="1"/>
          </p:cNvPicPr>
          <p:nvPr/>
        </p:nvPicPr>
        <p:blipFill>
          <a:blip r:embed="rId4"/>
          <a:stretch>
            <a:fillRect/>
          </a:stretch>
        </p:blipFill>
        <p:spPr>
          <a:xfrm>
            <a:off x="145956" y="1704955"/>
            <a:ext cx="5323686" cy="3802632"/>
          </a:xfrm>
          <a:prstGeom prst="rect">
            <a:avLst/>
          </a:prstGeom>
        </p:spPr>
      </p:pic>
      <p:sp>
        <p:nvSpPr>
          <p:cNvPr id="14" name="矩形: 圆角 13">
            <a:extLst>
              <a:ext uri="{FF2B5EF4-FFF2-40B4-BE49-F238E27FC236}">
                <a16:creationId xmlns:a16="http://schemas.microsoft.com/office/drawing/2014/main" id="{5BD8AC56-CD64-CDA8-661E-04099B7A3F35}"/>
              </a:ext>
            </a:extLst>
          </p:cNvPr>
          <p:cNvSpPr/>
          <p:nvPr/>
        </p:nvSpPr>
        <p:spPr>
          <a:xfrm>
            <a:off x="431007" y="1267657"/>
            <a:ext cx="5038635" cy="336533"/>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基于单细胞 </a:t>
            </a:r>
            <a:r>
              <a:rPr lang="en-US" altLang="zh-CN" sz="1600" b="1" dirty="0">
                <a:solidFill>
                  <a:schemeClr val="tx1"/>
                </a:solidFill>
                <a:latin typeface="微软雅黑" panose="020B0503020204020204" pitchFamily="34" charset="-122"/>
                <a:ea typeface="微软雅黑" panose="020B0503020204020204" pitchFamily="34" charset="-122"/>
              </a:rPr>
              <a:t>ATAC-seq </a:t>
            </a:r>
            <a:r>
              <a:rPr lang="zh-CN" altLang="en-US" sz="1600" b="1" dirty="0">
                <a:solidFill>
                  <a:schemeClr val="tx1"/>
                </a:solidFill>
                <a:latin typeface="微软雅黑" panose="020B0503020204020204" pitchFamily="34" charset="-122"/>
                <a:ea typeface="微软雅黑" panose="020B0503020204020204" pitchFamily="34" charset="-122"/>
              </a:rPr>
              <a:t>数据降维投影的 </a:t>
            </a:r>
            <a:r>
              <a:rPr lang="en-US" altLang="zh-CN" sz="1600" b="1" dirty="0">
                <a:solidFill>
                  <a:schemeClr val="tx1"/>
                </a:solidFill>
                <a:latin typeface="微软雅黑" panose="020B0503020204020204" pitchFamily="34" charset="-122"/>
                <a:ea typeface="微软雅黑" panose="020B0503020204020204" pitchFamily="34" charset="-122"/>
              </a:rPr>
              <a:t>UMAP </a:t>
            </a:r>
            <a:r>
              <a:rPr lang="zh-CN" altLang="en-US" sz="1600" b="1" dirty="0">
                <a:solidFill>
                  <a:schemeClr val="tx1"/>
                </a:solidFill>
                <a:latin typeface="微软雅黑" panose="020B0503020204020204" pitchFamily="34" charset="-122"/>
                <a:ea typeface="微软雅黑" panose="020B0503020204020204" pitchFamily="34" charset="-122"/>
              </a:rPr>
              <a:t>散点图</a:t>
            </a:r>
          </a:p>
        </p:txBody>
      </p:sp>
      <p:pic>
        <p:nvPicPr>
          <p:cNvPr id="17" name="图片 16">
            <a:extLst>
              <a:ext uri="{FF2B5EF4-FFF2-40B4-BE49-F238E27FC236}">
                <a16:creationId xmlns:a16="http://schemas.microsoft.com/office/drawing/2014/main" id="{7AA2CC07-4F6B-A1FA-E029-CB42EB28FC21}"/>
              </a:ext>
            </a:extLst>
          </p:cNvPr>
          <p:cNvPicPr>
            <a:picLocks noChangeAspect="1"/>
          </p:cNvPicPr>
          <p:nvPr/>
        </p:nvPicPr>
        <p:blipFill>
          <a:blip r:embed="rId5"/>
          <a:stretch>
            <a:fillRect/>
          </a:stretch>
        </p:blipFill>
        <p:spPr>
          <a:xfrm>
            <a:off x="5736375" y="1704955"/>
            <a:ext cx="6144125" cy="3686475"/>
          </a:xfrm>
          <a:prstGeom prst="rect">
            <a:avLst/>
          </a:prstGeom>
        </p:spPr>
      </p:pic>
      <p:sp>
        <p:nvSpPr>
          <p:cNvPr id="18" name="矩形: 圆角 17">
            <a:extLst>
              <a:ext uri="{FF2B5EF4-FFF2-40B4-BE49-F238E27FC236}">
                <a16:creationId xmlns:a16="http://schemas.microsoft.com/office/drawing/2014/main" id="{D816753C-7BE3-C4A7-97B8-35558A71C2F5}"/>
              </a:ext>
            </a:extLst>
          </p:cNvPr>
          <p:cNvSpPr/>
          <p:nvPr/>
        </p:nvSpPr>
        <p:spPr>
          <a:xfrm>
            <a:off x="6355166" y="1267657"/>
            <a:ext cx="5038635" cy="336533"/>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性状与细胞类型的全局关联热图</a:t>
            </a:r>
          </a:p>
        </p:txBody>
      </p:sp>
      <p:sp>
        <p:nvSpPr>
          <p:cNvPr id="19" name="文本框 18">
            <a:extLst>
              <a:ext uri="{FF2B5EF4-FFF2-40B4-BE49-F238E27FC236}">
                <a16:creationId xmlns:a16="http://schemas.microsoft.com/office/drawing/2014/main" id="{76F9CECF-2501-E24D-7AC4-60FDA70A70B7}"/>
              </a:ext>
            </a:extLst>
          </p:cNvPr>
          <p:cNvSpPr txBox="1"/>
          <p:nvPr/>
        </p:nvSpPr>
        <p:spPr>
          <a:xfrm>
            <a:off x="145956" y="5402243"/>
            <a:ext cx="5590419" cy="1169551"/>
          </a:xfrm>
          <a:prstGeom prst="rect">
            <a:avLst/>
          </a:prstGeom>
          <a:noFill/>
        </p:spPr>
        <p:txBody>
          <a:bodyPr wrap="square" rtlCol="0">
            <a:spAutoFit/>
          </a:bodyPr>
          <a:lstStyle/>
          <a:p>
            <a:r>
              <a:rPr lang="zh-CN" altLang="en-US" sz="1400" dirty="0"/>
              <a:t>展示了健康造血系统单细胞水平的全局流形结构与亚群分类。</a:t>
            </a:r>
            <a:endParaRPr lang="en-US" altLang="zh-CN" sz="1400" dirty="0"/>
          </a:p>
          <a:p>
            <a:r>
              <a:rPr lang="zh-CN" altLang="en-US" sz="1400" b="1" dirty="0"/>
              <a:t>空间分布</a:t>
            </a:r>
            <a:r>
              <a:rPr lang="zh-CN" altLang="en-US" sz="1400" dirty="0"/>
              <a:t>：图中的每一个点代表一个单细胞。</a:t>
            </a:r>
            <a:r>
              <a:rPr lang="en-US" altLang="zh-CN" sz="1400" dirty="0"/>
              <a:t>X </a:t>
            </a:r>
            <a:r>
              <a:rPr lang="zh-CN" altLang="en-US" sz="1400" dirty="0"/>
              <a:t>轴（</a:t>
            </a:r>
            <a:r>
              <a:rPr lang="en-US" altLang="zh-CN" sz="1400" dirty="0"/>
              <a:t>UMAP 1</a:t>
            </a:r>
            <a:r>
              <a:rPr lang="zh-CN" altLang="en-US" sz="1400" dirty="0"/>
              <a:t>）和 </a:t>
            </a:r>
            <a:r>
              <a:rPr lang="en-US" altLang="zh-CN" sz="1400" dirty="0"/>
              <a:t>Y </a:t>
            </a:r>
            <a:r>
              <a:rPr lang="zh-CN" altLang="en-US" sz="1400" dirty="0"/>
              <a:t>轴（</a:t>
            </a:r>
            <a:r>
              <a:rPr lang="en-US" altLang="zh-CN" sz="1400" dirty="0"/>
              <a:t>UMAP 2</a:t>
            </a:r>
            <a:r>
              <a:rPr lang="zh-CN" altLang="en-US" sz="1400" dirty="0"/>
              <a:t>）是基于染色质开放性（表观遗传特征）计算出的二维坐标。</a:t>
            </a:r>
            <a:endParaRPr lang="en-US" altLang="zh-CN" sz="1400" dirty="0"/>
          </a:p>
          <a:p>
            <a:r>
              <a:rPr lang="zh-CN" altLang="en-US" sz="1400" b="1" dirty="0"/>
              <a:t>细胞图谱（颜色图例）</a:t>
            </a:r>
            <a:r>
              <a:rPr lang="zh-CN" altLang="en-US" sz="1400" dirty="0"/>
              <a:t>：右侧图例标记了 </a:t>
            </a:r>
            <a:r>
              <a:rPr lang="en-US" altLang="zh-CN" sz="1400" dirty="0"/>
              <a:t>26 </a:t>
            </a:r>
            <a:r>
              <a:rPr lang="zh-CN" altLang="en-US" sz="1400" dirty="0"/>
              <a:t>个经过预注释的细胞亚群。</a:t>
            </a:r>
            <a:endParaRPr lang="en-US" altLang="zh-CN" sz="1400" dirty="0"/>
          </a:p>
        </p:txBody>
      </p:sp>
      <p:sp>
        <p:nvSpPr>
          <p:cNvPr id="21" name="文本框 20">
            <a:extLst>
              <a:ext uri="{FF2B5EF4-FFF2-40B4-BE49-F238E27FC236}">
                <a16:creationId xmlns:a16="http://schemas.microsoft.com/office/drawing/2014/main" id="{CE19502C-AEDC-AE6D-0F98-3559B67DCF9C}"/>
              </a:ext>
            </a:extLst>
          </p:cNvPr>
          <p:cNvSpPr txBox="1"/>
          <p:nvPr/>
        </p:nvSpPr>
        <p:spPr>
          <a:xfrm>
            <a:off x="5646670" y="5330067"/>
            <a:ext cx="6455625" cy="1600438"/>
          </a:xfrm>
          <a:prstGeom prst="rect">
            <a:avLst/>
          </a:prstGeom>
          <a:noFill/>
        </p:spPr>
        <p:txBody>
          <a:bodyPr wrap="square" rtlCol="0">
            <a:spAutoFit/>
          </a:bodyPr>
          <a:lstStyle/>
          <a:p>
            <a:r>
              <a:rPr lang="zh-CN" altLang="en-US" sz="1400" dirty="0"/>
              <a:t>提供一个全局视角，展示多种 </a:t>
            </a:r>
            <a:r>
              <a:rPr lang="en-US" altLang="zh-CN" sz="1400" dirty="0"/>
              <a:t>GWAS </a:t>
            </a:r>
            <a:r>
              <a:rPr lang="zh-CN" altLang="en-US" sz="1400" dirty="0"/>
              <a:t>血液性状在不同造血细胞类型中的富集模式。</a:t>
            </a:r>
            <a:endParaRPr lang="en-US" altLang="zh-CN" sz="1400" dirty="0"/>
          </a:p>
          <a:p>
            <a:r>
              <a:rPr lang="zh-CN" altLang="en-US" sz="1400" b="1" dirty="0"/>
              <a:t>颜色映射（</a:t>
            </a:r>
            <a:r>
              <a:rPr lang="en-US" altLang="zh-CN" sz="1400" b="1" dirty="0"/>
              <a:t>Color Scale</a:t>
            </a:r>
            <a:r>
              <a:rPr lang="zh-CN" altLang="en-US" sz="1400" b="1" dirty="0"/>
              <a:t>）</a:t>
            </a:r>
            <a:r>
              <a:rPr lang="zh-CN" altLang="en-US" sz="1400" dirty="0"/>
              <a:t>：</a:t>
            </a:r>
            <a:r>
              <a:rPr lang="zh-CN" altLang="en-US" sz="1400" b="1" dirty="0"/>
              <a:t>蓝色表示无关联或极低富集，黄色到红色代表高关联度。</a:t>
            </a:r>
            <a:r>
              <a:rPr lang="zh-CN" altLang="en-US" sz="1400" dirty="0"/>
              <a:t> 红色越深，说明该 </a:t>
            </a:r>
            <a:r>
              <a:rPr lang="en-US" altLang="zh-CN" sz="1400" dirty="0"/>
              <a:t>GWAS </a:t>
            </a:r>
            <a:r>
              <a:rPr lang="zh-CN" altLang="en-US" sz="1400" dirty="0"/>
              <a:t>性状的遗传风险位点在该类细胞的开放染色质区域中极度活跃。</a:t>
            </a:r>
          </a:p>
          <a:p>
            <a:r>
              <a:rPr lang="zh-CN" altLang="en-US" sz="1400" b="1" dirty="0"/>
              <a:t>聚类树（树状图）</a:t>
            </a:r>
            <a:r>
              <a:rPr lang="zh-CN" altLang="en-US" sz="1400" dirty="0"/>
              <a:t>：图的上方（对细胞）和左侧（对性状）的树状分叉代表无监督层次聚类。连线越早交汇，说明它们在整体富集模式上越相似。</a:t>
            </a:r>
          </a:p>
          <a:p>
            <a:endParaRPr lang="zh-CN" altLang="en-US" sz="1400" dirty="0"/>
          </a:p>
        </p:txBody>
      </p:sp>
    </p:spTree>
    <p:extLst>
      <p:ext uri="{BB962C8B-B14F-4D97-AF65-F5344CB8AC3E}">
        <p14:creationId xmlns:p14="http://schemas.microsoft.com/office/powerpoint/2010/main" val="2594474696"/>
      </p:ext>
    </p:extLst>
  </p:cSld>
  <p:clrMapOvr>
    <a:masterClrMapping/>
  </p:clrMapOvr>
  <mc:AlternateContent xmlns:mc="http://schemas.openxmlformats.org/markup-compatibility/2006" xmlns:p14="http://schemas.microsoft.com/office/powerpoint/2010/main">
    <mc:Choice Requires="p14">
      <p:transition spd="slow" p14:dur="2000" advTm="73796"/>
    </mc:Choice>
    <mc:Fallback xmlns="" xmlns:a14="http://schemas.microsoft.com/office/drawing/2010/main">
      <p:transition spd="slow" advTm="7379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4D14-79CA-10C8-DAA7-3FE5CE1DFC3F}"/>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32024B7-A55B-BFB9-F153-7894DA7D3DCC}"/>
              </a:ext>
            </a:extLst>
          </p:cNvPr>
          <p:cNvSpPr txBox="1"/>
          <p:nvPr/>
        </p:nvSpPr>
        <p:spPr>
          <a:xfrm>
            <a:off x="9366915"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11</a:t>
            </a:fld>
            <a:endParaRPr lang="zh-CN" altLang="en-US"/>
          </a:p>
        </p:txBody>
      </p:sp>
      <p:sp>
        <p:nvSpPr>
          <p:cNvPr id="3" name="文本框 2">
            <a:extLst>
              <a:ext uri="{FF2B5EF4-FFF2-40B4-BE49-F238E27FC236}">
                <a16:creationId xmlns:a16="http://schemas.microsoft.com/office/drawing/2014/main" id="{47FF0828-AB65-EC47-B31E-45D57F3F3506}"/>
              </a:ext>
            </a:extLst>
          </p:cNvPr>
          <p:cNvSpPr txBox="1"/>
          <p:nvPr/>
        </p:nvSpPr>
        <p:spPr>
          <a:xfrm>
            <a:off x="267402" y="727714"/>
            <a:ext cx="8777922"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研究内容四：</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实验结果示例</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单性状：平均红细胞体积</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MCV</a:t>
            </a:r>
            <a:endParaRPr lang="zh-CN" altLang="en-US" sz="2400" b="1" kern="1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32E631BB-5D77-14AB-8498-ECD8378F8489}"/>
              </a:ext>
            </a:extLst>
          </p:cNvPr>
          <p:cNvPicPr>
            <a:picLocks noChangeAspect="1"/>
          </p:cNvPicPr>
          <p:nvPr/>
        </p:nvPicPr>
        <p:blipFill>
          <a:blip r:embed="rId3"/>
          <a:stretch>
            <a:fillRect/>
          </a:stretch>
        </p:blipFill>
        <p:spPr>
          <a:xfrm>
            <a:off x="0" y="6540163"/>
            <a:ext cx="1019230" cy="296398"/>
          </a:xfrm>
          <a:prstGeom prst="rect">
            <a:avLst/>
          </a:prstGeom>
        </p:spPr>
      </p:pic>
      <p:sp>
        <p:nvSpPr>
          <p:cNvPr id="8" name="矩形 7">
            <a:extLst>
              <a:ext uri="{FF2B5EF4-FFF2-40B4-BE49-F238E27FC236}">
                <a16:creationId xmlns:a16="http://schemas.microsoft.com/office/drawing/2014/main" id="{CBC89092-132D-F459-C1A0-31E881DAD5B3}"/>
              </a:ext>
            </a:extLst>
          </p:cNvPr>
          <p:cNvSpPr/>
          <p:nvPr/>
        </p:nvSpPr>
        <p:spPr>
          <a:xfrm>
            <a:off x="7343006"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grpSp>
        <p:nvGrpSpPr>
          <p:cNvPr id="15" name="组合 14">
            <a:extLst>
              <a:ext uri="{FF2B5EF4-FFF2-40B4-BE49-F238E27FC236}">
                <a16:creationId xmlns:a16="http://schemas.microsoft.com/office/drawing/2014/main" id="{02D4CBFD-5653-7A30-62E1-0F0703F0B610}"/>
              </a:ext>
            </a:extLst>
          </p:cNvPr>
          <p:cNvGrpSpPr/>
          <p:nvPr/>
        </p:nvGrpSpPr>
        <p:grpSpPr>
          <a:xfrm>
            <a:off x="328920" y="1172614"/>
            <a:ext cx="11525387" cy="2703730"/>
            <a:chOff x="328921" y="1315683"/>
            <a:chExt cx="11525387" cy="2703730"/>
          </a:xfrm>
        </p:grpSpPr>
        <p:sp>
          <p:nvSpPr>
            <p:cNvPr id="11" name="矩形 10">
              <a:extLst>
                <a:ext uri="{FF2B5EF4-FFF2-40B4-BE49-F238E27FC236}">
                  <a16:creationId xmlns:a16="http://schemas.microsoft.com/office/drawing/2014/main" id="{E45ABD12-45F1-524E-6FF4-F73AF22D9B61}"/>
                </a:ext>
              </a:extLst>
            </p:cNvPr>
            <p:cNvSpPr/>
            <p:nvPr/>
          </p:nvSpPr>
          <p:spPr>
            <a:xfrm>
              <a:off x="328921" y="1315683"/>
              <a:ext cx="11525387" cy="270373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D7B6C0F4-8FE4-86B4-7C9F-FDC1E580ABBF}"/>
                </a:ext>
              </a:extLst>
            </p:cNvPr>
            <p:cNvPicPr>
              <a:picLocks noChangeAspect="1"/>
            </p:cNvPicPr>
            <p:nvPr/>
          </p:nvPicPr>
          <p:blipFill>
            <a:blip r:embed="rId4"/>
            <a:stretch>
              <a:fillRect/>
            </a:stretch>
          </p:blipFill>
          <p:spPr>
            <a:xfrm>
              <a:off x="2652193" y="1369991"/>
              <a:ext cx="3617039" cy="2583599"/>
            </a:xfrm>
            <a:prstGeom prst="rect">
              <a:avLst/>
            </a:prstGeom>
          </p:spPr>
        </p:pic>
        <p:pic>
          <p:nvPicPr>
            <p:cNvPr id="9" name="图片 8">
              <a:extLst>
                <a:ext uri="{FF2B5EF4-FFF2-40B4-BE49-F238E27FC236}">
                  <a16:creationId xmlns:a16="http://schemas.microsoft.com/office/drawing/2014/main" id="{0E7F66F2-26A4-3EC1-557A-6562DC1A794B}"/>
                </a:ext>
              </a:extLst>
            </p:cNvPr>
            <p:cNvPicPr>
              <a:picLocks noChangeAspect="1"/>
            </p:cNvPicPr>
            <p:nvPr/>
          </p:nvPicPr>
          <p:blipFill>
            <a:blip r:embed="rId5"/>
            <a:stretch>
              <a:fillRect/>
            </a:stretch>
          </p:blipFill>
          <p:spPr>
            <a:xfrm>
              <a:off x="6377850" y="1369991"/>
              <a:ext cx="5190222" cy="2595111"/>
            </a:xfrm>
            <a:prstGeom prst="rect">
              <a:avLst/>
            </a:prstGeom>
          </p:spPr>
        </p:pic>
        <p:sp>
          <p:nvSpPr>
            <p:cNvPr id="12" name="矩形: 圆角 11">
              <a:extLst>
                <a:ext uri="{FF2B5EF4-FFF2-40B4-BE49-F238E27FC236}">
                  <a16:creationId xmlns:a16="http://schemas.microsoft.com/office/drawing/2014/main" id="{A2B4C149-D62A-011E-E6EF-E05248945146}"/>
                </a:ext>
              </a:extLst>
            </p:cNvPr>
            <p:cNvSpPr/>
            <p:nvPr/>
          </p:nvSpPr>
          <p:spPr>
            <a:xfrm>
              <a:off x="388127" y="1369991"/>
              <a:ext cx="2195388" cy="386446"/>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r>
                <a:rPr lang="zh-CN" altLang="pl-PL" sz="1600" b="1" dirty="0">
                  <a:solidFill>
                    <a:schemeClr val="tx1"/>
                  </a:solidFill>
                  <a:latin typeface="微软雅黑" panose="020B0503020204020204" pitchFamily="34" charset="-122"/>
                  <a:ea typeface="微软雅黑" panose="020B0503020204020204" pitchFamily="34" charset="-122"/>
                </a:rPr>
                <a:t>原始 </a:t>
              </a:r>
              <a:r>
                <a:rPr lang="pl-PL" altLang="zh-CN" sz="1600" b="1" dirty="0">
                  <a:solidFill>
                    <a:schemeClr val="tx1"/>
                  </a:solidFill>
                  <a:latin typeface="微软雅黑" panose="020B0503020204020204" pitchFamily="34" charset="-122"/>
                  <a:ea typeface="微软雅黑" panose="020B0503020204020204" pitchFamily="34" charset="-122"/>
                </a:rPr>
                <a:t>Z-score</a:t>
              </a:r>
              <a:r>
                <a:rPr lang="zh-CN" altLang="pl-PL" sz="1600" b="1" dirty="0">
                  <a:solidFill>
                    <a:schemeClr val="tx1"/>
                  </a:solidFill>
                  <a:latin typeface="微软雅黑" panose="020B0503020204020204" pitchFamily="34" charset="-122"/>
                  <a:ea typeface="微软雅黑" panose="020B0503020204020204" pitchFamily="34" charset="-122"/>
                </a:rPr>
                <a:t>的分布</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FFB8922-CBF5-C134-5FF0-7B3BE307F5F4}"/>
                </a:ext>
              </a:extLst>
            </p:cNvPr>
            <p:cNvSpPr txBox="1"/>
            <p:nvPr/>
          </p:nvSpPr>
          <p:spPr>
            <a:xfrm>
              <a:off x="388126" y="1669088"/>
              <a:ext cx="2195389" cy="738664"/>
            </a:xfrm>
            <a:prstGeom prst="rect">
              <a:avLst/>
            </a:prstGeom>
            <a:noFill/>
          </p:spPr>
          <p:txBody>
            <a:bodyPr wrap="square" rtlCol="0">
              <a:spAutoFit/>
            </a:bodyPr>
            <a:lstStyle/>
            <a:p>
              <a:r>
                <a:rPr lang="zh-CN" altLang="en-US" sz="1400" dirty="0"/>
                <a:t>展示了单细胞 </a:t>
              </a:r>
              <a:r>
                <a:rPr lang="en-US" altLang="zh-CN" sz="1400" dirty="0"/>
                <a:t>GWAS </a:t>
              </a:r>
              <a:r>
                <a:rPr lang="zh-CN" altLang="en-US" sz="1400" dirty="0"/>
                <a:t>富集分析在进行核心网络传播</a:t>
              </a:r>
              <a:r>
                <a:rPr lang="zh-CN" altLang="en-US" sz="1400" b="1" dirty="0"/>
                <a:t>前</a:t>
              </a:r>
              <a:r>
                <a:rPr lang="zh-CN" altLang="en-US" sz="1400" dirty="0"/>
                <a:t>的基线状态。</a:t>
              </a:r>
            </a:p>
          </p:txBody>
        </p:sp>
      </p:grpSp>
      <p:grpSp>
        <p:nvGrpSpPr>
          <p:cNvPr id="16" name="组合 15">
            <a:extLst>
              <a:ext uri="{FF2B5EF4-FFF2-40B4-BE49-F238E27FC236}">
                <a16:creationId xmlns:a16="http://schemas.microsoft.com/office/drawing/2014/main" id="{6B000062-8C44-178D-F03C-3676FC964047}"/>
              </a:ext>
            </a:extLst>
          </p:cNvPr>
          <p:cNvGrpSpPr/>
          <p:nvPr/>
        </p:nvGrpSpPr>
        <p:grpSpPr>
          <a:xfrm>
            <a:off x="328920" y="3930652"/>
            <a:ext cx="11525387" cy="2815618"/>
            <a:chOff x="328921" y="1315683"/>
            <a:chExt cx="11525387" cy="2815618"/>
          </a:xfrm>
        </p:grpSpPr>
        <p:sp>
          <p:nvSpPr>
            <p:cNvPr id="17" name="矩形 16">
              <a:extLst>
                <a:ext uri="{FF2B5EF4-FFF2-40B4-BE49-F238E27FC236}">
                  <a16:creationId xmlns:a16="http://schemas.microsoft.com/office/drawing/2014/main" id="{8A19AFFF-3152-7EAD-92F8-D35ADE27DB88}"/>
                </a:ext>
              </a:extLst>
            </p:cNvPr>
            <p:cNvSpPr/>
            <p:nvPr/>
          </p:nvSpPr>
          <p:spPr>
            <a:xfrm>
              <a:off x="328921" y="1315683"/>
              <a:ext cx="11525387" cy="270373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858D8A2B-A68A-0C92-181B-20200946E426}"/>
                </a:ext>
              </a:extLst>
            </p:cNvPr>
            <p:cNvSpPr/>
            <p:nvPr/>
          </p:nvSpPr>
          <p:spPr>
            <a:xfrm>
              <a:off x="388127" y="1369991"/>
              <a:ext cx="2195388" cy="386446"/>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r>
                <a:rPr lang="en-US" altLang="zh-CN" sz="1600" b="1" dirty="0">
                  <a:solidFill>
                    <a:schemeClr val="tx1"/>
                  </a:solidFill>
                  <a:latin typeface="微软雅黑" panose="020B0503020204020204" pitchFamily="34" charset="-122"/>
                  <a:ea typeface="微软雅黑" panose="020B0503020204020204" pitchFamily="34" charset="-122"/>
                </a:rPr>
                <a:t>TRS</a:t>
              </a:r>
              <a:r>
                <a:rPr lang="zh-CN" altLang="pl-PL" sz="1600" b="1" dirty="0">
                  <a:solidFill>
                    <a:schemeClr val="tx1"/>
                  </a:solidFill>
                  <a:latin typeface="微软雅黑" panose="020B0503020204020204" pitchFamily="34" charset="-122"/>
                  <a:ea typeface="微软雅黑" panose="020B0503020204020204" pitchFamily="34" charset="-122"/>
                </a:rPr>
                <a:t>的分布</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464F7AB-68BB-FD92-DFD4-D7BBE998E9EC}"/>
                </a:ext>
              </a:extLst>
            </p:cNvPr>
            <p:cNvSpPr txBox="1"/>
            <p:nvPr/>
          </p:nvSpPr>
          <p:spPr>
            <a:xfrm>
              <a:off x="388126" y="1669088"/>
              <a:ext cx="2195389" cy="2462213"/>
            </a:xfrm>
            <a:prstGeom prst="rect">
              <a:avLst/>
            </a:prstGeom>
            <a:noFill/>
          </p:spPr>
          <p:txBody>
            <a:bodyPr wrap="square" rtlCol="0">
              <a:spAutoFit/>
            </a:bodyPr>
            <a:lstStyle/>
            <a:p>
              <a:r>
                <a:rPr lang="zh-CN" altLang="en-US" sz="1400" dirty="0"/>
                <a:t>经过网络传播和归一化处理后，</a:t>
              </a:r>
              <a:r>
                <a:rPr lang="en-US" altLang="zh-CN" sz="1400" dirty="0"/>
                <a:t>SCAVENGE </a:t>
              </a:r>
              <a:r>
                <a:rPr lang="zh-CN" altLang="en-US" sz="1400" dirty="0"/>
                <a:t>算法发挥核心威力的</a:t>
              </a:r>
              <a:r>
                <a:rPr lang="zh-CN" altLang="en-US" sz="1400" b="1" dirty="0"/>
                <a:t>最终成果展示。</a:t>
              </a:r>
              <a:endParaRPr lang="en-US" altLang="zh-CN" sz="1400" b="1" dirty="0"/>
            </a:p>
            <a:p>
              <a:r>
                <a:rPr lang="zh-CN" altLang="en-US" sz="1400" dirty="0"/>
                <a:t>算法精准地从稀疏、嘈杂的单细胞 </a:t>
              </a:r>
              <a:r>
                <a:rPr lang="en-US" altLang="zh-CN" sz="1400" dirty="0"/>
                <a:t>ATAC-seq </a:t>
              </a:r>
              <a:r>
                <a:rPr lang="zh-CN" altLang="en-US" sz="1400" dirty="0"/>
                <a:t>数据中，通过细胞间的拓扑网络，将 </a:t>
              </a:r>
              <a:r>
                <a:rPr lang="en-US" altLang="zh-CN" sz="1400" dirty="0"/>
                <a:t>MCV</a:t>
              </a:r>
              <a:r>
                <a:rPr lang="zh-CN" altLang="en-US" sz="1400" dirty="0"/>
                <a:t>这一复杂表型的致病靶细胞死死锁定在了红细胞系上。</a:t>
              </a:r>
            </a:p>
            <a:p>
              <a:endParaRPr lang="zh-CN" altLang="en-US" sz="1400" dirty="0"/>
            </a:p>
          </p:txBody>
        </p:sp>
      </p:grpSp>
      <p:pic>
        <p:nvPicPr>
          <p:cNvPr id="23" name="图片 22">
            <a:extLst>
              <a:ext uri="{FF2B5EF4-FFF2-40B4-BE49-F238E27FC236}">
                <a16:creationId xmlns:a16="http://schemas.microsoft.com/office/drawing/2014/main" id="{9B647559-A4E8-6C32-28C1-146A52DBA4CA}"/>
              </a:ext>
            </a:extLst>
          </p:cNvPr>
          <p:cNvPicPr>
            <a:picLocks noChangeAspect="1"/>
          </p:cNvPicPr>
          <p:nvPr/>
        </p:nvPicPr>
        <p:blipFill>
          <a:blip r:embed="rId6"/>
          <a:stretch>
            <a:fillRect/>
          </a:stretch>
        </p:blipFill>
        <p:spPr>
          <a:xfrm>
            <a:off x="2652192" y="3996472"/>
            <a:ext cx="3617039" cy="2583599"/>
          </a:xfrm>
          <a:prstGeom prst="rect">
            <a:avLst/>
          </a:prstGeom>
        </p:spPr>
      </p:pic>
      <p:pic>
        <p:nvPicPr>
          <p:cNvPr id="25" name="图片 24">
            <a:extLst>
              <a:ext uri="{FF2B5EF4-FFF2-40B4-BE49-F238E27FC236}">
                <a16:creationId xmlns:a16="http://schemas.microsoft.com/office/drawing/2014/main" id="{C0C7447A-FF7D-D49B-12E7-00E2B5C0D58E}"/>
              </a:ext>
            </a:extLst>
          </p:cNvPr>
          <p:cNvPicPr>
            <a:picLocks noChangeAspect="1"/>
          </p:cNvPicPr>
          <p:nvPr/>
        </p:nvPicPr>
        <p:blipFill>
          <a:blip r:embed="rId7"/>
          <a:stretch>
            <a:fillRect/>
          </a:stretch>
        </p:blipFill>
        <p:spPr>
          <a:xfrm>
            <a:off x="6377849" y="3996472"/>
            <a:ext cx="5190223" cy="2595111"/>
          </a:xfrm>
          <a:prstGeom prst="rect">
            <a:avLst/>
          </a:prstGeom>
        </p:spPr>
      </p:pic>
    </p:spTree>
    <p:extLst>
      <p:ext uri="{BB962C8B-B14F-4D97-AF65-F5344CB8AC3E}">
        <p14:creationId xmlns:p14="http://schemas.microsoft.com/office/powerpoint/2010/main" val="3394508115"/>
      </p:ext>
    </p:extLst>
  </p:cSld>
  <p:clrMapOvr>
    <a:masterClrMapping/>
  </p:clrMapOvr>
  <mc:AlternateContent xmlns:mc="http://schemas.openxmlformats.org/markup-compatibility/2006" xmlns:p14="http://schemas.microsoft.com/office/powerpoint/2010/main">
    <mc:Choice Requires="p14">
      <p:transition spd="slow" p14:dur="2000" advTm="73796"/>
    </mc:Choice>
    <mc:Fallback xmlns="" xmlns:a14="http://schemas.microsoft.com/office/drawing/2010/main">
      <p:transition spd="slow" advTm="7379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8555A-86A3-033D-4A2A-3BE2FCDDD04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E8D396C-4A26-79D5-C630-6B037B55BEA6}"/>
              </a:ext>
            </a:extLst>
          </p:cNvPr>
          <p:cNvSpPr txBox="1"/>
          <p:nvPr/>
        </p:nvSpPr>
        <p:spPr>
          <a:xfrm>
            <a:off x="9366915"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12</a:t>
            </a:fld>
            <a:endParaRPr lang="zh-CN" altLang="en-US"/>
          </a:p>
        </p:txBody>
      </p:sp>
      <p:sp>
        <p:nvSpPr>
          <p:cNvPr id="3" name="文本框 2">
            <a:extLst>
              <a:ext uri="{FF2B5EF4-FFF2-40B4-BE49-F238E27FC236}">
                <a16:creationId xmlns:a16="http://schemas.microsoft.com/office/drawing/2014/main" id="{2FC13675-B749-ED81-6305-22B4E6521FD7}"/>
              </a:ext>
            </a:extLst>
          </p:cNvPr>
          <p:cNvSpPr txBox="1"/>
          <p:nvPr/>
        </p:nvSpPr>
        <p:spPr>
          <a:xfrm>
            <a:off x="267402" y="727714"/>
            <a:ext cx="8777922" cy="461665"/>
          </a:xfrm>
          <a:prstGeom prst="rect">
            <a:avLst/>
          </a:prstGeom>
          <a:noFill/>
        </p:spPr>
        <p:txBody>
          <a:bodyPr wrap="square">
            <a:spAutoFit/>
          </a:bodyPr>
          <a:lstStyle/>
          <a:p>
            <a:pPr marL="342900" indent="-342900">
              <a:buClr>
                <a:schemeClr val="accent1"/>
              </a:buClr>
              <a:buFont typeface="Wingdings" panose="05000000000000000000" pitchFamily="2" charset="2"/>
              <a:buChar char="Ø"/>
            </a:pPr>
            <a:r>
              <a:rPr lang="zh-CN" altLang="en-US" sz="2400" b="1" kern="100" dirty="0">
                <a:solidFill>
                  <a:schemeClr val="accent1"/>
                </a:solidFill>
                <a:latin typeface="微软雅黑" panose="020B0503020204020204" pitchFamily="34" charset="-122"/>
                <a:ea typeface="微软雅黑" panose="020B0503020204020204" pitchFamily="34" charset="-122"/>
              </a:rPr>
              <a:t>研究内容四：</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实验结果示例</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单性状：淋巴细胞计数</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LYM</a:t>
            </a:r>
            <a:endParaRPr lang="zh-CN" altLang="en-US" sz="2400" b="1" kern="1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D17FC092-3B41-AB68-7128-E0FABAEBAE52}"/>
              </a:ext>
            </a:extLst>
          </p:cNvPr>
          <p:cNvPicPr>
            <a:picLocks noChangeAspect="1"/>
          </p:cNvPicPr>
          <p:nvPr/>
        </p:nvPicPr>
        <p:blipFill>
          <a:blip r:embed="rId3"/>
          <a:stretch>
            <a:fillRect/>
          </a:stretch>
        </p:blipFill>
        <p:spPr>
          <a:xfrm>
            <a:off x="0" y="6540163"/>
            <a:ext cx="1019230" cy="296398"/>
          </a:xfrm>
          <a:prstGeom prst="rect">
            <a:avLst/>
          </a:prstGeom>
        </p:spPr>
      </p:pic>
      <p:sp>
        <p:nvSpPr>
          <p:cNvPr id="8" name="矩形 7">
            <a:extLst>
              <a:ext uri="{FF2B5EF4-FFF2-40B4-BE49-F238E27FC236}">
                <a16:creationId xmlns:a16="http://schemas.microsoft.com/office/drawing/2014/main" id="{444102AB-6D84-F4EF-1F5B-65D1CFC45A9E}"/>
              </a:ext>
            </a:extLst>
          </p:cNvPr>
          <p:cNvSpPr/>
          <p:nvPr/>
        </p:nvSpPr>
        <p:spPr>
          <a:xfrm>
            <a:off x="7343006" y="0"/>
            <a:ext cx="2445542"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研究内容</a:t>
            </a:r>
          </a:p>
        </p:txBody>
      </p:sp>
      <p:grpSp>
        <p:nvGrpSpPr>
          <p:cNvPr id="15" name="组合 14">
            <a:extLst>
              <a:ext uri="{FF2B5EF4-FFF2-40B4-BE49-F238E27FC236}">
                <a16:creationId xmlns:a16="http://schemas.microsoft.com/office/drawing/2014/main" id="{8A276DD2-72A7-94EC-E840-A62F97BB4722}"/>
              </a:ext>
            </a:extLst>
          </p:cNvPr>
          <p:cNvGrpSpPr/>
          <p:nvPr/>
        </p:nvGrpSpPr>
        <p:grpSpPr>
          <a:xfrm>
            <a:off x="328920" y="1172614"/>
            <a:ext cx="11525387" cy="2703730"/>
            <a:chOff x="328921" y="1315683"/>
            <a:chExt cx="11525387" cy="2703730"/>
          </a:xfrm>
        </p:grpSpPr>
        <p:sp>
          <p:nvSpPr>
            <p:cNvPr id="11" name="矩形 10">
              <a:extLst>
                <a:ext uri="{FF2B5EF4-FFF2-40B4-BE49-F238E27FC236}">
                  <a16:creationId xmlns:a16="http://schemas.microsoft.com/office/drawing/2014/main" id="{1D313703-0265-3D09-60D4-98B8E2CB8B5C}"/>
                </a:ext>
              </a:extLst>
            </p:cNvPr>
            <p:cNvSpPr/>
            <p:nvPr/>
          </p:nvSpPr>
          <p:spPr>
            <a:xfrm>
              <a:off x="328921" y="1315683"/>
              <a:ext cx="11525387" cy="270373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AA7BA9E4-0D99-CA4A-89CA-AD2E57921D52}"/>
                </a:ext>
              </a:extLst>
            </p:cNvPr>
            <p:cNvSpPr/>
            <p:nvPr/>
          </p:nvSpPr>
          <p:spPr>
            <a:xfrm>
              <a:off x="388127" y="1369991"/>
              <a:ext cx="2195388" cy="386446"/>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r>
                <a:rPr lang="zh-CN" altLang="pl-PL" sz="1600" b="1" dirty="0">
                  <a:solidFill>
                    <a:schemeClr val="tx1"/>
                  </a:solidFill>
                  <a:latin typeface="微软雅黑" panose="020B0503020204020204" pitchFamily="34" charset="-122"/>
                  <a:ea typeface="微软雅黑" panose="020B0503020204020204" pitchFamily="34" charset="-122"/>
                </a:rPr>
                <a:t>原始 </a:t>
              </a:r>
              <a:r>
                <a:rPr lang="pl-PL" altLang="zh-CN" sz="1600" b="1" dirty="0">
                  <a:solidFill>
                    <a:schemeClr val="tx1"/>
                  </a:solidFill>
                  <a:latin typeface="微软雅黑" panose="020B0503020204020204" pitchFamily="34" charset="-122"/>
                  <a:ea typeface="微软雅黑" panose="020B0503020204020204" pitchFamily="34" charset="-122"/>
                </a:rPr>
                <a:t>Z-score</a:t>
              </a:r>
              <a:r>
                <a:rPr lang="zh-CN" altLang="pl-PL" sz="1600" b="1" dirty="0">
                  <a:solidFill>
                    <a:schemeClr val="tx1"/>
                  </a:solidFill>
                  <a:latin typeface="微软雅黑" panose="020B0503020204020204" pitchFamily="34" charset="-122"/>
                  <a:ea typeface="微软雅黑" panose="020B0503020204020204" pitchFamily="34" charset="-122"/>
                </a:rPr>
                <a:t>的分布</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46AD1561-02AF-1504-9550-5AC7A5924D6B}"/>
                </a:ext>
              </a:extLst>
            </p:cNvPr>
            <p:cNvSpPr txBox="1"/>
            <p:nvPr/>
          </p:nvSpPr>
          <p:spPr>
            <a:xfrm>
              <a:off x="388126" y="1669088"/>
              <a:ext cx="2195389" cy="738664"/>
            </a:xfrm>
            <a:prstGeom prst="rect">
              <a:avLst/>
            </a:prstGeom>
            <a:noFill/>
          </p:spPr>
          <p:txBody>
            <a:bodyPr wrap="square" rtlCol="0">
              <a:spAutoFit/>
            </a:bodyPr>
            <a:lstStyle/>
            <a:p>
              <a:r>
                <a:rPr lang="zh-CN" altLang="en-US" sz="1400" dirty="0"/>
                <a:t>展示了单细胞 </a:t>
              </a:r>
              <a:r>
                <a:rPr lang="en-US" altLang="zh-CN" sz="1400" dirty="0"/>
                <a:t>GWAS </a:t>
              </a:r>
              <a:r>
                <a:rPr lang="zh-CN" altLang="en-US" sz="1400" dirty="0"/>
                <a:t>富集分析在进行核心网络传播</a:t>
              </a:r>
              <a:r>
                <a:rPr lang="zh-CN" altLang="en-US" sz="1400" b="1" dirty="0"/>
                <a:t>前</a:t>
              </a:r>
              <a:r>
                <a:rPr lang="zh-CN" altLang="en-US" sz="1400" dirty="0"/>
                <a:t>的基线状态。</a:t>
              </a:r>
            </a:p>
          </p:txBody>
        </p:sp>
      </p:grpSp>
      <p:grpSp>
        <p:nvGrpSpPr>
          <p:cNvPr id="16" name="组合 15">
            <a:extLst>
              <a:ext uri="{FF2B5EF4-FFF2-40B4-BE49-F238E27FC236}">
                <a16:creationId xmlns:a16="http://schemas.microsoft.com/office/drawing/2014/main" id="{15D653B9-76B3-B92C-A7DD-3BC1EA12C45E}"/>
              </a:ext>
            </a:extLst>
          </p:cNvPr>
          <p:cNvGrpSpPr/>
          <p:nvPr/>
        </p:nvGrpSpPr>
        <p:grpSpPr>
          <a:xfrm>
            <a:off x="328920" y="3930652"/>
            <a:ext cx="11525387" cy="2815618"/>
            <a:chOff x="328921" y="1315683"/>
            <a:chExt cx="11525387" cy="2815618"/>
          </a:xfrm>
        </p:grpSpPr>
        <p:sp>
          <p:nvSpPr>
            <p:cNvPr id="17" name="矩形 16">
              <a:extLst>
                <a:ext uri="{FF2B5EF4-FFF2-40B4-BE49-F238E27FC236}">
                  <a16:creationId xmlns:a16="http://schemas.microsoft.com/office/drawing/2014/main" id="{BB1DC4BB-F460-C336-4B90-3B1ED8A92BE5}"/>
                </a:ext>
              </a:extLst>
            </p:cNvPr>
            <p:cNvSpPr/>
            <p:nvPr/>
          </p:nvSpPr>
          <p:spPr>
            <a:xfrm>
              <a:off x="328921" y="1315683"/>
              <a:ext cx="11525387" cy="270373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2E1A7050-02F4-51CB-1FF3-20A9ECEE89A9}"/>
                </a:ext>
              </a:extLst>
            </p:cNvPr>
            <p:cNvSpPr/>
            <p:nvPr/>
          </p:nvSpPr>
          <p:spPr>
            <a:xfrm>
              <a:off x="388127" y="1369991"/>
              <a:ext cx="2195388" cy="386446"/>
            </a:xfrm>
            <a:prstGeom prst="roundRect">
              <a:avLst>
                <a:gd name="adj" fmla="val 46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r>
                <a:rPr lang="en-US" altLang="zh-CN" sz="1600" b="1" dirty="0">
                  <a:solidFill>
                    <a:schemeClr val="tx1"/>
                  </a:solidFill>
                  <a:latin typeface="微软雅黑" panose="020B0503020204020204" pitchFamily="34" charset="-122"/>
                  <a:ea typeface="微软雅黑" panose="020B0503020204020204" pitchFamily="34" charset="-122"/>
                </a:rPr>
                <a:t>TRS</a:t>
              </a:r>
              <a:r>
                <a:rPr lang="zh-CN" altLang="pl-PL" sz="1600" b="1" dirty="0">
                  <a:solidFill>
                    <a:schemeClr val="tx1"/>
                  </a:solidFill>
                  <a:latin typeface="微软雅黑" panose="020B0503020204020204" pitchFamily="34" charset="-122"/>
                  <a:ea typeface="微软雅黑" panose="020B0503020204020204" pitchFamily="34" charset="-122"/>
                </a:rPr>
                <a:t>的分布</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5F1EB2E-4D27-CE4B-42D1-6F1EF24BABF8}"/>
                </a:ext>
              </a:extLst>
            </p:cNvPr>
            <p:cNvSpPr txBox="1"/>
            <p:nvPr/>
          </p:nvSpPr>
          <p:spPr>
            <a:xfrm>
              <a:off x="388126" y="1669088"/>
              <a:ext cx="2195389" cy="2462213"/>
            </a:xfrm>
            <a:prstGeom prst="rect">
              <a:avLst/>
            </a:prstGeom>
            <a:noFill/>
          </p:spPr>
          <p:txBody>
            <a:bodyPr wrap="square" rtlCol="0">
              <a:spAutoFit/>
            </a:bodyPr>
            <a:lstStyle/>
            <a:p>
              <a:r>
                <a:rPr lang="zh-CN" altLang="en-US" sz="1400" dirty="0"/>
                <a:t>经过网络传播和归一化处理后，</a:t>
              </a:r>
              <a:r>
                <a:rPr lang="en-US" altLang="zh-CN" sz="1400" dirty="0"/>
                <a:t>SCAVENGE </a:t>
              </a:r>
              <a:r>
                <a:rPr lang="zh-CN" altLang="en-US" sz="1400" dirty="0"/>
                <a:t>算法发挥核心威力的</a:t>
              </a:r>
              <a:r>
                <a:rPr lang="zh-CN" altLang="en-US" sz="1400" b="1" dirty="0"/>
                <a:t>最终成果展示。</a:t>
              </a:r>
              <a:endParaRPr lang="en-US" altLang="zh-CN" sz="1400" b="1" dirty="0"/>
            </a:p>
            <a:p>
              <a:r>
                <a:rPr lang="zh-CN" altLang="en-US" sz="1400" dirty="0"/>
                <a:t> </a:t>
              </a:r>
              <a:r>
                <a:rPr lang="en-US" altLang="zh-CN" sz="1400" dirty="0"/>
                <a:t>LYM </a:t>
              </a:r>
              <a:r>
                <a:rPr lang="zh-CN" altLang="en-US" sz="1400" dirty="0"/>
                <a:t>在单细胞层面面临极高测序脱落率。传统的单纯叠加 </a:t>
              </a:r>
              <a:r>
                <a:rPr lang="en-US" altLang="zh-CN" sz="1400" dirty="0"/>
                <a:t>GWAS </a:t>
              </a:r>
              <a:r>
                <a:rPr lang="zh-CN" altLang="en-US" sz="1400" dirty="0"/>
                <a:t>信号的方法是完全失效的。</a:t>
              </a:r>
              <a:r>
                <a:rPr lang="en-US" altLang="zh-CN" sz="1400" dirty="0"/>
                <a:t>SCAVENGE </a:t>
              </a:r>
              <a:r>
                <a:rPr lang="zh-CN" altLang="en-US" sz="1400" dirty="0"/>
                <a:t>成功找回了符合常识的生物学真相。</a:t>
              </a:r>
            </a:p>
            <a:p>
              <a:endParaRPr lang="zh-CN" altLang="en-US" sz="1400" dirty="0"/>
            </a:p>
          </p:txBody>
        </p:sp>
      </p:grpSp>
      <p:pic>
        <p:nvPicPr>
          <p:cNvPr id="23" name="图片 22">
            <a:extLst>
              <a:ext uri="{FF2B5EF4-FFF2-40B4-BE49-F238E27FC236}">
                <a16:creationId xmlns:a16="http://schemas.microsoft.com/office/drawing/2014/main" id="{903B9EE3-1128-8200-9E14-873F09F79059}"/>
              </a:ext>
            </a:extLst>
          </p:cNvPr>
          <p:cNvPicPr>
            <a:picLocks noChangeAspect="1"/>
          </p:cNvPicPr>
          <p:nvPr/>
        </p:nvPicPr>
        <p:blipFill>
          <a:blip r:embed="rId4"/>
          <a:stretch>
            <a:fillRect/>
          </a:stretch>
        </p:blipFill>
        <p:spPr>
          <a:xfrm>
            <a:off x="2652192" y="3996472"/>
            <a:ext cx="3617039" cy="2583599"/>
          </a:xfrm>
          <a:prstGeom prst="rect">
            <a:avLst/>
          </a:prstGeom>
        </p:spPr>
      </p:pic>
      <p:pic>
        <p:nvPicPr>
          <p:cNvPr id="25" name="图片 24">
            <a:extLst>
              <a:ext uri="{FF2B5EF4-FFF2-40B4-BE49-F238E27FC236}">
                <a16:creationId xmlns:a16="http://schemas.microsoft.com/office/drawing/2014/main" id="{B41FD043-D6C8-C78A-AD9E-17B29ACF2205}"/>
              </a:ext>
            </a:extLst>
          </p:cNvPr>
          <p:cNvPicPr>
            <a:picLocks noChangeAspect="1"/>
          </p:cNvPicPr>
          <p:nvPr/>
        </p:nvPicPr>
        <p:blipFill>
          <a:blip r:embed="rId5"/>
          <a:stretch>
            <a:fillRect/>
          </a:stretch>
        </p:blipFill>
        <p:spPr>
          <a:xfrm>
            <a:off x="6377849" y="3996472"/>
            <a:ext cx="5190223" cy="2595111"/>
          </a:xfrm>
          <a:prstGeom prst="rect">
            <a:avLst/>
          </a:prstGeom>
        </p:spPr>
      </p:pic>
      <p:pic>
        <p:nvPicPr>
          <p:cNvPr id="5124" name="Picture 4">
            <a:extLst>
              <a:ext uri="{FF2B5EF4-FFF2-40B4-BE49-F238E27FC236}">
                <a16:creationId xmlns:a16="http://schemas.microsoft.com/office/drawing/2014/main" id="{DAE76D75-3B49-1F24-1FE3-6C78510331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2192" y="1235164"/>
            <a:ext cx="3617040" cy="25836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E84DD565-BCA2-ACCA-5F67-1414B3B4307E}"/>
              </a:ext>
            </a:extLst>
          </p:cNvPr>
          <p:cNvSpPr>
            <a:spLocks noChangeArrowheads="1"/>
          </p:cNvSpPr>
          <p:nvPr/>
        </p:nvSpPr>
        <p:spPr bwMode="auto">
          <a:xfrm flipV="1">
            <a:off x="2652192" y="-10468739"/>
            <a:ext cx="9396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3" name="图片 12">
            <a:extLst>
              <a:ext uri="{FF2B5EF4-FFF2-40B4-BE49-F238E27FC236}">
                <a16:creationId xmlns:a16="http://schemas.microsoft.com/office/drawing/2014/main" id="{604009F3-DB1E-7256-E7A5-C24496AAFC41}"/>
              </a:ext>
            </a:extLst>
          </p:cNvPr>
          <p:cNvPicPr>
            <a:picLocks noChangeAspect="1"/>
          </p:cNvPicPr>
          <p:nvPr/>
        </p:nvPicPr>
        <p:blipFill>
          <a:blip r:embed="rId7"/>
          <a:stretch>
            <a:fillRect/>
          </a:stretch>
        </p:blipFill>
        <p:spPr>
          <a:xfrm>
            <a:off x="6377849" y="1223653"/>
            <a:ext cx="5190223" cy="2595111"/>
          </a:xfrm>
          <a:prstGeom prst="rect">
            <a:avLst/>
          </a:prstGeom>
        </p:spPr>
      </p:pic>
      <p:pic>
        <p:nvPicPr>
          <p:cNvPr id="19" name="图片 18">
            <a:extLst>
              <a:ext uri="{FF2B5EF4-FFF2-40B4-BE49-F238E27FC236}">
                <a16:creationId xmlns:a16="http://schemas.microsoft.com/office/drawing/2014/main" id="{195FC446-70FB-7C9B-FEEC-3F0FB64F452D}"/>
              </a:ext>
            </a:extLst>
          </p:cNvPr>
          <p:cNvPicPr>
            <a:picLocks noChangeAspect="1"/>
          </p:cNvPicPr>
          <p:nvPr/>
        </p:nvPicPr>
        <p:blipFill>
          <a:blip r:embed="rId8"/>
          <a:stretch>
            <a:fillRect/>
          </a:stretch>
        </p:blipFill>
        <p:spPr>
          <a:xfrm>
            <a:off x="2642719" y="3996472"/>
            <a:ext cx="3617040" cy="2583600"/>
          </a:xfrm>
          <a:prstGeom prst="rect">
            <a:avLst/>
          </a:prstGeom>
        </p:spPr>
      </p:pic>
      <p:pic>
        <p:nvPicPr>
          <p:cNvPr id="24" name="图片 23">
            <a:extLst>
              <a:ext uri="{FF2B5EF4-FFF2-40B4-BE49-F238E27FC236}">
                <a16:creationId xmlns:a16="http://schemas.microsoft.com/office/drawing/2014/main" id="{2D7605E8-B0D4-41BE-A5DD-4DF916D60DBB}"/>
              </a:ext>
            </a:extLst>
          </p:cNvPr>
          <p:cNvPicPr>
            <a:picLocks noChangeAspect="1"/>
          </p:cNvPicPr>
          <p:nvPr/>
        </p:nvPicPr>
        <p:blipFill>
          <a:blip r:embed="rId9"/>
          <a:stretch>
            <a:fillRect/>
          </a:stretch>
        </p:blipFill>
        <p:spPr>
          <a:xfrm>
            <a:off x="6377849" y="3996472"/>
            <a:ext cx="5190223" cy="2595111"/>
          </a:xfrm>
          <a:prstGeom prst="rect">
            <a:avLst/>
          </a:prstGeom>
        </p:spPr>
      </p:pic>
    </p:spTree>
    <p:extLst>
      <p:ext uri="{BB962C8B-B14F-4D97-AF65-F5344CB8AC3E}">
        <p14:creationId xmlns:p14="http://schemas.microsoft.com/office/powerpoint/2010/main" val="919669054"/>
      </p:ext>
    </p:extLst>
  </p:cSld>
  <p:clrMapOvr>
    <a:masterClrMapping/>
  </p:clrMapOvr>
  <mc:AlternateContent xmlns:mc="http://schemas.openxmlformats.org/markup-compatibility/2006" xmlns:p14="http://schemas.microsoft.com/office/powerpoint/2010/main">
    <mc:Choice Requires="p14">
      <p:transition spd="slow" p14:dur="2000" advTm="73796"/>
    </mc:Choice>
    <mc:Fallback xmlns="" xmlns:a14="http://schemas.microsoft.com/office/drawing/2010/main">
      <p:transition spd="slow" advTm="7379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C732D-00BC-96B6-BE0E-2B49ADD8F422}"/>
            </a:ext>
          </a:extLst>
        </p:cNvPr>
        <p:cNvGrpSpPr/>
        <p:nvPr/>
      </p:nvGrpSpPr>
      <p:grpSpPr>
        <a:xfrm>
          <a:off x="0" y="0"/>
          <a:ext cx="0" cy="0"/>
          <a:chOff x="0" y="0"/>
          <a:chExt cx="0" cy="0"/>
        </a:xfrm>
      </p:grpSpPr>
      <p:sp>
        <p:nvSpPr>
          <p:cNvPr id="30" name="矩形: 圆角 29">
            <a:extLst>
              <a:ext uri="{FF2B5EF4-FFF2-40B4-BE49-F238E27FC236}">
                <a16:creationId xmlns:a16="http://schemas.microsoft.com/office/drawing/2014/main" id="{B04BADE3-B307-434C-5BDF-9580A1121A98}"/>
              </a:ext>
            </a:extLst>
          </p:cNvPr>
          <p:cNvSpPr/>
          <p:nvPr/>
        </p:nvSpPr>
        <p:spPr>
          <a:xfrm>
            <a:off x="491588" y="1324426"/>
            <a:ext cx="6073673" cy="2104574"/>
          </a:xfrm>
          <a:prstGeom prst="roundRect">
            <a:avLst>
              <a:gd name="adj" fmla="val 11956"/>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ffectLst/>
            </a:endParaRPr>
          </a:p>
        </p:txBody>
      </p:sp>
      <p:sp>
        <p:nvSpPr>
          <p:cNvPr id="47" name="矩形 46">
            <a:extLst>
              <a:ext uri="{FF2B5EF4-FFF2-40B4-BE49-F238E27FC236}">
                <a16:creationId xmlns:a16="http://schemas.microsoft.com/office/drawing/2014/main" id="{E074942D-1FB7-D10E-ACEA-D164A6B1665D}"/>
              </a:ext>
            </a:extLst>
          </p:cNvPr>
          <p:cNvSpPr/>
          <p:nvPr/>
        </p:nvSpPr>
        <p:spPr>
          <a:xfrm>
            <a:off x="1398861" y="1073272"/>
            <a:ext cx="2581081" cy="353242"/>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生物学视角的真实性评估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34EA5A9C-92C9-0C58-522B-494B789FB620}"/>
              </a:ext>
            </a:extLst>
          </p:cNvPr>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13</a:t>
            </a:fld>
            <a:endParaRPr lang="zh-CN" altLang="en-US"/>
          </a:p>
        </p:txBody>
      </p:sp>
      <p:pic>
        <p:nvPicPr>
          <p:cNvPr id="2" name="图片 1">
            <a:extLst>
              <a:ext uri="{FF2B5EF4-FFF2-40B4-BE49-F238E27FC236}">
                <a16:creationId xmlns:a16="http://schemas.microsoft.com/office/drawing/2014/main" id="{2B6F281B-9FCD-4901-BE14-B806CAB80071}"/>
              </a:ext>
            </a:extLst>
          </p:cNvPr>
          <p:cNvPicPr>
            <a:picLocks noChangeAspect="1"/>
          </p:cNvPicPr>
          <p:nvPr/>
        </p:nvPicPr>
        <p:blipFill>
          <a:blip r:embed="rId3"/>
          <a:stretch>
            <a:fillRect/>
          </a:stretch>
        </p:blipFill>
        <p:spPr>
          <a:xfrm>
            <a:off x="0" y="6540163"/>
            <a:ext cx="1019230" cy="296398"/>
          </a:xfrm>
          <a:prstGeom prst="rect">
            <a:avLst/>
          </a:prstGeom>
        </p:spPr>
      </p:pic>
      <p:sp>
        <p:nvSpPr>
          <p:cNvPr id="3" name="矩形 2">
            <a:extLst>
              <a:ext uri="{FF2B5EF4-FFF2-40B4-BE49-F238E27FC236}">
                <a16:creationId xmlns:a16="http://schemas.microsoft.com/office/drawing/2014/main" id="{65E5A2EF-2A1B-E89C-6E2C-794A5F058DC5}"/>
              </a:ext>
            </a:extLst>
          </p:cNvPr>
          <p:cNvSpPr/>
          <p:nvPr/>
        </p:nvSpPr>
        <p:spPr>
          <a:xfrm>
            <a:off x="9734550" y="0"/>
            <a:ext cx="2457450" cy="66436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评估与改进</a:t>
            </a:r>
          </a:p>
        </p:txBody>
      </p:sp>
      <p:sp>
        <p:nvSpPr>
          <p:cNvPr id="26" name="矩形: 圆角 25">
            <a:extLst>
              <a:ext uri="{FF2B5EF4-FFF2-40B4-BE49-F238E27FC236}">
                <a16:creationId xmlns:a16="http://schemas.microsoft.com/office/drawing/2014/main" id="{3DCD9DD0-7C8F-4F3C-9A36-277A0C0AE4FF}"/>
              </a:ext>
            </a:extLst>
          </p:cNvPr>
          <p:cNvSpPr/>
          <p:nvPr/>
        </p:nvSpPr>
        <p:spPr>
          <a:xfrm>
            <a:off x="645612" y="1529616"/>
            <a:ext cx="2734900" cy="166079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C3286847-C053-A996-593F-DFAC18171ED2}"/>
              </a:ext>
            </a:extLst>
          </p:cNvPr>
          <p:cNvSpPr/>
          <p:nvPr/>
        </p:nvSpPr>
        <p:spPr>
          <a:xfrm>
            <a:off x="646396" y="1590074"/>
            <a:ext cx="2745690" cy="515433"/>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细胞类型富集特异性</a:t>
            </a:r>
          </a:p>
        </p:txBody>
      </p:sp>
      <p:sp>
        <p:nvSpPr>
          <p:cNvPr id="29" name="矩形 28">
            <a:extLst>
              <a:ext uri="{FF2B5EF4-FFF2-40B4-BE49-F238E27FC236}">
                <a16:creationId xmlns:a16="http://schemas.microsoft.com/office/drawing/2014/main" id="{7F600BD4-C776-459B-B73A-120910589CBF}"/>
              </a:ext>
            </a:extLst>
          </p:cNvPr>
          <p:cNvSpPr/>
          <p:nvPr/>
        </p:nvSpPr>
        <p:spPr>
          <a:xfrm>
            <a:off x="732418" y="2105507"/>
            <a:ext cx="2561288" cy="934448"/>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a:lnSpc>
                <a:spcPct val="125000"/>
              </a:lnSpc>
            </a:pPr>
            <a:r>
              <a:rPr lang="zh-CN" altLang="en-US" sz="1600" dirty="0">
                <a:solidFill>
                  <a:schemeClr val="tx1"/>
                </a:solidFill>
              </a:rPr>
              <a:t>严谨验证算法高分是否精准锚定已知生物学效应细胞的“生死线”指标。</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31" name="矩形: 圆角 30">
            <a:extLst>
              <a:ext uri="{FF2B5EF4-FFF2-40B4-BE49-F238E27FC236}">
                <a16:creationId xmlns:a16="http://schemas.microsoft.com/office/drawing/2014/main" id="{3B13C81B-3423-9510-9298-895992B503E5}"/>
              </a:ext>
            </a:extLst>
          </p:cNvPr>
          <p:cNvSpPr/>
          <p:nvPr/>
        </p:nvSpPr>
        <p:spPr>
          <a:xfrm>
            <a:off x="3677401" y="1529616"/>
            <a:ext cx="2734900" cy="166079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CB849DFC-E062-D087-5C48-0B17845CC866}"/>
              </a:ext>
            </a:extLst>
          </p:cNvPr>
          <p:cNvSpPr/>
          <p:nvPr/>
        </p:nvSpPr>
        <p:spPr>
          <a:xfrm>
            <a:off x="3678185" y="1590074"/>
            <a:ext cx="2745690" cy="515433"/>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信噪比提升度</a:t>
            </a:r>
          </a:p>
        </p:txBody>
      </p:sp>
      <p:sp>
        <p:nvSpPr>
          <p:cNvPr id="33" name="矩形 32">
            <a:extLst>
              <a:ext uri="{FF2B5EF4-FFF2-40B4-BE49-F238E27FC236}">
                <a16:creationId xmlns:a16="http://schemas.microsoft.com/office/drawing/2014/main" id="{D5225E7F-7924-7639-BD3A-71DCF2E1CE6A}"/>
              </a:ext>
            </a:extLst>
          </p:cNvPr>
          <p:cNvSpPr/>
          <p:nvPr/>
        </p:nvSpPr>
        <p:spPr>
          <a:xfrm>
            <a:off x="3764207" y="2105507"/>
            <a:ext cx="2561288" cy="934448"/>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a:lnSpc>
                <a:spcPct val="125000"/>
              </a:lnSpc>
            </a:pPr>
            <a:r>
              <a:rPr lang="zh-CN" altLang="en-US" sz="1600" dirty="0">
                <a:solidFill>
                  <a:schemeClr val="tx1"/>
                </a:solidFill>
              </a:rPr>
              <a:t>量化证明算法能够从极度稀疏的噪音中精准打捞并聚拢真实生物学信号的数学体现。</a:t>
            </a:r>
            <a:endParaRPr lang="en-US" altLang="zh-CN" sz="1600" dirty="0">
              <a:solidFill>
                <a:schemeClr val="tx1"/>
              </a:solidFill>
            </a:endParaRPr>
          </a:p>
        </p:txBody>
      </p:sp>
      <p:sp>
        <p:nvSpPr>
          <p:cNvPr id="35" name="矩形: 圆角 34">
            <a:extLst>
              <a:ext uri="{FF2B5EF4-FFF2-40B4-BE49-F238E27FC236}">
                <a16:creationId xmlns:a16="http://schemas.microsoft.com/office/drawing/2014/main" id="{8F1343A4-15F4-DAE6-F47C-66DCDA6E67EA}"/>
              </a:ext>
            </a:extLst>
          </p:cNvPr>
          <p:cNvSpPr/>
          <p:nvPr/>
        </p:nvSpPr>
        <p:spPr>
          <a:xfrm>
            <a:off x="491588" y="3885344"/>
            <a:ext cx="6073673" cy="2104574"/>
          </a:xfrm>
          <a:prstGeom prst="roundRect">
            <a:avLst>
              <a:gd name="adj" fmla="val 11956"/>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ffectLst/>
            </a:endParaRPr>
          </a:p>
        </p:txBody>
      </p:sp>
      <p:sp>
        <p:nvSpPr>
          <p:cNvPr id="36" name="矩形 35">
            <a:extLst>
              <a:ext uri="{FF2B5EF4-FFF2-40B4-BE49-F238E27FC236}">
                <a16:creationId xmlns:a16="http://schemas.microsoft.com/office/drawing/2014/main" id="{14052754-A786-026F-2166-78647403D4CA}"/>
              </a:ext>
            </a:extLst>
          </p:cNvPr>
          <p:cNvSpPr/>
          <p:nvPr/>
        </p:nvSpPr>
        <p:spPr>
          <a:xfrm>
            <a:off x="1398861" y="3634190"/>
            <a:ext cx="2734900" cy="353242"/>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算法层面的机制与效能评估</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7" name="矩形: 圆角 36">
            <a:extLst>
              <a:ext uri="{FF2B5EF4-FFF2-40B4-BE49-F238E27FC236}">
                <a16:creationId xmlns:a16="http://schemas.microsoft.com/office/drawing/2014/main" id="{74F3BE47-A445-BE18-93CB-A52D9BF32A79}"/>
              </a:ext>
            </a:extLst>
          </p:cNvPr>
          <p:cNvSpPr/>
          <p:nvPr/>
        </p:nvSpPr>
        <p:spPr>
          <a:xfrm>
            <a:off x="645612" y="4090534"/>
            <a:ext cx="2734900" cy="166079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8CB281DB-D766-A5FC-C883-5D0C7830BB12}"/>
              </a:ext>
            </a:extLst>
          </p:cNvPr>
          <p:cNvSpPr/>
          <p:nvPr/>
        </p:nvSpPr>
        <p:spPr>
          <a:xfrm>
            <a:off x="646396" y="4150992"/>
            <a:ext cx="2745690" cy="515433"/>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内部消融对照 </a:t>
            </a:r>
          </a:p>
        </p:txBody>
      </p:sp>
      <p:sp>
        <p:nvSpPr>
          <p:cNvPr id="39" name="矩形 38">
            <a:extLst>
              <a:ext uri="{FF2B5EF4-FFF2-40B4-BE49-F238E27FC236}">
                <a16:creationId xmlns:a16="http://schemas.microsoft.com/office/drawing/2014/main" id="{6C82578D-3535-650A-77B7-7A686C2E1B7F}"/>
              </a:ext>
            </a:extLst>
          </p:cNvPr>
          <p:cNvSpPr/>
          <p:nvPr/>
        </p:nvSpPr>
        <p:spPr>
          <a:xfrm>
            <a:off x="732418" y="4666425"/>
            <a:ext cx="2561288" cy="934448"/>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a:lnSpc>
                <a:spcPct val="125000"/>
              </a:lnSpc>
            </a:pPr>
            <a:r>
              <a:rPr lang="zh-CN" altLang="en-US" sz="1600" dirty="0">
                <a:solidFill>
                  <a:schemeClr val="tx1"/>
                </a:solidFill>
              </a:rPr>
              <a:t>通过比对网络传播前后的数据差异，论证互近邻图等核心算法模块必要性。</a:t>
            </a:r>
            <a:endParaRPr lang="en-US" altLang="zh-CN" sz="1600" dirty="0">
              <a:solidFill>
                <a:schemeClr val="tx1"/>
              </a:solidFill>
            </a:endParaRPr>
          </a:p>
        </p:txBody>
      </p:sp>
      <p:sp>
        <p:nvSpPr>
          <p:cNvPr id="40" name="矩形: 圆角 39">
            <a:extLst>
              <a:ext uri="{FF2B5EF4-FFF2-40B4-BE49-F238E27FC236}">
                <a16:creationId xmlns:a16="http://schemas.microsoft.com/office/drawing/2014/main" id="{519A68BA-D31C-9EC1-7E51-D2A82C68D9B5}"/>
              </a:ext>
            </a:extLst>
          </p:cNvPr>
          <p:cNvSpPr/>
          <p:nvPr/>
        </p:nvSpPr>
        <p:spPr>
          <a:xfrm>
            <a:off x="3677401" y="4090534"/>
            <a:ext cx="2734900" cy="166079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6E224F0F-9FC6-9AAA-3C49-7DA9C25A952C}"/>
              </a:ext>
            </a:extLst>
          </p:cNvPr>
          <p:cNvSpPr/>
          <p:nvPr/>
        </p:nvSpPr>
        <p:spPr>
          <a:xfrm>
            <a:off x="3678185" y="4150992"/>
            <a:ext cx="2745690" cy="515433"/>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外部权威对照</a:t>
            </a:r>
          </a:p>
        </p:txBody>
      </p:sp>
      <p:sp>
        <p:nvSpPr>
          <p:cNvPr id="42" name="矩形 41">
            <a:extLst>
              <a:ext uri="{FF2B5EF4-FFF2-40B4-BE49-F238E27FC236}">
                <a16:creationId xmlns:a16="http://schemas.microsoft.com/office/drawing/2014/main" id="{A25C3D0A-C3C6-A0C6-4A29-673065B305B0}"/>
              </a:ext>
            </a:extLst>
          </p:cNvPr>
          <p:cNvSpPr/>
          <p:nvPr/>
        </p:nvSpPr>
        <p:spPr>
          <a:xfrm>
            <a:off x="3764207" y="4666425"/>
            <a:ext cx="2561288" cy="934448"/>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a:lnSpc>
                <a:spcPct val="125000"/>
              </a:lnSpc>
            </a:pPr>
            <a:r>
              <a:rPr lang="zh-CN" altLang="en-US" sz="1600" dirty="0">
                <a:solidFill>
                  <a:schemeClr val="tx1"/>
                </a:solidFill>
              </a:rPr>
              <a:t>对抗现有工具</a:t>
            </a:r>
            <a:r>
              <a:rPr lang="en-US" altLang="zh-CN" sz="1600" dirty="0" err="1">
                <a:solidFill>
                  <a:schemeClr val="tx1"/>
                </a:solidFill>
              </a:rPr>
              <a:t>scDRS</a:t>
            </a:r>
            <a:r>
              <a:rPr lang="zh-CN" altLang="en-US" sz="1600" dirty="0">
                <a:solidFill>
                  <a:schemeClr val="tx1"/>
                </a:solidFill>
              </a:rPr>
              <a:t>，确立 </a:t>
            </a:r>
            <a:r>
              <a:rPr lang="en-US" altLang="zh-CN" sz="1600" dirty="0">
                <a:solidFill>
                  <a:schemeClr val="tx1"/>
                </a:solidFill>
              </a:rPr>
              <a:t>SCAVENGE </a:t>
            </a:r>
            <a:r>
              <a:rPr lang="zh-CN" altLang="en-US" sz="1600" dirty="0">
                <a:solidFill>
                  <a:schemeClr val="tx1"/>
                </a:solidFill>
              </a:rPr>
              <a:t>在表观遗传分析领域的不可替代性</a:t>
            </a:r>
          </a:p>
        </p:txBody>
      </p:sp>
      <p:sp>
        <p:nvSpPr>
          <p:cNvPr id="43" name="矩形: 圆角 42">
            <a:extLst>
              <a:ext uri="{FF2B5EF4-FFF2-40B4-BE49-F238E27FC236}">
                <a16:creationId xmlns:a16="http://schemas.microsoft.com/office/drawing/2014/main" id="{7ED902FD-4D0A-0175-9075-865917B6BF16}"/>
              </a:ext>
            </a:extLst>
          </p:cNvPr>
          <p:cNvSpPr/>
          <p:nvPr/>
        </p:nvSpPr>
        <p:spPr>
          <a:xfrm>
            <a:off x="6943519" y="1324426"/>
            <a:ext cx="4756893" cy="4665492"/>
          </a:xfrm>
          <a:prstGeom prst="roundRect">
            <a:avLst>
              <a:gd name="adj" fmla="val 11956"/>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ffectLst/>
            </a:endParaRPr>
          </a:p>
        </p:txBody>
      </p:sp>
      <p:sp>
        <p:nvSpPr>
          <p:cNvPr id="44" name="矩形 43">
            <a:extLst>
              <a:ext uri="{FF2B5EF4-FFF2-40B4-BE49-F238E27FC236}">
                <a16:creationId xmlns:a16="http://schemas.microsoft.com/office/drawing/2014/main" id="{384BE6B0-9205-F878-EEBD-6009F96E9C4B}"/>
              </a:ext>
            </a:extLst>
          </p:cNvPr>
          <p:cNvSpPr/>
          <p:nvPr/>
        </p:nvSpPr>
        <p:spPr>
          <a:xfrm>
            <a:off x="8558717" y="1073272"/>
            <a:ext cx="1526496" cy="353242"/>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改进方向</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C64BC64F-3728-86A4-0E2A-B9F3E3C14319}"/>
              </a:ext>
            </a:extLst>
          </p:cNvPr>
          <p:cNvSpPr txBox="1"/>
          <p:nvPr/>
        </p:nvSpPr>
        <p:spPr>
          <a:xfrm>
            <a:off x="7214102" y="2203029"/>
            <a:ext cx="4177295" cy="286232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接下来的工作核心将全面转向对算法的严谨量化论证，彻底摆脱单纯的主观视觉对比。完成四个评估指标。</a:t>
            </a:r>
            <a:endParaRPr lang="en-US" altLang="zh-CN" dirty="0"/>
          </a:p>
          <a:p>
            <a:endParaRPr lang="en-US" altLang="zh-CN" dirty="0"/>
          </a:p>
          <a:p>
            <a:pPr marL="285750" indent="-285750">
              <a:buFont typeface="Arial" panose="020B0604020202020204" pitchFamily="34" charset="0"/>
              <a:buChar char="•"/>
            </a:pPr>
            <a:r>
              <a:rPr lang="zh-CN" altLang="en-US" dirty="0"/>
              <a:t>探索多组学数据融合机制，尝试在现有单细胞 </a:t>
            </a:r>
            <a:r>
              <a:rPr lang="en-US" altLang="zh-CN" dirty="0"/>
              <a:t>ATAC </a:t>
            </a:r>
            <a:r>
              <a:rPr lang="zh-CN" altLang="en-US" dirty="0"/>
              <a:t>数据的基础上，引入单细胞 </a:t>
            </a:r>
            <a:r>
              <a:rPr lang="en-US" altLang="zh-CN" dirty="0"/>
              <a:t>RNA </a:t>
            </a:r>
            <a:r>
              <a:rPr lang="zh-CN" altLang="en-US" dirty="0"/>
              <a:t>测序（</a:t>
            </a:r>
            <a:r>
              <a:rPr lang="en-US" altLang="zh-CN" dirty="0" err="1"/>
              <a:t>scRNA</a:t>
            </a:r>
            <a:r>
              <a:rPr lang="en-US" altLang="zh-CN" dirty="0"/>
              <a:t>-seq</a:t>
            </a:r>
            <a:r>
              <a:rPr lang="zh-CN" altLang="en-US" dirty="0"/>
              <a:t>）等多模态数据，通过多源信息的交叉验证与互补来更全面、精准地优化细胞特征刻画。</a:t>
            </a:r>
          </a:p>
        </p:txBody>
      </p:sp>
    </p:spTree>
    <p:extLst>
      <p:ext uri="{BB962C8B-B14F-4D97-AF65-F5344CB8AC3E}">
        <p14:creationId xmlns:p14="http://schemas.microsoft.com/office/powerpoint/2010/main" val="3114263315"/>
      </p:ext>
    </p:extLst>
  </p:cSld>
  <p:clrMapOvr>
    <a:masterClrMapping/>
  </p:clrMapOvr>
  <mc:AlternateContent xmlns:mc="http://schemas.openxmlformats.org/markup-compatibility/2006" xmlns:p14="http://schemas.microsoft.com/office/powerpoint/2010/main">
    <mc:Choice Requires="p14">
      <p:transition spd="slow" p14:dur="2000" advTm="24342"/>
    </mc:Choice>
    <mc:Fallback xmlns="">
      <p:transition spd="slow" advTm="2434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C7BBEBBC-BA13-DAB6-6131-75025867ACBF}"/>
              </a:ext>
            </a:extLst>
          </p:cNvPr>
          <p:cNvPicPr>
            <a:picLocks noChangeAspect="1"/>
          </p:cNvPicPr>
          <p:nvPr/>
        </p:nvPicPr>
        <p:blipFill>
          <a:blip r:embed="rId3">
            <a:alphaModFix amt="10000"/>
            <a:extLst>
              <a:ext uri="{BEBA8EAE-BF5A-486C-A8C5-ECC9F3942E4B}">
                <a14:imgProps xmlns:a14="http://schemas.microsoft.com/office/drawing/2010/main">
                  <a14:imgLayer r:embed="rId4">
                    <a14:imgEffect>
                      <a14:colorTemperature colorTemp="4800"/>
                    </a14:imgEffect>
                  </a14:imgLayer>
                </a14:imgProps>
              </a:ext>
            </a:extLst>
          </a:blip>
          <a:stretch>
            <a:fillRect/>
          </a:stretch>
        </p:blipFill>
        <p:spPr>
          <a:xfrm>
            <a:off x="263455" y="353281"/>
            <a:ext cx="6151437" cy="6151437"/>
          </a:xfrm>
          <a:prstGeom prst="rect">
            <a:avLst/>
          </a:prstGeom>
        </p:spPr>
      </p:pic>
      <p:sp>
        <p:nvSpPr>
          <p:cNvPr id="5" name="文本框 4"/>
          <p:cNvSpPr txBox="1"/>
          <p:nvPr/>
        </p:nvSpPr>
        <p:spPr>
          <a:xfrm>
            <a:off x="961008" y="2391912"/>
            <a:ext cx="5134992" cy="719987"/>
          </a:xfrm>
          <a:prstGeom prst="rect">
            <a:avLst/>
          </a:prstGeom>
        </p:spPr>
        <p:txBody>
          <a:bodyPr anchor="b">
            <a:normAutofit/>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a:t>敬</a:t>
            </a:r>
            <a:r>
              <a:rPr lang="zh-CN" altLang="en-US">
                <a:latin typeface="微软雅黑" panose="020B0503020204020204" pitchFamily="34" charset="-122"/>
                <a:ea typeface="微软雅黑" panose="020B0503020204020204" pitchFamily="34" charset="-122"/>
              </a:rPr>
              <a:t>请各位老师批评指正</a:t>
            </a:r>
            <a:endParaRPr lang="zh-CN" altLang="en-US"/>
          </a:p>
        </p:txBody>
      </p:sp>
      <p:sp>
        <p:nvSpPr>
          <p:cNvPr id="6" name="任意多边形: 形状 5"/>
          <p:cNvSpPr/>
          <p:nvPr/>
        </p:nvSpPr>
        <p:spPr>
          <a:xfrm rot="10800000">
            <a:off x="2496042" y="1305082"/>
            <a:ext cx="8258441" cy="4597885"/>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文本框 7"/>
          <p:cNvSpPr txBox="1"/>
          <p:nvPr/>
        </p:nvSpPr>
        <p:spPr>
          <a:xfrm>
            <a:off x="2732784" y="3877729"/>
            <a:ext cx="1244251" cy="646331"/>
          </a:xfrm>
          <a:prstGeom prst="rect">
            <a:avLst/>
          </a:prstGeom>
          <a:noFill/>
        </p:spPr>
        <p:txBody>
          <a:bodyPr wrap="none" rtlCol="0">
            <a:spAutoFit/>
          </a:bodyPr>
          <a:lstStyle/>
          <a:p>
            <a:r>
              <a:rPr lang="zh-CN" altLang="en-US" sz="3600">
                <a:latin typeface="微软雅黑" panose="020B0503020204020204" pitchFamily="34" charset="-122"/>
                <a:ea typeface="微软雅黑" panose="020B0503020204020204" pitchFamily="34" charset="-122"/>
              </a:rPr>
              <a:t>谢 谢</a:t>
            </a:r>
          </a:p>
        </p:txBody>
      </p:sp>
      <p:sp>
        <p:nvSpPr>
          <p:cNvPr id="4" name="任意多边形: 形状 3"/>
          <p:cNvSpPr/>
          <p:nvPr/>
        </p:nvSpPr>
        <p:spPr>
          <a:xfrm rot="10800000">
            <a:off x="3262047" y="1130497"/>
            <a:ext cx="8258441" cy="4597885"/>
          </a:xfrm>
          <a:custGeom>
            <a:avLst/>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65" y="connsiteY16-66"/>
              </a:cxn>
              <a:cxn ang="0">
                <a:pos x="connsiteX17-67" y="connsiteY17-68"/>
              </a:cxn>
            </a:cxn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3" name="图片 2">
            <a:extLst>
              <a:ext uri="{FF2B5EF4-FFF2-40B4-BE49-F238E27FC236}">
                <a16:creationId xmlns:a16="http://schemas.microsoft.com/office/drawing/2014/main" id="{03E3937A-FC90-DB01-9C81-52F1C4D985AF}"/>
              </a:ext>
            </a:extLst>
          </p:cNvPr>
          <p:cNvPicPr>
            <a:picLocks noChangeAspect="1"/>
          </p:cNvPicPr>
          <p:nvPr/>
        </p:nvPicPr>
        <p:blipFill>
          <a:blip r:embed="rId5"/>
          <a:stretch>
            <a:fillRect/>
          </a:stretch>
        </p:blipFill>
        <p:spPr>
          <a:xfrm>
            <a:off x="8791844" y="162513"/>
            <a:ext cx="3136701" cy="912171"/>
          </a:xfrm>
          <a:prstGeom prst="rect">
            <a:avLst/>
          </a:prstGeom>
        </p:spPr>
      </p:pic>
      <p:pic>
        <p:nvPicPr>
          <p:cNvPr id="11" name="图片 10">
            <a:extLst>
              <a:ext uri="{FF2B5EF4-FFF2-40B4-BE49-F238E27FC236}">
                <a16:creationId xmlns:a16="http://schemas.microsoft.com/office/drawing/2014/main" id="{9C6A1F5E-6ABA-1D3D-69A3-DFDE7E35CDAB}"/>
              </a:ext>
            </a:extLst>
          </p:cNvPr>
          <p:cNvPicPr>
            <a:picLocks/>
          </p:cNvPicPr>
          <p:nvPr/>
        </p:nvPicPr>
        <p:blipFill>
          <a:blip r:embed="rId6"/>
          <a:srcRect l="27303" t="2467" r="35700" b="3811"/>
          <a:stretch>
            <a:fillRect/>
          </a:stretch>
        </p:blipFill>
        <p:spPr>
          <a:xfrm>
            <a:off x="7815438" y="1277173"/>
            <a:ext cx="3415554" cy="4303651"/>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5.01.14"/>
  <p:tag name="AS_TITLE" val="Aspose.Slides for .NET 4.0 Client Profile"/>
  <p:tag name="AS_VERSION" val="25.1"/>
  <p:tag name="OPCH-4DEDAFCD27445B8C7E8D6285B349EEB2B13006D50D010FC2810D93038F16A2B8" val="[{&quot;GradientColorId&quot;:&quot;&quot;,&quot;IsFree&quot;:true,&quot;IsGradient&quot;:false,&quot;ImagePath&quot;:&quot;&quot;,&quot;GradientColor&quot;:null,&quot;SimpleColor&quot;:&quot;#0070C0&quot;}]"/>
</p:tagLst>
</file>

<file path=ppt/tags/tag2.xml><?xml version="1.0" encoding="utf-8"?>
<p:tagLst xmlns:a="http://schemas.openxmlformats.org/drawingml/2006/main" xmlns:r="http://schemas.openxmlformats.org/officeDocument/2006/relationships" xmlns:p="http://schemas.openxmlformats.org/presentationml/2006/main">
  <p:tag name="TIMING" val="|36.1"/>
</p:tagLst>
</file>

<file path=ppt/tags/tag3.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366"/>
  <p:tag name="OP_SCP_COMPONENT_INFO" val="{&quot;title&quot;:&quot;扁平3项总分思维导图&quot;,&quot;description&quot;:&quot;扁平3项总分思维导图&quot;,&quot;keywords&quot;:[&quot;扁平&quot;,&quot;3项&quot;,&quot;总分&quot;],&quot;labels&quot;:[]}"/>
  <p:tag name="OP_SCP_GROUP_ID" val="20645353-12a9-9791-9a0d-8e2a4611e226"/>
  <p:tag name="OP_SCP_ITEM_COUNT" val="3"/>
</p:tagLst>
</file>

<file path=ppt/tags/tag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0"/>
  <p:tag name="OP_SCP_DEFAULT_TEXT" val="添加标题"/>
</p:tagLst>
</file>

<file path=ppt/tags/tag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ags/tag8.xml><?xml version="1.0" encoding="utf-8"?>
<p:tagLst xmlns:a="http://schemas.openxmlformats.org/drawingml/2006/main" xmlns:r="http://schemas.openxmlformats.org/officeDocument/2006/relationships" xmlns:p="http://schemas.openxmlformats.org/presentationml/2006/main">
  <p:tag name="TYPE" val="vector"/>
</p:tagLst>
</file>

<file path=ppt/tags/tag9.xml><?xml version="1.0" encoding="utf-8"?>
<p:tagLst xmlns:a="http://schemas.openxmlformats.org/drawingml/2006/main" xmlns:r="http://schemas.openxmlformats.org/officeDocument/2006/relationships" xmlns:p="http://schemas.openxmlformats.org/presentationml/2006/main">
  <p:tag name="TYPE" val="vector"/>
</p:tagLst>
</file>

<file path=ppt/tags/tag10.xml><?xml version="1.0" encoding="utf-8"?>
<p:tagLst xmlns:a="http://schemas.openxmlformats.org/drawingml/2006/main" xmlns:r="http://schemas.openxmlformats.org/officeDocument/2006/relationships" xmlns:p="http://schemas.openxmlformats.org/presentationml/2006/main">
  <p:tag name="TYPE" val="vector"/>
</p:tagLst>
</file>

<file path=ppt/theme/theme1.xml><?xml version="1.0" encoding="utf-8"?>
<a:theme xmlns:a="http://schemas.openxmlformats.org/drawingml/2006/main" name="Office Theme">
  <a:themeElements>
    <a:clrScheme name="浙大蓝色">
      <a:dk1>
        <a:sysClr val="windowText" lastClr="000000"/>
      </a:dk1>
      <a:lt1>
        <a:sysClr val="window" lastClr="FFFFFF"/>
      </a:lt1>
      <a:dk2>
        <a:srgbClr val="44546A"/>
      </a:dk2>
      <a:lt2>
        <a:srgbClr val="FFFFFF"/>
      </a:lt2>
      <a:accent1>
        <a:srgbClr val="003E8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1307</TotalTime>
  <Words>2405</Words>
  <Application>Microsoft Office PowerPoint</Application>
  <PresentationFormat>宽屏</PresentationFormat>
  <Paragraphs>251</Paragraphs>
  <Slides>14</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等线</vt:lpstr>
      <vt:lpstr>微软雅黑</vt:lpstr>
      <vt:lpstr>Arial</vt:lpstr>
      <vt:lpstr>Calibri</vt:lpstr>
      <vt:lpstr>Calibri Light</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雨杉 冀</cp:lastModifiedBy>
  <cp:revision>986</cp:revision>
  <cp:lastPrinted>2023-12-14T09:48:00Z</cp:lastPrinted>
  <dcterms:created xsi:type="dcterms:W3CDTF">2019-10-11T01:48:00Z</dcterms:created>
  <dcterms:modified xsi:type="dcterms:W3CDTF">2026-03-15T14:39:46Z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4906065B6EC44E2087E3D933E1C47C3B</vt:lpwstr>
  </property>
  <property fmtid="{D5CDD505-2E9C-101B-9397-08002B2CF9AE}" pid="3" name="KSOProductBuildVer">
    <vt:lpwstr>2052-12.1.0.23125</vt:lpwstr>
  </property>
</Properties>
</file>