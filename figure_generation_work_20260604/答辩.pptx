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3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291" r:id="rId2"/>
    <p:sldId id="2289" r:id="rId3"/>
    <p:sldId id="2286" r:id="rId4"/>
    <p:sldId id="2296" r:id="rId5"/>
    <p:sldId id="2269" r:id="rId6"/>
    <p:sldId id="2300" r:id="rId7"/>
    <p:sldId id="2298" r:id="rId8"/>
    <p:sldId id="2297" r:id="rId9"/>
    <p:sldId id="2299" r:id="rId10"/>
    <p:sldId id="2301" r:id="rId11"/>
    <p:sldId id="2294" r:id="rId12"/>
    <p:sldId id="2295" r:id="rId13"/>
    <p:sldId id="2302" r:id="rId14"/>
    <p:sldId id="2303" r:id="rId15"/>
    <p:sldId id="2304" r:id="rId16"/>
    <p:sldId id="2307" r:id="rId17"/>
    <p:sldId id="2308" r:id="rId18"/>
    <p:sldId id="2309" r:id="rId19"/>
    <p:sldId id="2310" r:id="rId20"/>
    <p:sldId id="2311" r:id="rId21"/>
    <p:sldId id="2312" r:id="rId22"/>
    <p:sldId id="2313" r:id="rId23"/>
    <p:sldId id="2290" r:id="rId24"/>
  </p:sldIdLst>
  <p:sldSz cx="12192000" cy="6858000"/>
  <p:notesSz cx="6784975" cy="99187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469" userDrawn="1">
          <p15:clr>
            <a:srgbClr val="A4A3A4"/>
          </p15:clr>
        </p15:guide>
        <p15:guide id="3" orient="horz" pos="4201" userDrawn="1">
          <p15:clr>
            <a:srgbClr val="A4A3A4"/>
          </p15:clr>
        </p15:guide>
        <p15:guide id="4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xp" initials="cx" lastIdx="0" clrIdx="0"/>
  <p:cmAuthor id="2" name="Fengxian WU" initials="F" lastIdx="0" clrIdx="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E87"/>
    <a:srgbClr val="EBF3FA"/>
    <a:srgbClr val="F2F5F9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74" autoAdjust="0"/>
    <p:restoredTop sz="86405" autoAdjust="0"/>
  </p:normalViewPr>
  <p:slideViewPr>
    <p:cSldViewPr snapToGrid="0" showGuides="1">
      <p:cViewPr>
        <p:scale>
          <a:sx n="100" d="100"/>
          <a:sy n="100" d="100"/>
        </p:scale>
        <p:origin x="80" y="-252"/>
      </p:cViewPr>
      <p:guideLst>
        <p:guide orient="horz" pos="2160"/>
        <p:guide pos="7469"/>
        <p:guide orient="horz" pos="4201"/>
        <p:guide pos="2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60"/>
    </p:cViewPr>
  </p:sorterViewPr>
  <p:notesViewPr>
    <p:cSldViewPr snapToGrid="0">
      <p:cViewPr varScale="1">
        <p:scale>
          <a:sx n="77" d="100"/>
          <a:sy n="77" d="100"/>
        </p:scale>
        <p:origin x="3212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3249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7F54C-37C4-4BF4-BFE3-C27AF4B991CA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3249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49DDB-6E2D-4EBF-BA11-33B598197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3249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1F4A4-A522-43EE-BB05-ADEFB8783349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39838"/>
            <a:ext cx="5949950" cy="3348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8498" y="4773374"/>
            <a:ext cx="5427980" cy="3905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3249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0470A-4597-4319-87FD-3AB9665446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我将从以下</a:t>
            </a:r>
            <a:r>
              <a:rPr lang="en-US" altLang="zh-CN" dirty="0"/>
              <a:t>6</a:t>
            </a:r>
            <a:r>
              <a:rPr lang="zh-CN" altLang="en-US" dirty="0"/>
              <a:t>部分内容开展报告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E31DD-2080-AB0F-0122-005AA6EF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D66986-82A4-7AD0-C633-04F4BA0B3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2853B3-5618-A022-22E7-CE83D6BA6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F7A843-1CAD-A2CE-AD41-B30562751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29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老师可能会问数据集的示意图是哪来的，需要大致理解生成图的脚本以防万一。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215DA-9BDF-4B0E-528A-349234F0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3471C7-0260-5BDA-9DAF-22EDA1CFD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0B2231-2206-F921-90B3-35244953E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F0217F-3AB2-BD07-E3B4-406B50C2F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014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94405-A792-69CF-1793-6B09B7FD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7568AB-138B-39F8-CC90-7E0A747D4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C57A9C-8F2C-F053-CBA0-0E40AF0AD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老师可能会问数据集的示意图是哪来的，需要大致理解生成图的脚本以防万一。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7A53DC-991C-8F3E-9B11-C964A4F9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429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23299-6CA6-0ED7-BD03-9369319A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C29547-4328-D522-13BA-0CBB27D6A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156F73-BCE5-5589-2A91-51C88CEFA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这里要讲清楚数据集的来源和具体信息，</a:t>
            </a:r>
            <a:r>
              <a:rPr lang="en-US" altLang="zh-CN" dirty="0"/>
              <a:t>ppt</a:t>
            </a:r>
            <a:r>
              <a:rPr lang="zh-CN" altLang="en-US" dirty="0"/>
              <a:t>上没有展示完全。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C60611-2DD1-07D9-CB5C-9FE162983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665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6C3E-4D67-4030-5F2E-265BCAB36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1E3FCF-0CF2-A280-1A99-88DB23BCD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86DA98-AD4A-60AC-7877-88F383B20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D24ED-1639-078C-8A3D-E1F4FAF3D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530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8308B-CC37-63DE-3D4F-26705B4E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9C5EBC-2A34-5D75-BE44-DA6728F47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974E9D-FF93-E214-5FA8-19479D940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FB8CA1-91F4-10F8-DEDF-4816DABA8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978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9D9AA-5720-6D1C-7AA5-66447C7F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902774-D441-6CA5-517E-BEE18DA9C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7C267B-1869-A3BF-D12E-3C6D38EFF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CN" sz="18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11F294-84AA-D341-1D89-8CAE27ECA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843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C6E0-1023-3F2E-79CB-1560AEA7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E7FA63-34F9-7D49-0B3D-196B4E6C7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11CE2F-B3D9-D252-647F-00FD0C25A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CN" sz="18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F685D2-E56B-0E65-111D-54060C068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438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D7BE6-844C-D3C5-8FEA-9DCA1B32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DF95D3-FAF4-8A9A-CAAA-6EF670F5D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1B2494-ADEE-359B-E21C-F2F70B9E0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FF21AE-E324-D66E-8EBE-438929E66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756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69BD3-E703-689B-E73F-6CFC51A4C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FA81B6-9109-31A6-627D-CDBA6D44A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BA84BF-7D2E-1CEE-1247-59174ACDD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01393B-673D-7309-E525-6231DCF83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488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FC82B-69BA-B6E7-2DE9-0B568706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3B5B99-DB7B-A8F4-E9AA-F56C08CA6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A1665D-67D8-3401-5278-7CCCD2A41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47BF0-DCCE-D69A-0B85-54CAB6D4B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049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E8E78-E693-09F1-B087-6E7558E7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39DE10-095E-A093-C0F7-278167B2D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312010-78AB-F14F-B99B-2268E63D4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00B43-85AC-1AAC-17B0-0D3D7A636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5998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610F-43A6-E184-E1E3-9AC0561A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D09E67-62F4-469B-F932-C2A7DC69F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F60C88-6F53-0A51-4FEB-6070E61B9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81DB0-EEE3-EB19-0EFE-37CE6419A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299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0E96E-BE7B-BD54-CAF7-75DA9CBB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50519D-423E-3A02-A263-741546B9A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E0E434-CC18-6C6E-6E2F-042823FAF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973F9D-2009-CBFB-B9D0-1F35E22CF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582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B1F7-35E2-3ED6-0CD7-EE370303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DF3787-6149-167D-537E-528B70665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B6A7BB-D006-C9C2-0CEF-6B1D99F31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13C5A-5D6B-8715-6577-070F39F15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9601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0E9F3-C49E-BB44-D6AC-14D340443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4771B1-238B-CCF4-B62B-42F9F14EA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05518A-5A74-D721-8F18-3D38229FA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D9D0CF-01BE-F45D-D212-4BED4374A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250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A2165-365B-C926-776B-B4C1ADEF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D8B121-D720-7DEB-863B-7DB81A2EF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04C9CE-DF1F-3C6E-17C5-319174FFC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B8DDB2-879C-F6EB-1D98-E34679EE4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6515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5F29E-C924-0E1D-E80B-EE3FEB2A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04700E-341D-1C82-EA29-619DE2AF2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6D93AA-E375-0405-2FD3-D3C0E1DB5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056D60-36E5-455C-62E5-09CBA7BA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138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12725" y="2302510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研究背景与意义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448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实验设计与数据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4896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14400"/>
            <a:r>
              <a:rPr lang="en-US" altLang="zh-CN" sz="2000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SCAVENGE</a:t>
            </a:r>
            <a:r>
              <a:rPr lang="zh-CN" altLang="en-US" sz="2000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复现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7344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14400"/>
            <a:r>
              <a:rPr lang="zh-CN" altLang="en-US" sz="2000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多组学融合改进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9792000" y="0"/>
            <a:ext cx="2400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总结与展望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9291669" y="6356350"/>
            <a:ext cx="2743200" cy="365125"/>
          </a:xfrm>
        </p:spPr>
        <p:txBody>
          <a:bodyPr/>
          <a:lstStyle>
            <a:lvl1pPr>
              <a:defRPr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5E2EABFD-C142-48D2-8272-3C2D8BEF2F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研究背景及现状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448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研究目标与内容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4896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关键技术与创新点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7344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已开展工作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9792000" y="0"/>
            <a:ext cx="2400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进度安排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9291669" y="6356350"/>
            <a:ext cx="2743200" cy="365125"/>
          </a:xfrm>
        </p:spPr>
        <p:txBody>
          <a:bodyPr/>
          <a:lstStyle>
            <a:lvl1pPr>
              <a:defRPr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5E2EABFD-C142-48D2-8272-3C2D8BEF2F3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5513" y="6492875"/>
            <a:ext cx="483657" cy="3847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/>
          <a:srcRect l="13275" t="7950" r="12114" b="51019"/>
          <a:stretch>
            <a:fillRect/>
          </a:stretch>
        </p:blipFill>
        <p:spPr>
          <a:xfrm>
            <a:off x="326166" y="6569018"/>
            <a:ext cx="613459" cy="2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1289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研究背景及现状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448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研究目标与内容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4896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关键技术与创新点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7344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已开展工作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9792000" y="0"/>
            <a:ext cx="2400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进度安排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9291669" y="6356350"/>
            <a:ext cx="2743200" cy="365125"/>
          </a:xfrm>
        </p:spPr>
        <p:txBody>
          <a:bodyPr/>
          <a:lstStyle>
            <a:lvl1pPr>
              <a:defRPr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5E2EABFD-C142-48D2-8272-3C2D8BEF2F3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5513" y="6492875"/>
            <a:ext cx="483657" cy="3847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/>
          <a:srcRect l="13275" t="7950" r="12114" b="51019"/>
          <a:stretch>
            <a:fillRect/>
          </a:stretch>
        </p:blipFill>
        <p:spPr>
          <a:xfrm>
            <a:off x="326166" y="6569018"/>
            <a:ext cx="613459" cy="2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5538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研究背景及现状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448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研究目标与内容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4896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关键技术与创新点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7344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已开展工作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9792000" y="0"/>
            <a:ext cx="2400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进度安排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9291669" y="6356350"/>
            <a:ext cx="2743200" cy="365125"/>
          </a:xfrm>
        </p:spPr>
        <p:txBody>
          <a:bodyPr/>
          <a:lstStyle>
            <a:lvl1pPr>
              <a:defRPr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5E2EABFD-C142-48D2-8272-3C2D8BEF2F3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5513" y="6492875"/>
            <a:ext cx="483657" cy="3847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/>
          <a:srcRect l="13275" t="7950" r="12114" b="51019"/>
          <a:stretch>
            <a:fillRect/>
          </a:stretch>
        </p:blipFill>
        <p:spPr>
          <a:xfrm>
            <a:off x="326166" y="6569018"/>
            <a:ext cx="613459" cy="2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0137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研究背景及现状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448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研究目标与内容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4896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关键技术与创新点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7344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已开展工作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9792000" y="0"/>
            <a:ext cx="2400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进度安排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9291669" y="6356350"/>
            <a:ext cx="2743200" cy="365125"/>
          </a:xfrm>
        </p:spPr>
        <p:txBody>
          <a:bodyPr/>
          <a:lstStyle>
            <a:lvl1pPr>
              <a:defRPr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5E2EABFD-C142-48D2-8272-3C2D8BEF2F3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5513" y="6492875"/>
            <a:ext cx="483657" cy="3847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/>
          <a:srcRect l="13275" t="7950" r="12114" b="51019"/>
          <a:stretch>
            <a:fillRect/>
          </a:stretch>
        </p:blipFill>
        <p:spPr>
          <a:xfrm>
            <a:off x="326166" y="6569018"/>
            <a:ext cx="613459" cy="2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549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3.jp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2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3.jpg"/><Relationship Id="rId10" Type="http://schemas.openxmlformats.org/officeDocument/2006/relationships/image" Target="../media/image27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.jp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1.png"/><Relationship Id="rId5" Type="http://schemas.openxmlformats.org/officeDocument/2006/relationships/image" Target="../media/image3.jp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3" y="1847849"/>
            <a:ext cx="12192000" cy="2667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ct val="0"/>
              </a:spcBef>
              <a:spcAft>
                <a:spcPct val="0"/>
              </a:spcAft>
            </a:pPr>
            <a:endParaRPr lang="zh-CN" altLang="zh-CN" sz="4000">
              <a:solidFill>
                <a:schemeClr val="bg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22276"/>
            <a:ext cx="6450227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毕业论文答辩 </a:t>
            </a:r>
            <a:r>
              <a:rPr lang="en-US" altLang="zh-CN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1700" y="1686242"/>
            <a:ext cx="11288594" cy="271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基于图学习的细胞疾病风险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量化方法研究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Variant to function mapping at single-cell resolution through network propagation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530993"/>
              </p:ext>
            </p:extLst>
          </p:nvPr>
        </p:nvGraphicFramePr>
        <p:xfrm>
          <a:off x="4108610" y="4811666"/>
          <a:ext cx="4683234" cy="17263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8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汇报人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冀雨杉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导师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王炳波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日期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</a:t>
                      </a: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</a:t>
                      </a: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</a:t>
                      </a: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483C2B9-9580-F8B9-E8CE-2C6F214FC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844" y="162513"/>
            <a:ext cx="3136701" cy="9121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1352"/>
    </mc:Choice>
    <mc:Fallback xmlns:a16="http://schemas.microsoft.com/office/drawing/2014/main" xmlns="">
      <p:transition advTm="213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0263" y="944310"/>
            <a:ext cx="2608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3" name="矩形 2"/>
          <p:cNvSpPr/>
          <p:nvPr/>
        </p:nvSpPr>
        <p:spPr>
          <a:xfrm>
            <a:off x="4443665" y="815142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0263" y="4244136"/>
            <a:ext cx="3300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多组学融合改进实验</a:t>
            </a:r>
          </a:p>
        </p:txBody>
      </p:sp>
      <p:sp>
        <p:nvSpPr>
          <p:cNvPr id="7" name="矩形 6"/>
          <p:cNvSpPr/>
          <p:nvPr/>
        </p:nvSpPr>
        <p:spPr>
          <a:xfrm>
            <a:off x="4443665" y="4114968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90263" y="2044252"/>
            <a:ext cx="2608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实验设计与数据</a:t>
            </a:r>
          </a:p>
        </p:txBody>
      </p:sp>
      <p:sp>
        <p:nvSpPr>
          <p:cNvPr id="12" name="矩形 11"/>
          <p:cNvSpPr/>
          <p:nvPr/>
        </p:nvSpPr>
        <p:spPr>
          <a:xfrm>
            <a:off x="4443665" y="1915084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90263" y="5344078"/>
            <a:ext cx="1915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18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443665" y="5214910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246602" y="793922"/>
            <a:ext cx="1620000" cy="1440000"/>
            <a:chOff x="886602" y="418195"/>
            <a:chExt cx="1620000" cy="1440000"/>
          </a:xfrm>
        </p:grpSpPr>
        <p:sp>
          <p:nvSpPr>
            <p:cNvPr id="18" name="矩形 17"/>
            <p:cNvSpPr/>
            <p:nvPr/>
          </p:nvSpPr>
          <p:spPr>
            <a:xfrm>
              <a:off x="886602" y="418195"/>
              <a:ext cx="720000" cy="72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066602" y="778195"/>
              <a:ext cx="1440000" cy="1080000"/>
              <a:chOff x="1066602" y="778195"/>
              <a:chExt cx="1440000" cy="108000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246602" y="778195"/>
                <a:ext cx="1080000" cy="1080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066602" y="995030"/>
                <a:ext cx="1440000" cy="64633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3600" b="1">
                    <a:solidFill>
                      <a:schemeClr val="bg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目录</a:t>
                </a:r>
                <a:endParaRPr lang="zh-CN" altLang="en-US" sz="3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2" name="文本框 21"/>
          <p:cNvSpPr txBox="1"/>
          <p:nvPr/>
        </p:nvSpPr>
        <p:spPr>
          <a:xfrm>
            <a:off x="5390263" y="3144194"/>
            <a:ext cx="3551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SCAVENGE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复现实验</a:t>
            </a:r>
          </a:p>
        </p:txBody>
      </p:sp>
      <p:sp>
        <p:nvSpPr>
          <p:cNvPr id="23" name="矩形 22"/>
          <p:cNvSpPr/>
          <p:nvPr/>
        </p:nvSpPr>
        <p:spPr>
          <a:xfrm>
            <a:off x="4443665" y="301502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79720C-4E79-F115-0DCF-6205CF5C9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844" y="162513"/>
            <a:ext cx="3136701" cy="9121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1352"/>
    </mc:Choice>
    <mc:Fallback xmlns="">
      <p:transition advTm="2135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298443" y="2505020"/>
            <a:ext cx="5414839" cy="2913422"/>
          </a:xfrm>
          <a:prstGeom prst="roundRect">
            <a:avLst>
              <a:gd name="adj" fmla="val 5160"/>
            </a:avLst>
          </a:prstGeom>
          <a:solidFill>
            <a:schemeClr val="bg1">
              <a:alpha val="30196"/>
            </a:schemeClr>
          </a:solidFill>
          <a:ln w="19050">
            <a:solidFill>
              <a:schemeClr val="accent1">
                <a:alpha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概率最高的致病变异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2" name="矩形: 圆角 291"/>
          <p:cNvSpPr/>
          <p:nvPr/>
        </p:nvSpPr>
        <p:spPr>
          <a:xfrm>
            <a:off x="6257375" y="2484458"/>
            <a:ext cx="5460346" cy="2933984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>
                <a:alpha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1705212" y="2320265"/>
            <a:ext cx="269605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GWAS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致病因果变异</a:t>
            </a:r>
          </a:p>
        </p:txBody>
      </p:sp>
      <p:sp>
        <p:nvSpPr>
          <p:cNvPr id="297" name="文本框 296"/>
          <p:cNvSpPr txBox="1"/>
          <p:nvPr/>
        </p:nvSpPr>
        <p:spPr>
          <a:xfrm>
            <a:off x="7768833" y="2306610"/>
            <a:ext cx="205471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单细胞表观基因组</a:t>
            </a:r>
          </a:p>
        </p:txBody>
      </p:sp>
      <p:sp>
        <p:nvSpPr>
          <p:cNvPr id="360" name="矩形: 圆角 359"/>
          <p:cNvSpPr/>
          <p:nvPr/>
        </p:nvSpPr>
        <p:spPr>
          <a:xfrm>
            <a:off x="398472" y="896983"/>
            <a:ext cx="11398794" cy="1285002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85750" indent="-285750">
              <a:lnSpc>
                <a:spcPct val="125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GWAS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和精细定位能找到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疾病相关变异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，但其作用机制仍难解释。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单细胞组学能在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单细胞水平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解析细胞异质性，为发现疾病相关关键细胞群体提供新途径。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现有研究常将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GWAS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风险变异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单细胞组学调控信息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整合，以推断其可能发挥作用的细胞类型和功能背景。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研究背景与意义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2D8B2D-88DC-C8A9-ADEE-572BA1E38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C1A9E30-CFF7-17C3-B194-F9D3617FD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58" y="3108228"/>
            <a:ext cx="3200847" cy="13527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8E37712-F37D-9F00-DDA1-3C1381B8E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258" y="3092555"/>
            <a:ext cx="3343742" cy="1781424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A87031B-866B-BC40-7D40-DF18C43992C5}"/>
              </a:ext>
            </a:extLst>
          </p:cNvPr>
          <p:cNvCxnSpPr>
            <a:cxnSpLocks/>
          </p:cNvCxnSpPr>
          <p:nvPr/>
        </p:nvCxnSpPr>
        <p:spPr>
          <a:xfrm>
            <a:off x="3802584" y="4201008"/>
            <a:ext cx="464942" cy="151369"/>
          </a:xfrm>
          <a:prstGeom prst="straightConnector1">
            <a:avLst/>
          </a:prstGeom>
          <a:ln w="28575">
            <a:solidFill>
              <a:srgbClr val="1A4E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C94649CD-39F1-00C5-864E-D481D4A8A96F}"/>
              </a:ext>
            </a:extLst>
          </p:cNvPr>
          <p:cNvSpPr txBox="1"/>
          <p:nvPr/>
        </p:nvSpPr>
        <p:spPr>
          <a:xfrm>
            <a:off x="6280064" y="2671799"/>
            <a:ext cx="1663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行</a:t>
            </a:r>
            <a:r>
              <a:rPr lang="zh-CN" altLang="en-US" sz="1600" dirty="0"/>
              <a:t>：不同单细胞</a:t>
            </a:r>
            <a:endParaRPr lang="en-US" altLang="zh-CN" sz="1600" dirty="0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0610E627-430A-295F-1696-5A87166FE9EE}"/>
              </a:ext>
            </a:extLst>
          </p:cNvPr>
          <p:cNvSpPr/>
          <p:nvPr/>
        </p:nvSpPr>
        <p:spPr>
          <a:xfrm>
            <a:off x="792083" y="3126492"/>
            <a:ext cx="329753" cy="1316209"/>
          </a:xfrm>
          <a:custGeom>
            <a:avLst/>
            <a:gdLst>
              <a:gd name="csX0" fmla="*/ 752464 w 752463"/>
              <a:gd name="csY0" fmla="*/ 581365 h 1472739"/>
              <a:gd name="csX1" fmla="*/ 604550 w 752463"/>
              <a:gd name="csY1" fmla="*/ 580621 h 1472739"/>
              <a:gd name="csX2" fmla="*/ 545657 w 752463"/>
              <a:gd name="csY2" fmla="*/ 630835 h 1472739"/>
              <a:gd name="csX3" fmla="*/ 401959 w 752463"/>
              <a:gd name="csY3" fmla="*/ 1421610 h 1472739"/>
              <a:gd name="csX4" fmla="*/ 378649 w 752463"/>
              <a:gd name="csY4" fmla="*/ 1472692 h 1472739"/>
              <a:gd name="csX5" fmla="*/ 349761 w 752463"/>
              <a:gd name="csY5" fmla="*/ 1420494 h 1472739"/>
              <a:gd name="csX6" fmla="*/ 207798 w 752463"/>
              <a:gd name="csY6" fmla="*/ 635670 h 1472739"/>
              <a:gd name="csX7" fmla="*/ 140599 w 752463"/>
              <a:gd name="csY7" fmla="*/ 580497 h 1472739"/>
              <a:gd name="csX8" fmla="*/ 0 w 752463"/>
              <a:gd name="csY8" fmla="*/ 581365 h 1472739"/>
              <a:gd name="csX9" fmla="*/ 376046 w 752463"/>
              <a:gd name="csY9" fmla="*/ 0 h 1472739"/>
              <a:gd name="csX10" fmla="*/ 752340 w 752463"/>
              <a:gd name="csY10" fmla="*/ 581365 h 1472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52463" h="1472739">
                <a:moveTo>
                  <a:pt x="752464" y="581365"/>
                </a:moveTo>
                <a:cubicBezTo>
                  <a:pt x="694439" y="581365"/>
                  <a:pt x="649184" y="584093"/>
                  <a:pt x="604550" y="580621"/>
                </a:cubicBezTo>
                <a:cubicBezTo>
                  <a:pt x="564875" y="577521"/>
                  <a:pt x="552352" y="592523"/>
                  <a:pt x="545657" y="630835"/>
                </a:cubicBezTo>
                <a:cubicBezTo>
                  <a:pt x="499411" y="894675"/>
                  <a:pt x="450561" y="1158142"/>
                  <a:pt x="401959" y="1421610"/>
                </a:cubicBezTo>
                <a:cubicBezTo>
                  <a:pt x="398487" y="1440580"/>
                  <a:pt x="404314" y="1471452"/>
                  <a:pt x="378649" y="1472692"/>
                </a:cubicBezTo>
                <a:cubicBezTo>
                  <a:pt x="346786" y="1474180"/>
                  <a:pt x="353481" y="1440704"/>
                  <a:pt x="349761" y="1420494"/>
                </a:cubicBezTo>
                <a:cubicBezTo>
                  <a:pt x="301655" y="1159010"/>
                  <a:pt x="253177" y="897650"/>
                  <a:pt x="207798" y="635670"/>
                </a:cubicBezTo>
                <a:cubicBezTo>
                  <a:pt x="200235" y="592028"/>
                  <a:pt x="184985" y="576158"/>
                  <a:pt x="140599" y="580497"/>
                </a:cubicBezTo>
                <a:cubicBezTo>
                  <a:pt x="98196" y="584713"/>
                  <a:pt x="55173" y="581365"/>
                  <a:pt x="0" y="581365"/>
                </a:cubicBezTo>
                <a:cubicBezTo>
                  <a:pt x="127084" y="384849"/>
                  <a:pt x="248342" y="197384"/>
                  <a:pt x="376046" y="0"/>
                </a:cubicBezTo>
                <a:cubicBezTo>
                  <a:pt x="502262" y="195028"/>
                  <a:pt x="623519" y="382245"/>
                  <a:pt x="752340" y="58136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E80853-5E34-4773-7D75-0225B36A2664}"/>
              </a:ext>
            </a:extLst>
          </p:cNvPr>
          <p:cNvSpPr txBox="1"/>
          <p:nvPr/>
        </p:nvSpPr>
        <p:spPr>
          <a:xfrm>
            <a:off x="635654" y="2733372"/>
            <a:ext cx="52390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山峰：</a:t>
            </a:r>
            <a:r>
              <a:rPr lang="zh-CN" altLang="en-US" sz="1600" dirty="0"/>
              <a:t> 越高代表这个位点与特征的相关性越高。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A4FE9E7-A8F2-83CD-3D39-78732B1CF211}"/>
              </a:ext>
            </a:extLst>
          </p:cNvPr>
          <p:cNvCxnSpPr>
            <a:cxnSpLocks/>
          </p:cNvCxnSpPr>
          <p:nvPr/>
        </p:nvCxnSpPr>
        <p:spPr>
          <a:xfrm>
            <a:off x="3677957" y="3599193"/>
            <a:ext cx="482264" cy="144768"/>
          </a:xfrm>
          <a:prstGeom prst="straightConnector1">
            <a:avLst/>
          </a:prstGeom>
          <a:ln w="28575">
            <a:solidFill>
              <a:srgbClr val="1A4E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4351187-F589-D783-3AAA-AFC4175594A7}"/>
              </a:ext>
            </a:extLst>
          </p:cNvPr>
          <p:cNvSpPr txBox="1"/>
          <p:nvPr/>
        </p:nvSpPr>
        <p:spPr>
          <a:xfrm>
            <a:off x="4045250" y="3205352"/>
            <a:ext cx="15428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/>
              <a:t>“精细定位”（</a:t>
            </a:r>
            <a:r>
              <a:rPr lang="en-US" altLang="zh-CN" sz="1600" i="1" dirty="0"/>
              <a:t>Fine-mapping</a:t>
            </a:r>
            <a:r>
              <a:rPr lang="zh-CN" altLang="en-US" sz="1600" i="1" dirty="0"/>
              <a:t>）</a:t>
            </a:r>
            <a:endParaRPr lang="en-US" altLang="zh-CN" sz="1600" i="1" dirty="0"/>
          </a:p>
          <a:p>
            <a:r>
              <a:rPr lang="zh-CN" altLang="en-US" sz="1600" dirty="0"/>
              <a:t>概率最高的致病变异</a:t>
            </a:r>
            <a:endParaRPr lang="en-US" altLang="zh-CN" sz="16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7C33CC-68D8-E434-5E9E-7E431E5D6B6A}"/>
              </a:ext>
            </a:extLst>
          </p:cNvPr>
          <p:cNvSpPr txBox="1"/>
          <p:nvPr/>
        </p:nvSpPr>
        <p:spPr>
          <a:xfrm>
            <a:off x="635654" y="4655038"/>
            <a:ext cx="353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LD, linkage disequilibrium</a:t>
            </a:r>
            <a:r>
              <a:rPr lang="zh-CN" altLang="en-US" sz="1600" dirty="0"/>
              <a:t>（连锁不平衡）</a:t>
            </a:r>
            <a:endParaRPr lang="en-US" altLang="zh-CN" sz="16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71AE622-FEE1-7912-8A53-34CECE6FE430}"/>
              </a:ext>
            </a:extLst>
          </p:cNvPr>
          <p:cNvSpPr txBox="1"/>
          <p:nvPr/>
        </p:nvSpPr>
        <p:spPr>
          <a:xfrm>
            <a:off x="1300111" y="4973647"/>
            <a:ext cx="3588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GWAS</a:t>
            </a:r>
            <a:r>
              <a:rPr lang="zh-CN" altLang="en-US" sz="1600" dirty="0"/>
              <a:t>和精细定位能找到疾病相关变异</a:t>
            </a:r>
            <a:endParaRPr lang="en-US" altLang="zh-CN" sz="1600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BD61807-8CAA-FC85-81DA-94F723781D98}"/>
              </a:ext>
            </a:extLst>
          </p:cNvPr>
          <p:cNvCxnSpPr>
            <a:cxnSpLocks/>
          </p:cNvCxnSpPr>
          <p:nvPr/>
        </p:nvCxnSpPr>
        <p:spPr>
          <a:xfrm flipH="1" flipV="1">
            <a:off x="7087019" y="2967889"/>
            <a:ext cx="339938" cy="169277"/>
          </a:xfrm>
          <a:prstGeom prst="straightConnector1">
            <a:avLst/>
          </a:prstGeom>
          <a:ln w="28575">
            <a:solidFill>
              <a:srgbClr val="1A4E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89988C20-8371-F96B-AE40-B15119C4E4E5}"/>
              </a:ext>
            </a:extLst>
          </p:cNvPr>
          <p:cNvSpPr txBox="1"/>
          <p:nvPr/>
        </p:nvSpPr>
        <p:spPr>
          <a:xfrm>
            <a:off x="4160221" y="4304134"/>
            <a:ext cx="1542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候选变异</a:t>
            </a:r>
            <a:endParaRPr lang="en-US" altLang="zh-CN" sz="1600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E1BDA6F-3CC8-136B-10C2-FEC0BCB00FBC}"/>
              </a:ext>
            </a:extLst>
          </p:cNvPr>
          <p:cNvCxnSpPr>
            <a:cxnSpLocks/>
          </p:cNvCxnSpPr>
          <p:nvPr/>
        </p:nvCxnSpPr>
        <p:spPr>
          <a:xfrm flipV="1">
            <a:off x="9206153" y="2945256"/>
            <a:ext cx="0" cy="184841"/>
          </a:xfrm>
          <a:prstGeom prst="straightConnector1">
            <a:avLst/>
          </a:prstGeom>
          <a:ln w="28575">
            <a:solidFill>
              <a:srgbClr val="1A4E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350E977-2BED-1667-D67A-BF5272D4357F}"/>
              </a:ext>
            </a:extLst>
          </p:cNvPr>
          <p:cNvSpPr txBox="1"/>
          <p:nvPr/>
        </p:nvSpPr>
        <p:spPr>
          <a:xfrm>
            <a:off x="8431523" y="2671799"/>
            <a:ext cx="3124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列</a:t>
            </a:r>
            <a:r>
              <a:rPr lang="zh-CN" altLang="en-US" sz="1600" dirty="0"/>
              <a:t>：不同基因组位置 </a:t>
            </a:r>
            <a:r>
              <a:rPr lang="en-US" altLang="zh-CN" sz="1600" dirty="0"/>
              <a:t>/ </a:t>
            </a:r>
            <a:r>
              <a:rPr lang="zh-CN" altLang="en-US" sz="1600" dirty="0"/>
              <a:t>调控区域</a:t>
            </a:r>
            <a:endParaRPr lang="en-US" altLang="zh-CN" sz="1600" dirty="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EF3963C-98E4-47BB-F688-15B8F0907FD8}"/>
              </a:ext>
            </a:extLst>
          </p:cNvPr>
          <p:cNvCxnSpPr>
            <a:cxnSpLocks/>
          </p:cNvCxnSpPr>
          <p:nvPr/>
        </p:nvCxnSpPr>
        <p:spPr>
          <a:xfrm>
            <a:off x="8029348" y="4740726"/>
            <a:ext cx="0" cy="277767"/>
          </a:xfrm>
          <a:prstGeom prst="straightConnector1">
            <a:avLst/>
          </a:prstGeom>
          <a:ln w="28575">
            <a:solidFill>
              <a:srgbClr val="1A4E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5AC52BDC-CF65-8DAF-74C1-44D0B8B04E39}"/>
              </a:ext>
            </a:extLst>
          </p:cNvPr>
          <p:cNvSpPr txBox="1"/>
          <p:nvPr/>
        </p:nvSpPr>
        <p:spPr>
          <a:xfrm>
            <a:off x="7223712" y="4979616"/>
            <a:ext cx="3124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开放信号（开放染色质或</a:t>
            </a:r>
            <a:r>
              <a:rPr lang="en-US" altLang="zh-CN" sz="1600" dirty="0"/>
              <a:t>peak</a:t>
            </a:r>
            <a:r>
              <a:rPr lang="zh-CN" altLang="en-US" sz="1600" dirty="0"/>
              <a:t>）</a:t>
            </a:r>
            <a:endParaRPr lang="en-US" altLang="zh-CN" sz="1600" dirty="0"/>
          </a:p>
        </p:txBody>
      </p:sp>
      <p:sp>
        <p:nvSpPr>
          <p:cNvPr id="6" name="箭头: 左右 5">
            <a:extLst>
              <a:ext uri="{FF2B5EF4-FFF2-40B4-BE49-F238E27FC236}">
                <a16:creationId xmlns:a16="http://schemas.microsoft.com/office/drawing/2014/main" id="{12A1D4EA-F5ED-0F4A-183B-BF8C60FFBB60}"/>
              </a:ext>
            </a:extLst>
          </p:cNvPr>
          <p:cNvSpPr/>
          <p:nvPr/>
        </p:nvSpPr>
        <p:spPr>
          <a:xfrm>
            <a:off x="5524050" y="3300278"/>
            <a:ext cx="922557" cy="448291"/>
          </a:xfrm>
          <a:prstGeom prst="leftRightArrow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EEF17B66-1EA5-0D26-235A-4084ACE4A17B}"/>
              </a:ext>
            </a:extLst>
          </p:cNvPr>
          <p:cNvSpPr/>
          <p:nvPr/>
        </p:nvSpPr>
        <p:spPr>
          <a:xfrm>
            <a:off x="5874275" y="3623313"/>
            <a:ext cx="221725" cy="5637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9CD0E6-667E-2A66-5E13-A7F714404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532" y="4176205"/>
            <a:ext cx="1813594" cy="473344"/>
          </a:xfrm>
          <a:prstGeom prst="rect">
            <a:avLst/>
          </a:prstGeom>
          <a:solidFill>
            <a:schemeClr val="accent1"/>
          </a:solidFill>
          <a:ln w="19050">
            <a:noFill/>
            <a:miter lim="800000"/>
          </a:ln>
        </p:spPr>
        <p:txBody>
          <a:bodyPr wrap="square" anchor="ctr" anchorCtr="1">
            <a:noAutofit/>
          </a:bodyPr>
          <a:lstStyle>
            <a:defPPr>
              <a:defRPr lang="zh-CN"/>
            </a:defPPr>
            <a:lvl1pPr algn="ctr" defTabSz="457200" eaLnBrk="1" hangingPunct="1">
              <a:defRPr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defRPr>
                <a:latin typeface="Arial" panose="020B0604020202020204" pitchFamily="34" charset="0"/>
              </a:defRPr>
            </a:lvl2pPr>
            <a:lvl3pPr marL="1143000" indent="-228600">
              <a:defRPr>
                <a:latin typeface="Arial" panose="020B0604020202020204" pitchFamily="34" charset="0"/>
              </a:defRPr>
            </a:lvl3pPr>
            <a:lvl4pPr marL="1600200" indent="-228600">
              <a:defRPr>
                <a:latin typeface="Arial" panose="020B0604020202020204" pitchFamily="34" charset="0"/>
              </a:defRPr>
            </a:lvl4pPr>
            <a:lvl5pPr marL="2057400" indent="-228600">
              <a:defRPr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9pPr>
          </a:lstStyle>
          <a:p>
            <a:pPr algn="l"/>
            <a:r>
              <a:rPr lang="zh-CN" altLang="en-US" sz="1600" dirty="0">
                <a:solidFill>
                  <a:schemeClr val="bg1"/>
                </a:solidFill>
              </a:rPr>
              <a:t>性状相关细胞识别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4B0F72-2303-F3AC-A3B1-75A8D2E6D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54" y="5881432"/>
            <a:ext cx="3091602" cy="369332"/>
          </a:xfrm>
          <a:prstGeom prst="rect">
            <a:avLst/>
          </a:prstGeom>
          <a:solidFill>
            <a:srgbClr val="F2F5F9"/>
          </a:solidFill>
          <a:ln w="19050">
            <a:noFill/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精准医疗中的疾病风险解释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9BCEB5-3E16-214C-88BC-C11FF498F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527" y="5893411"/>
            <a:ext cx="3091602" cy="369332"/>
          </a:xfrm>
          <a:prstGeom prst="rect">
            <a:avLst/>
          </a:prstGeom>
          <a:solidFill>
            <a:srgbClr val="F2F5F9"/>
          </a:solidFill>
          <a:ln w="19050">
            <a:noFill/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关键细胞群识别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EF7B17-3116-511F-8939-9E7FE0286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3400" y="5881432"/>
            <a:ext cx="3091602" cy="369332"/>
          </a:xfrm>
          <a:prstGeom prst="rect">
            <a:avLst/>
          </a:prstGeom>
          <a:solidFill>
            <a:srgbClr val="F2F5F9"/>
          </a:solidFill>
          <a:ln w="19050">
            <a:noFill/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潜在治疗靶点发现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0">
            <a:extLst>
              <a:ext uri="{FF2B5EF4-FFF2-40B4-BE49-F238E27FC236}">
                <a16:creationId xmlns:a16="http://schemas.microsoft.com/office/drawing/2014/main" id="{978CE58B-4FEE-F504-6D73-992AA53F75AF}"/>
              </a:ext>
            </a:extLst>
          </p:cNvPr>
          <p:cNvSpPr/>
          <p:nvPr/>
        </p:nvSpPr>
        <p:spPr>
          <a:xfrm>
            <a:off x="5641568" y="4696981"/>
            <a:ext cx="684848" cy="701433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意义</a:t>
            </a:r>
          </a:p>
        </p:txBody>
      </p: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8238E7D3-E8FC-7A1F-BCE6-C2ADB58137C2}"/>
              </a:ext>
            </a:extLst>
          </p:cNvPr>
          <p:cNvCxnSpPr>
            <a:stCxn id="20" idx="4"/>
            <a:endCxn id="17" idx="0"/>
          </p:cNvCxnSpPr>
          <p:nvPr/>
        </p:nvCxnSpPr>
        <p:spPr>
          <a:xfrm rot="16200000" flipH="1">
            <a:off x="5737162" y="5645244"/>
            <a:ext cx="494997" cy="1336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ED014F0C-93D2-EC33-6095-0EA7875A90E6}"/>
              </a:ext>
            </a:extLst>
          </p:cNvPr>
          <p:cNvCxnSpPr>
            <a:stCxn id="20" idx="4"/>
            <a:endCxn id="18" idx="0"/>
          </p:cNvCxnSpPr>
          <p:nvPr/>
        </p:nvCxnSpPr>
        <p:spPr>
          <a:xfrm rot="16200000" flipH="1">
            <a:off x="7645087" y="3737318"/>
            <a:ext cx="483018" cy="3805209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AFF42B66-7EFD-EF73-4037-F6B98AFBE5D2}"/>
              </a:ext>
            </a:extLst>
          </p:cNvPr>
          <p:cNvCxnSpPr>
            <a:stCxn id="20" idx="4"/>
            <a:endCxn id="16" idx="0"/>
          </p:cNvCxnSpPr>
          <p:nvPr/>
        </p:nvCxnSpPr>
        <p:spPr>
          <a:xfrm rot="5400000">
            <a:off x="3841215" y="3738655"/>
            <a:ext cx="483018" cy="3802537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F444E58-6C7C-F073-4202-92E31A8E9761}"/>
              </a:ext>
            </a:extLst>
          </p:cNvPr>
          <p:cNvSpPr txBox="1"/>
          <p:nvPr/>
        </p:nvSpPr>
        <p:spPr>
          <a:xfrm>
            <a:off x="1610504" y="4403598"/>
            <a:ext cx="2090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基因组的不同位置</a:t>
            </a:r>
            <a:endParaRPr lang="en-US" altLang="zh-CN" sz="1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443"/>
    </mc:Choice>
    <mc:Fallback xmlns:asvg="http://schemas.microsoft.com/office/drawing/2016/SVG/main" xmlns:a14="http://schemas.microsoft.com/office/drawing/2010/main" xmlns="">
      <p:transition advTm="504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C5B1-6584-9C28-22F1-28F953CF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BBCB12-7DCD-E455-0398-B0EB7053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68D440-7D27-F12A-E9CE-C541F861C04A}"/>
              </a:ext>
            </a:extLst>
          </p:cNvPr>
          <p:cNvSpPr/>
          <p:nvPr/>
        </p:nvSpPr>
        <p:spPr>
          <a:xfrm>
            <a:off x="0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研究背景与意义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548D87-279E-8426-2EF9-EA15C9236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3B71C2FE-3FE9-08F4-A99A-7103C44D03D4}"/>
              </a:ext>
            </a:extLst>
          </p:cNvPr>
          <p:cNvSpPr/>
          <p:nvPr/>
        </p:nvSpPr>
        <p:spPr>
          <a:xfrm>
            <a:off x="714705" y="825175"/>
            <a:ext cx="1679942" cy="353242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国内外研究现状</a:t>
            </a:r>
            <a:endParaRPr lang="zh-CN" altLang="en-US" sz="1200" dirty="0">
              <a:solidFill>
                <a:schemeClr val="bg1"/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151419AF-4E44-E9F4-73DB-04E2C5239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555696"/>
              </p:ext>
            </p:extLst>
          </p:nvPr>
        </p:nvGraphicFramePr>
        <p:xfrm>
          <a:off x="547515" y="1295012"/>
          <a:ext cx="11096970" cy="4072975"/>
        </p:xfrm>
        <a:graphic>
          <a:graphicData uri="http://schemas.openxmlformats.org/drawingml/2006/table">
            <a:tbl>
              <a:tblPr/>
              <a:tblGrid>
                <a:gridCol w="1939743">
                  <a:extLst>
                    <a:ext uri="{9D8B030D-6E8A-4147-A177-3AD203B41FA5}">
                      <a16:colId xmlns:a16="http://schemas.microsoft.com/office/drawing/2014/main" val="1943514056"/>
                    </a:ext>
                  </a:extLst>
                </a:gridCol>
                <a:gridCol w="1709441">
                  <a:extLst>
                    <a:ext uri="{9D8B030D-6E8A-4147-A177-3AD203B41FA5}">
                      <a16:colId xmlns:a16="http://schemas.microsoft.com/office/drawing/2014/main" val="1965445809"/>
                    </a:ext>
                  </a:extLst>
                </a:gridCol>
                <a:gridCol w="1070195">
                  <a:extLst>
                    <a:ext uri="{9D8B030D-6E8A-4147-A177-3AD203B41FA5}">
                      <a16:colId xmlns:a16="http://schemas.microsoft.com/office/drawing/2014/main" val="3192136644"/>
                    </a:ext>
                  </a:extLst>
                </a:gridCol>
                <a:gridCol w="3375783">
                  <a:extLst>
                    <a:ext uri="{9D8B030D-6E8A-4147-A177-3AD203B41FA5}">
                      <a16:colId xmlns:a16="http://schemas.microsoft.com/office/drawing/2014/main" val="3875925655"/>
                    </a:ext>
                  </a:extLst>
                </a:gridCol>
                <a:gridCol w="3001808">
                  <a:extLst>
                    <a:ext uri="{9D8B030D-6E8A-4147-A177-3AD203B41FA5}">
                      <a16:colId xmlns:a16="http://schemas.microsoft.com/office/drawing/2014/main" val="1386667671"/>
                    </a:ext>
                  </a:extLst>
                </a:gridCol>
              </a:tblGrid>
              <a:tr h="306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方法类别</a:t>
                      </a:r>
                      <a:endParaRPr lang="zh-CN" alt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代表方法</a:t>
                      </a:r>
                      <a:endParaRPr lang="zh-CN" alt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提出时间</a:t>
                      </a:r>
                      <a:endParaRPr lang="zh-CN" alt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L="76339" marR="76339" marT="38170" marB="3817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1C38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8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核心思路</a:t>
                      </a:r>
                      <a:endParaRPr lang="zh-CN" alt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FFFFFF"/>
                          </a:solidFill>
                        </a:rPr>
                        <a:t>主要不足</a:t>
                      </a:r>
                      <a:endParaRPr lang="zh-CN" alt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68941"/>
                  </a:ext>
                </a:extLst>
              </a:tr>
              <a:tr h="697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细胞类型富集分析</a:t>
                      </a:r>
                    </a:p>
                  </a:txBody>
                  <a:tcPr marL="76339" marR="76339" marT="38170" marB="38170"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S-LDSC / LDSC-SEG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2015/2018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1C38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检验 </a:t>
                      </a:r>
                      <a:r>
                        <a:rPr lang="en-US" altLang="zh-CN" sz="1600"/>
                        <a:t>GWAS </a:t>
                      </a:r>
                      <a:r>
                        <a:rPr lang="zh-CN" altLang="en-US" sz="1600"/>
                        <a:t>变异在特定细胞类型中的富集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/>
                        <a:t>仅到细胞类型层面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61567"/>
                  </a:ext>
                </a:extLst>
              </a:tr>
              <a:tr h="9066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ATAC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</a:rPr>
                        <a:t>单细胞评分</a:t>
                      </a:r>
                    </a:p>
                  </a:txBody>
                  <a:tcPr marL="76339" marR="76339" marT="38170" marB="38170"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g-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</a:rPr>
                        <a:t>chromVAR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2019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计算单细胞 </a:t>
                      </a:r>
                      <a:r>
                        <a:rPr lang="en-US" altLang="zh-CN" sz="1600" dirty="0"/>
                        <a:t>ATAC </a:t>
                      </a:r>
                      <a:r>
                        <a:rPr lang="zh-CN" altLang="en-US" sz="1600" dirty="0"/>
                        <a:t>偏差评分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易受 </a:t>
                      </a:r>
                      <a:r>
                        <a:rPr lang="en-US" altLang="zh-CN" sz="1600" dirty="0" err="1"/>
                        <a:t>scATAC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en-US" sz="1600" dirty="0"/>
                        <a:t>稀疏性影响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908242"/>
                  </a:ext>
                </a:extLst>
              </a:tr>
              <a:tr h="697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</a:rPr>
                        <a:t>RNA 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</a:rPr>
                        <a:t>调控图谱方法</a:t>
                      </a:r>
                      <a:endParaRPr lang="zh-CN" alt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sc-linker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2022</a:t>
                      </a:r>
                    </a:p>
                  </a:txBody>
                  <a:tcPr marL="76339" marR="76339" marT="38170" marB="3817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结合 </a:t>
                      </a:r>
                      <a:r>
                        <a:rPr lang="en-US" altLang="zh-CN" sz="1600" dirty="0"/>
                        <a:t>RNA </a:t>
                      </a:r>
                      <a:r>
                        <a:rPr lang="zh-CN" altLang="en-US" sz="1600" dirty="0"/>
                        <a:t>与调控图谱定位相关细胞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依赖外部调控图谱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921793"/>
                  </a:ext>
                </a:extLst>
              </a:tr>
              <a:tr h="697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</a:rPr>
                        <a:t>RNA 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</a:rPr>
                        <a:t>单细胞评分</a:t>
                      </a:r>
                    </a:p>
                  </a:txBody>
                  <a:tcPr marL="76339" marR="76339" marT="38170" marB="38170"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scDRS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2022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基于 </a:t>
                      </a:r>
                      <a:r>
                        <a:rPr lang="en-US" altLang="zh-CN" sz="1600" dirty="0"/>
                        <a:t>RNA </a:t>
                      </a:r>
                      <a:r>
                        <a:rPr lang="zh-CN" altLang="en-US" sz="1600" dirty="0"/>
                        <a:t>表达计算疾病相关评分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未利用 </a:t>
                      </a:r>
                      <a:r>
                        <a:rPr lang="en-US" altLang="zh-CN" sz="1600" dirty="0"/>
                        <a:t>ATAC </a:t>
                      </a:r>
                      <a:r>
                        <a:rPr lang="zh-CN" altLang="en-US" sz="1600" dirty="0"/>
                        <a:t>信息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616781"/>
                  </a:ext>
                </a:extLst>
              </a:tr>
              <a:tr h="767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u="sng">
                          <a:solidFill>
                            <a:srgbClr val="000000"/>
                          </a:solidFill>
                        </a:rPr>
                        <a:t>网络传播方法</a:t>
                      </a:r>
                      <a:endParaRPr lang="zh-CN" altLang="en-US" sz="1600" b="1" u="sng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SCAVENGE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2022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38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在细胞图上传播疾病信号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种子细胞选择可能偏移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76339" marR="76339" marT="38170" marB="38170"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637386"/>
                  </a:ext>
                </a:extLst>
              </a:tr>
            </a:tbl>
          </a:graphicData>
        </a:graphic>
      </p:graphicFrame>
      <p:grpSp>
        <p:nvGrpSpPr>
          <p:cNvPr id="53" name="组合 52">
            <a:extLst>
              <a:ext uri="{FF2B5EF4-FFF2-40B4-BE49-F238E27FC236}">
                <a16:creationId xmlns:a16="http://schemas.microsoft.com/office/drawing/2014/main" id="{936003B4-50F0-2108-7563-AB024AC89E5C}"/>
              </a:ext>
            </a:extLst>
          </p:cNvPr>
          <p:cNvGrpSpPr/>
          <p:nvPr/>
        </p:nvGrpSpPr>
        <p:grpSpPr>
          <a:xfrm>
            <a:off x="547515" y="5594719"/>
            <a:ext cx="11096968" cy="722094"/>
            <a:chOff x="739064" y="6489748"/>
            <a:chExt cx="11759990" cy="596862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3B33F7F2-4CAA-9A92-4261-55970DD90B79}"/>
                </a:ext>
              </a:extLst>
            </p:cNvPr>
            <p:cNvGrpSpPr/>
            <p:nvPr/>
          </p:nvGrpSpPr>
          <p:grpSpPr>
            <a:xfrm rot="16200000">
              <a:off x="6353951" y="884118"/>
              <a:ext cx="534138" cy="11756069"/>
              <a:chOff x="-11380" y="451281"/>
              <a:chExt cx="513285" cy="3748251"/>
            </a:xfrm>
          </p:grpSpPr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5B77624A-611E-8CD5-353F-E5312DB61DDF}"/>
                  </a:ext>
                </a:extLst>
              </p:cNvPr>
              <p:cNvSpPr/>
              <p:nvPr/>
            </p:nvSpPr>
            <p:spPr>
              <a:xfrm rot="5400000">
                <a:off x="-490101" y="930002"/>
                <a:ext cx="1470725" cy="513283"/>
              </a:xfrm>
              <a:custGeom>
                <a:avLst/>
                <a:gdLst>
                  <a:gd name="connsiteX0" fmla="*/ 0 w 3123406"/>
                  <a:gd name="connsiteY0" fmla="*/ 0 h 1249362"/>
                  <a:gd name="connsiteX1" fmla="*/ 2498725 w 3123406"/>
                  <a:gd name="connsiteY1" fmla="*/ 0 h 1249362"/>
                  <a:gd name="connsiteX2" fmla="*/ 3123406 w 3123406"/>
                  <a:gd name="connsiteY2" fmla="*/ 624681 h 1249362"/>
                  <a:gd name="connsiteX3" fmla="*/ 2498725 w 3123406"/>
                  <a:gd name="connsiteY3" fmla="*/ 1249362 h 1249362"/>
                  <a:gd name="connsiteX4" fmla="*/ 0 w 3123406"/>
                  <a:gd name="connsiteY4" fmla="*/ 1249362 h 1249362"/>
                  <a:gd name="connsiteX5" fmla="*/ 0 w 3123406"/>
                  <a:gd name="connsiteY5" fmla="*/ 0 h 1249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23406" h="1249362">
                    <a:moveTo>
                      <a:pt x="0" y="0"/>
                    </a:moveTo>
                    <a:lnTo>
                      <a:pt x="2498725" y="0"/>
                    </a:lnTo>
                    <a:lnTo>
                      <a:pt x="3123406" y="624681"/>
                    </a:lnTo>
                    <a:lnTo>
                      <a:pt x="2498725" y="1249362"/>
                    </a:lnTo>
                    <a:lnTo>
                      <a:pt x="0" y="12493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40708" tIns="144018" rIns="696690" bIns="144018" numCol="1" spcCol="1270" anchor="ctr" anchorCtr="0">
                <a:noAutofit/>
              </a:bodyPr>
              <a:lstStyle/>
              <a:p>
                <a:pPr algn="ctr" defTabSz="2400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5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5DC9E2A1-34C6-5F76-9145-68B065508639}"/>
                  </a:ext>
                </a:extLst>
              </p:cNvPr>
              <p:cNvSpPr/>
              <p:nvPr/>
            </p:nvSpPr>
            <p:spPr>
              <a:xfrm rot="5400000">
                <a:off x="-564584" y="2107090"/>
                <a:ext cx="1619692" cy="513283"/>
              </a:xfrm>
              <a:custGeom>
                <a:avLst/>
                <a:gdLst>
                  <a:gd name="connsiteX0" fmla="*/ 0 w 3123406"/>
                  <a:gd name="connsiteY0" fmla="*/ 0 h 1249362"/>
                  <a:gd name="connsiteX1" fmla="*/ 2498725 w 3123406"/>
                  <a:gd name="connsiteY1" fmla="*/ 0 h 1249362"/>
                  <a:gd name="connsiteX2" fmla="*/ 3123406 w 3123406"/>
                  <a:gd name="connsiteY2" fmla="*/ 624681 h 1249362"/>
                  <a:gd name="connsiteX3" fmla="*/ 2498725 w 3123406"/>
                  <a:gd name="connsiteY3" fmla="*/ 1249362 h 1249362"/>
                  <a:gd name="connsiteX4" fmla="*/ 0 w 3123406"/>
                  <a:gd name="connsiteY4" fmla="*/ 1249362 h 1249362"/>
                  <a:gd name="connsiteX5" fmla="*/ 624681 w 3123406"/>
                  <a:gd name="connsiteY5" fmla="*/ 624681 h 1249362"/>
                  <a:gd name="connsiteX6" fmla="*/ 0 w 3123406"/>
                  <a:gd name="connsiteY6" fmla="*/ 0 h 1249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23406" h="1249362">
                    <a:moveTo>
                      <a:pt x="0" y="0"/>
                    </a:moveTo>
                    <a:lnTo>
                      <a:pt x="2498725" y="0"/>
                    </a:lnTo>
                    <a:lnTo>
                      <a:pt x="3123406" y="624681"/>
                    </a:lnTo>
                    <a:lnTo>
                      <a:pt x="2498725" y="1249362"/>
                    </a:lnTo>
                    <a:lnTo>
                      <a:pt x="0" y="1249362"/>
                    </a:lnTo>
                    <a:lnTo>
                      <a:pt x="624681" y="624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40708" tIns="144018" rIns="696690" bIns="144018" numCol="1" spcCol="1270" anchor="ctr" anchorCtr="0">
                <a:noAutofit/>
              </a:bodyPr>
              <a:lstStyle/>
              <a:p>
                <a:pPr marL="0" lvl="0" indent="0" algn="ctr" defTabSz="2400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zh-CN" altLang="en-US" sz="5400" kern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58097131-FDA8-C04A-0E75-01878E49B147}"/>
                  </a:ext>
                </a:extLst>
              </p:cNvPr>
              <p:cNvSpPr/>
              <p:nvPr/>
            </p:nvSpPr>
            <p:spPr>
              <a:xfrm rot="5400000">
                <a:off x="-457511" y="3240117"/>
                <a:ext cx="1406491" cy="512340"/>
              </a:xfrm>
              <a:custGeom>
                <a:avLst/>
                <a:gdLst>
                  <a:gd name="connsiteX0" fmla="*/ 0 w 3222759"/>
                  <a:gd name="connsiteY0" fmla="*/ 0 h 1255547"/>
                  <a:gd name="connsiteX1" fmla="*/ 3210726 w 3222759"/>
                  <a:gd name="connsiteY1" fmla="*/ 18546 h 1255547"/>
                  <a:gd name="connsiteX2" fmla="*/ 3222760 w 3222759"/>
                  <a:gd name="connsiteY2" fmla="*/ 606131 h 1255547"/>
                  <a:gd name="connsiteX3" fmla="*/ 3210735 w 3222759"/>
                  <a:gd name="connsiteY3" fmla="*/ 1255548 h 1255547"/>
                  <a:gd name="connsiteX4" fmla="*/ 0 w 3222759"/>
                  <a:gd name="connsiteY4" fmla="*/ 1249362 h 1255547"/>
                  <a:gd name="connsiteX5" fmla="*/ 624681 w 3222759"/>
                  <a:gd name="connsiteY5" fmla="*/ 624681 h 1255547"/>
                  <a:gd name="connsiteX6" fmla="*/ 0 w 3222759"/>
                  <a:gd name="connsiteY6" fmla="*/ 0 h 1255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22759" h="1255547">
                    <a:moveTo>
                      <a:pt x="0" y="0"/>
                    </a:moveTo>
                    <a:lnTo>
                      <a:pt x="3210726" y="18546"/>
                    </a:lnTo>
                    <a:lnTo>
                      <a:pt x="3222760" y="606131"/>
                    </a:lnTo>
                    <a:lnTo>
                      <a:pt x="3210735" y="1255548"/>
                    </a:lnTo>
                    <a:lnTo>
                      <a:pt x="0" y="1249362"/>
                    </a:lnTo>
                    <a:lnTo>
                      <a:pt x="624681" y="624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40708" tIns="144018" rIns="696690" bIns="144018" numCol="1" spcCol="1270" anchor="ctr" anchorCtr="0">
                <a:noAutofit/>
              </a:bodyPr>
              <a:lstStyle/>
              <a:p>
                <a:pPr marL="0" lvl="0" indent="0" algn="ctr" defTabSz="2400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zh-CN" altLang="en-US" sz="5400" kern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00A6E8D-3F9D-FF01-9A56-A3F5F856DFC1}"/>
                </a:ext>
              </a:extLst>
            </p:cNvPr>
            <p:cNvSpPr/>
            <p:nvPr/>
          </p:nvSpPr>
          <p:spPr>
            <a:xfrm>
              <a:off x="739064" y="6498724"/>
              <a:ext cx="595538" cy="5234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问题</a:t>
              </a:r>
              <a:endPara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6BA594D-B1DB-6A5A-CED2-78797D4CAA42}"/>
                </a:ext>
              </a:extLst>
            </p:cNvPr>
            <p:cNvSpPr/>
            <p:nvPr/>
          </p:nvSpPr>
          <p:spPr>
            <a:xfrm>
              <a:off x="1582574" y="6490985"/>
              <a:ext cx="2898304" cy="5956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GWAS </a:t>
              </a:r>
              <a:r>
                <a:rPr lang="zh-CN" altLang="en-US" sz="1400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发现的风险变异作用于哪些细胞类型？</a:t>
              </a: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D90E252B-32EB-674D-1673-E6F345658642}"/>
                </a:ext>
              </a:extLst>
            </p:cNvPr>
            <p:cNvSpPr/>
            <p:nvPr/>
          </p:nvSpPr>
          <p:spPr>
            <a:xfrm>
              <a:off x="5324092" y="6489748"/>
              <a:ext cx="2898304" cy="5956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如何缓解 </a:t>
              </a:r>
              <a:r>
                <a:rPr lang="en-US" altLang="zh-CN" sz="1400" b="1" dirty="0" err="1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scATAC</a:t>
              </a:r>
              <a:r>
                <a:rPr lang="en-US" altLang="zh-CN" sz="1400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-seq </a:t>
              </a:r>
              <a:r>
                <a:rPr lang="zh-CN" altLang="en-US" sz="1400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稀疏性导致的评分不稳定？</a:t>
              </a: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18F5FB62-94F7-4B90-8D7C-78CCEA32E39B}"/>
                </a:ext>
              </a:extLst>
            </p:cNvPr>
            <p:cNvSpPr/>
            <p:nvPr/>
          </p:nvSpPr>
          <p:spPr>
            <a:xfrm>
              <a:off x="9293696" y="6490985"/>
              <a:ext cx="3097062" cy="5956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RNA </a:t>
              </a:r>
              <a:r>
                <a:rPr lang="zh-CN" altLang="en-US" sz="1400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信息能否补充 </a:t>
              </a:r>
              <a:r>
                <a:rPr lang="en-US" altLang="zh-CN" sz="1400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ATAC </a:t>
              </a:r>
              <a:r>
                <a:rPr lang="zh-CN" altLang="en-US" sz="1400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信号不足，提高识别效果？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0443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443"/>
    </mc:Choice>
    <mc:Fallback xmlns:asvg="http://schemas.microsoft.com/office/drawing/2016/SVG/main" xmlns:a14="http://schemas.microsoft.com/office/drawing/2010/main" xmlns="">
      <p:transition advTm="5044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3980FA-420A-50EF-8BB5-ADC85DE59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35" name="矩形: 圆角 34"/>
          <p:cNvSpPr/>
          <p:nvPr/>
        </p:nvSpPr>
        <p:spPr>
          <a:xfrm>
            <a:off x="267402" y="1362584"/>
            <a:ext cx="5681092" cy="5059028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B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498230" y="1247699"/>
            <a:ext cx="326422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Granja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造血系统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scATAC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-seq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图谱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7B3F76-AE1E-F74B-2471-66D933C03614}"/>
              </a:ext>
            </a:extLst>
          </p:cNvPr>
          <p:cNvSpPr txBox="1"/>
          <p:nvPr/>
        </p:nvSpPr>
        <p:spPr>
          <a:xfrm>
            <a:off x="372414" y="1565162"/>
            <a:ext cx="5482580" cy="98488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r>
              <a:rPr lang="zh-CN" altLang="en-US" sz="1600" b="1" dirty="0"/>
              <a:t>具体来源：</a:t>
            </a:r>
            <a:r>
              <a:rPr lang="en-US" altLang="zh-CN" sz="1600" dirty="0"/>
              <a:t>Granja </a:t>
            </a:r>
            <a:r>
              <a:rPr lang="zh-CN" altLang="en-US" sz="1600" dirty="0"/>
              <a:t>等人构建的人类健康造血系统单细胞 </a:t>
            </a:r>
            <a:r>
              <a:rPr lang="en-US" altLang="zh-CN" sz="1600" dirty="0"/>
              <a:t>ATAC </a:t>
            </a:r>
            <a:r>
              <a:rPr lang="zh-CN" altLang="en-US" sz="1600" dirty="0"/>
              <a:t>图谱，来源于 </a:t>
            </a:r>
            <a:r>
              <a:rPr lang="en-US" altLang="zh-CN" sz="1600" dirty="0"/>
              <a:t>Greenleaf Lab 2019 </a:t>
            </a:r>
            <a:r>
              <a:rPr lang="zh-CN" altLang="en-US" sz="1600" dirty="0"/>
              <a:t>年公开数据。</a:t>
            </a:r>
            <a:endParaRPr lang="en-US" altLang="zh-CN" sz="1600" dirty="0"/>
          </a:p>
          <a:p>
            <a:r>
              <a:rPr lang="zh-CN" altLang="en-US" sz="1600" b="1" dirty="0"/>
              <a:t>数据类型：</a:t>
            </a:r>
            <a:r>
              <a:rPr lang="en-US" altLang="zh-CN" sz="1600" dirty="0" err="1"/>
              <a:t>scATAC</a:t>
            </a:r>
            <a:r>
              <a:rPr lang="en-US" altLang="zh-CN" sz="1600" dirty="0"/>
              <a:t>-seq </a:t>
            </a:r>
            <a:r>
              <a:rPr lang="zh-CN" altLang="en-US" sz="1600" dirty="0"/>
              <a:t>单模态数据。</a:t>
            </a:r>
            <a:endParaRPr lang="en-US" altLang="zh-CN" sz="1600" dirty="0"/>
          </a:p>
          <a:p>
            <a:r>
              <a:rPr lang="zh-CN" altLang="en-US" sz="1600" b="1" dirty="0"/>
              <a:t>数据规模：</a:t>
            </a:r>
            <a:r>
              <a:rPr lang="en-US" altLang="zh-CN" sz="1600" dirty="0"/>
              <a:t>35,038 </a:t>
            </a:r>
            <a:r>
              <a:rPr lang="zh-CN" altLang="en-US" sz="1600" dirty="0"/>
              <a:t>个细胞，</a:t>
            </a:r>
            <a:r>
              <a:rPr lang="en-US" altLang="zh-CN" sz="1600" dirty="0"/>
              <a:t>452,004 </a:t>
            </a:r>
            <a:r>
              <a:rPr lang="zh-CN" altLang="en-US" sz="1600" dirty="0"/>
              <a:t>个染色质开放区域。</a:t>
            </a:r>
            <a:endParaRPr lang="en-US" altLang="zh-CN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1660FE-7C12-DE4B-DA02-47FB7008DCE3}"/>
              </a:ext>
            </a:extLst>
          </p:cNvPr>
          <p:cNvSpPr txBox="1"/>
          <p:nvPr/>
        </p:nvSpPr>
        <p:spPr>
          <a:xfrm>
            <a:off x="267402" y="727714"/>
            <a:ext cx="6590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数据说明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5AB1558-9543-385E-53EE-E515E2E7AFC7}"/>
              </a:ext>
            </a:extLst>
          </p:cNvPr>
          <p:cNvSpPr/>
          <p:nvPr/>
        </p:nvSpPr>
        <p:spPr>
          <a:xfrm>
            <a:off x="6219265" y="1362584"/>
            <a:ext cx="5681092" cy="5059028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B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D68507-6C31-8001-44AA-7510BD1A8CB3}"/>
              </a:ext>
            </a:extLst>
          </p:cNvPr>
          <p:cNvSpPr txBox="1"/>
          <p:nvPr/>
        </p:nvSpPr>
        <p:spPr>
          <a:xfrm>
            <a:off x="7824041" y="1247699"/>
            <a:ext cx="2471540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BMMC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配对多组学数据集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B831A16-AE35-5D91-A34E-AD0B51D0D638}"/>
              </a:ext>
            </a:extLst>
          </p:cNvPr>
          <p:cNvSpPr txBox="1"/>
          <p:nvPr/>
        </p:nvSpPr>
        <p:spPr>
          <a:xfrm>
            <a:off x="6304838" y="1594195"/>
            <a:ext cx="5496843" cy="123110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r>
              <a:rPr lang="zh-CN" altLang="en-US" sz="1600" b="1" dirty="0"/>
              <a:t>具体来源：</a:t>
            </a:r>
            <a:r>
              <a:rPr lang="en-US" altLang="zh-CN" sz="1600" dirty="0" err="1"/>
              <a:t>NeurIPS</a:t>
            </a:r>
            <a:r>
              <a:rPr lang="en-US" altLang="zh-CN" sz="1600" dirty="0"/>
              <a:t> 2021 </a:t>
            </a:r>
            <a:r>
              <a:rPr lang="zh-CN" altLang="en-US" sz="1600" dirty="0"/>
              <a:t>多模态单细胞数据整合挑战赛公开数据。</a:t>
            </a:r>
            <a:endParaRPr lang="en-US" altLang="zh-CN" sz="1600" dirty="0"/>
          </a:p>
          <a:p>
            <a:r>
              <a:rPr lang="zh-CN" altLang="en-US" sz="1600" b="1" dirty="0"/>
              <a:t>数据类型：同一细胞配对测量</a:t>
            </a:r>
            <a:r>
              <a:rPr lang="zh-CN" altLang="en-US" sz="1600" dirty="0"/>
              <a:t>的 </a:t>
            </a:r>
            <a:r>
              <a:rPr lang="en-US" altLang="zh-CN" sz="1600" dirty="0" err="1"/>
              <a:t>scATAC</a:t>
            </a:r>
            <a:r>
              <a:rPr lang="en-US" altLang="zh-CN" sz="1600" dirty="0"/>
              <a:t>-seq </a:t>
            </a:r>
            <a:r>
              <a:rPr lang="zh-CN" altLang="en-US" sz="1600" dirty="0"/>
              <a:t>与 </a:t>
            </a:r>
            <a:r>
              <a:rPr lang="en-US" altLang="zh-CN" sz="1600" dirty="0" err="1"/>
              <a:t>scRNA</a:t>
            </a:r>
            <a:r>
              <a:rPr lang="en-US" altLang="zh-CN" sz="1600" dirty="0"/>
              <a:t>-seq </a:t>
            </a:r>
            <a:r>
              <a:rPr lang="zh-CN" altLang="en-US" sz="1600" dirty="0"/>
              <a:t>数据。</a:t>
            </a:r>
            <a:endParaRPr lang="en-US" altLang="zh-CN" sz="1600" dirty="0"/>
          </a:p>
          <a:p>
            <a:r>
              <a:rPr lang="zh-CN" altLang="en-US" sz="1600" b="1" dirty="0"/>
              <a:t>数据规模：</a:t>
            </a:r>
            <a:r>
              <a:rPr lang="en-US" altLang="zh-CN" sz="1600" dirty="0"/>
              <a:t>69,249 </a:t>
            </a:r>
            <a:r>
              <a:rPr lang="zh-CN" altLang="en-US" sz="1600" dirty="0"/>
              <a:t>个细胞，</a:t>
            </a:r>
            <a:r>
              <a:rPr lang="en-US" altLang="zh-CN" sz="1600" dirty="0"/>
              <a:t>4 </a:t>
            </a:r>
            <a:r>
              <a:rPr lang="zh-CN" altLang="en-US" sz="1600" dirty="0"/>
              <a:t>名健康供体；包含约 </a:t>
            </a:r>
            <a:r>
              <a:rPr lang="en-US" altLang="zh-CN" sz="1600" dirty="0"/>
              <a:t>14 </a:t>
            </a:r>
            <a:r>
              <a:rPr lang="zh-CN" altLang="en-US" sz="1600" dirty="0"/>
              <a:t>万个 </a:t>
            </a:r>
            <a:r>
              <a:rPr lang="en-US" altLang="zh-CN" sz="1600" dirty="0"/>
              <a:t>peak </a:t>
            </a:r>
            <a:r>
              <a:rPr lang="zh-CN" altLang="en-US" sz="1600" dirty="0"/>
              <a:t>和约 </a:t>
            </a:r>
            <a:r>
              <a:rPr lang="en-US" altLang="zh-CN" sz="1600" dirty="0"/>
              <a:t>1.3 </a:t>
            </a:r>
            <a:r>
              <a:rPr lang="zh-CN" altLang="en-US" sz="1600" dirty="0"/>
              <a:t>万个基因。</a:t>
            </a:r>
            <a:endParaRPr lang="en-US" altLang="zh-CN" sz="16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79FCCF3-7D5F-D430-5CC5-41784417A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06" y="2629981"/>
            <a:ext cx="5195675" cy="3711196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CB6D272-BECE-BCF3-95BB-C2D8D915C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393" y="2825301"/>
            <a:ext cx="5034835" cy="3596311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F49A8E29-0396-A80C-2E3D-9292CA9B376F}"/>
              </a:ext>
            </a:extLst>
          </p:cNvPr>
          <p:cNvSpPr/>
          <p:nvPr/>
        </p:nvSpPr>
        <p:spPr>
          <a:xfrm>
            <a:off x="2427436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实验设计与数据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"/>
    </mc:Choice>
    <mc:Fallback xmlns:a14="http://schemas.microsoft.com/office/drawing/2010/main" xmlns="">
      <p:transition spd="slow" advTm="45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76751-9ACB-04E0-7C17-F12EC0C05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A367FE-628E-507B-CCAA-099E1A19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AD053D-A274-67A1-F3BC-8101363E4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57BE6A0D-AAFC-C1AC-5A7C-404E6EF37B85}"/>
              </a:ext>
            </a:extLst>
          </p:cNvPr>
          <p:cNvSpPr/>
          <p:nvPr/>
        </p:nvSpPr>
        <p:spPr>
          <a:xfrm>
            <a:off x="2427436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实验设计与数据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96F56FC-5A80-E6A2-2EBD-5C33A1DC5D34}"/>
              </a:ext>
            </a:extLst>
          </p:cNvPr>
          <p:cNvSpPr/>
          <p:nvPr/>
        </p:nvSpPr>
        <p:spPr>
          <a:xfrm>
            <a:off x="339827" y="3945349"/>
            <a:ext cx="4287138" cy="2487794"/>
          </a:xfrm>
          <a:prstGeom prst="roundRect">
            <a:avLst>
              <a:gd name="adj" fmla="val 3704"/>
            </a:avLst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40C9628-9A5B-E5BA-B1CB-E1BD702A05BF}"/>
              </a:ext>
            </a:extLst>
          </p:cNvPr>
          <p:cNvSpPr/>
          <p:nvPr/>
        </p:nvSpPr>
        <p:spPr>
          <a:xfrm>
            <a:off x="339827" y="1281624"/>
            <a:ext cx="4279158" cy="2487793"/>
          </a:xfrm>
          <a:prstGeom prst="roundRect">
            <a:avLst>
              <a:gd name="adj" fmla="val 3704"/>
            </a:avLst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B203D2-7322-DEE0-5EA5-9931373DFDCB}"/>
              </a:ext>
            </a:extLst>
          </p:cNvPr>
          <p:cNvSpPr txBox="1"/>
          <p:nvPr/>
        </p:nvSpPr>
        <p:spPr>
          <a:xfrm>
            <a:off x="1472521" y="1157829"/>
            <a:ext cx="1816688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每细胞非零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peak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3D5A36E-6905-64C1-1E56-50B0C991201C}"/>
              </a:ext>
            </a:extLst>
          </p:cNvPr>
          <p:cNvSpPr/>
          <p:nvPr/>
        </p:nvSpPr>
        <p:spPr>
          <a:xfrm>
            <a:off x="420200" y="1454858"/>
            <a:ext cx="4119793" cy="581401"/>
          </a:xfrm>
          <a:prstGeom prst="roundRect">
            <a:avLst>
              <a:gd name="adj" fmla="val 4610"/>
            </a:avLst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数据规模：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细胞数：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N=35,038   Peak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P=452,004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2C5C779-C983-C3BD-3401-D58D2606448F}"/>
              </a:ext>
            </a:extLst>
          </p:cNvPr>
          <p:cNvSpPr/>
          <p:nvPr/>
        </p:nvSpPr>
        <p:spPr>
          <a:xfrm>
            <a:off x="4999481" y="1290862"/>
            <a:ext cx="4207017" cy="5288788"/>
          </a:xfrm>
          <a:prstGeom prst="roundRect">
            <a:avLst>
              <a:gd name="adj" fmla="val 1766"/>
            </a:avLst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7C1708-F958-D0C2-D80D-628ABA1AB682}"/>
              </a:ext>
            </a:extLst>
          </p:cNvPr>
          <p:cNvSpPr txBox="1"/>
          <p:nvPr/>
        </p:nvSpPr>
        <p:spPr>
          <a:xfrm>
            <a:off x="6747606" y="1162483"/>
            <a:ext cx="858851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4449897-3750-09CE-AF15-695C48778A93}"/>
              </a:ext>
            </a:extLst>
          </p:cNvPr>
          <p:cNvCxnSpPr/>
          <p:nvPr/>
        </p:nvCxnSpPr>
        <p:spPr>
          <a:xfrm>
            <a:off x="9226879" y="2436981"/>
            <a:ext cx="36988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3265E14-3694-304A-EFBB-9455197AEBA5}"/>
              </a:ext>
            </a:extLst>
          </p:cNvPr>
          <p:cNvCxnSpPr/>
          <p:nvPr/>
        </p:nvCxnSpPr>
        <p:spPr>
          <a:xfrm>
            <a:off x="9226879" y="4096176"/>
            <a:ext cx="36988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2333443-8DD6-D115-5886-2308E8388B67}"/>
              </a:ext>
            </a:extLst>
          </p:cNvPr>
          <p:cNvCxnSpPr/>
          <p:nvPr/>
        </p:nvCxnSpPr>
        <p:spPr>
          <a:xfrm>
            <a:off x="9226879" y="5817923"/>
            <a:ext cx="36988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5A56E451-3C36-D577-C0ED-6FA15802CA11}"/>
              </a:ext>
            </a:extLst>
          </p:cNvPr>
          <p:cNvSpPr/>
          <p:nvPr/>
        </p:nvSpPr>
        <p:spPr>
          <a:xfrm>
            <a:off x="9762217" y="4315496"/>
            <a:ext cx="1941227" cy="2040854"/>
          </a:xfrm>
          <a:prstGeom prst="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00" b="1">
              <a:solidFill>
                <a:srgbClr val="EFF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B34532-2625-DECE-01C7-26B37511F33A}"/>
              </a:ext>
            </a:extLst>
          </p:cNvPr>
          <p:cNvSpPr/>
          <p:nvPr/>
        </p:nvSpPr>
        <p:spPr>
          <a:xfrm>
            <a:off x="9771850" y="3167114"/>
            <a:ext cx="1941227" cy="598834"/>
          </a:xfrm>
          <a:prstGeom prst="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00" b="1" dirty="0">
              <a:solidFill>
                <a:srgbClr val="EFF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9B00E3-88F4-ECD4-E2E6-CE29C0212136}"/>
              </a:ext>
            </a:extLst>
          </p:cNvPr>
          <p:cNvSpPr/>
          <p:nvPr/>
        </p:nvSpPr>
        <p:spPr>
          <a:xfrm>
            <a:off x="9762217" y="2034660"/>
            <a:ext cx="1941227" cy="589066"/>
          </a:xfrm>
          <a:prstGeom prst="rect">
            <a:avLst/>
          </a:prstGeom>
          <a:solidFill>
            <a:schemeClr val="tx1">
              <a:lumMod val="65000"/>
              <a:lumOff val="35000"/>
              <a:alpha val="2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000" b="1">
              <a:solidFill>
                <a:srgbClr val="EFF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55F29D-1106-E668-D84C-343AF3A4855E}"/>
              </a:ext>
            </a:extLst>
          </p:cNvPr>
          <p:cNvSpPr txBox="1"/>
          <p:nvPr/>
        </p:nvSpPr>
        <p:spPr>
          <a:xfrm>
            <a:off x="9798332" y="3196285"/>
            <a:ext cx="1871779" cy="531023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多数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peaks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只在极少数细胞中被观测到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BE7C0F-3A97-0CF3-E36B-AEDB04459659}"/>
              </a:ext>
            </a:extLst>
          </p:cNvPr>
          <p:cNvSpPr txBox="1"/>
          <p:nvPr/>
        </p:nvSpPr>
        <p:spPr>
          <a:xfrm>
            <a:off x="9811318" y="2075911"/>
            <a:ext cx="1832481" cy="47702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单个细胞仅覆盖少量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peaks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9E8BD16-93A4-9B5D-BD5F-BCC55D03A4BE}"/>
              </a:ext>
            </a:extLst>
          </p:cNvPr>
          <p:cNvSpPr txBox="1"/>
          <p:nvPr/>
        </p:nvSpPr>
        <p:spPr>
          <a:xfrm>
            <a:off x="9731848" y="4465088"/>
            <a:ext cx="1938263" cy="174695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数据高度稀疏时，大量“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0”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值可能反映的是技术掉落而非真实生物学缺失，因此基于原始峰信号的定位与富集分析更容易受到噪声干扰，稳定性也会下降。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95924EF-79FD-2EE6-4C03-1E91972FDBFA}"/>
              </a:ext>
            </a:extLst>
          </p:cNvPr>
          <p:cNvCxnSpPr>
            <a:cxnSpLocks/>
          </p:cNvCxnSpPr>
          <p:nvPr/>
        </p:nvCxnSpPr>
        <p:spPr>
          <a:xfrm>
            <a:off x="10783553" y="2632873"/>
            <a:ext cx="0" cy="509627"/>
          </a:xfrm>
          <a:prstGeom prst="straightConnector1">
            <a:avLst/>
          </a:prstGeom>
          <a:ln w="762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B426257-18FE-362E-21FE-6AFDD775DFBA}"/>
              </a:ext>
            </a:extLst>
          </p:cNvPr>
          <p:cNvCxnSpPr>
            <a:cxnSpLocks/>
          </p:cNvCxnSpPr>
          <p:nvPr/>
        </p:nvCxnSpPr>
        <p:spPr>
          <a:xfrm>
            <a:off x="10796457" y="3768518"/>
            <a:ext cx="0" cy="507463"/>
          </a:xfrm>
          <a:prstGeom prst="straightConnector1">
            <a:avLst/>
          </a:prstGeom>
          <a:ln w="762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90BA4127-0621-3C27-9ACF-0E4E6850E1AB}"/>
              </a:ext>
            </a:extLst>
          </p:cNvPr>
          <p:cNvSpPr/>
          <p:nvPr/>
        </p:nvSpPr>
        <p:spPr>
          <a:xfrm>
            <a:off x="9658466" y="1289363"/>
            <a:ext cx="2142509" cy="523745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E512401-EB7D-E1AB-8605-54D19993624E}"/>
              </a:ext>
            </a:extLst>
          </p:cNvPr>
          <p:cNvSpPr txBox="1"/>
          <p:nvPr/>
        </p:nvSpPr>
        <p:spPr>
          <a:xfrm>
            <a:off x="9771850" y="1454129"/>
            <a:ext cx="1924300" cy="49244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研究结论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（对下游分析的影响）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008E652-4960-FF2F-E942-2D1EA9045B16}"/>
              </a:ext>
            </a:extLst>
          </p:cNvPr>
          <p:cNvCxnSpPr/>
          <p:nvPr/>
        </p:nvCxnSpPr>
        <p:spPr>
          <a:xfrm>
            <a:off x="4608880" y="2824732"/>
            <a:ext cx="369880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B5497E3-BA7E-34EB-0780-F2869831080E}"/>
              </a:ext>
            </a:extLst>
          </p:cNvPr>
          <p:cNvCxnSpPr/>
          <p:nvPr/>
        </p:nvCxnSpPr>
        <p:spPr>
          <a:xfrm>
            <a:off x="4608880" y="5210475"/>
            <a:ext cx="369880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9D5CB43B-0DD2-C28A-82DE-80ADA74A7E41}"/>
              </a:ext>
            </a:extLst>
          </p:cNvPr>
          <p:cNvSpPr txBox="1"/>
          <p:nvPr/>
        </p:nvSpPr>
        <p:spPr>
          <a:xfrm>
            <a:off x="1206336" y="3825923"/>
            <a:ext cx="255411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peak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被检测到的细胞比例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78BD89A3-FE0E-D2A2-314A-847400F09408}"/>
              </a:ext>
            </a:extLst>
          </p:cNvPr>
          <p:cNvPicPr>
            <a:picLocks/>
          </p:cNvPicPr>
          <p:nvPr/>
        </p:nvPicPr>
        <p:blipFill>
          <a:blip r:embed="rId4"/>
          <a:srcRect l="2784"/>
          <a:stretch>
            <a:fillRect/>
          </a:stretch>
        </p:blipFill>
        <p:spPr>
          <a:xfrm>
            <a:off x="391025" y="2100223"/>
            <a:ext cx="2823883" cy="266267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69E86610-A4C2-FEED-5DA2-223BC1F7F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893" y="2393101"/>
            <a:ext cx="2445025" cy="1058295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8253662E-F18B-1869-1F27-C70DEE61F32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3603" b="-12191"/>
          <a:stretch>
            <a:fillRect/>
          </a:stretch>
        </p:blipFill>
        <p:spPr>
          <a:xfrm>
            <a:off x="1126475" y="3392780"/>
            <a:ext cx="2713840" cy="236192"/>
          </a:xfrm>
          <a:prstGeom prst="rect">
            <a:avLst/>
          </a:prstGeom>
        </p:spPr>
      </p:pic>
      <p:pic>
        <p:nvPicPr>
          <p:cNvPr id="39" name="Picture 5">
            <a:extLst>
              <a:ext uri="{FF2B5EF4-FFF2-40B4-BE49-F238E27FC236}">
                <a16:creationId xmlns:a16="http://schemas.microsoft.com/office/drawing/2014/main" id="{CD52D042-AC9E-F5C7-058F-12A9C72C2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136" y="1405857"/>
            <a:ext cx="3875983" cy="258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6">
            <a:extLst>
              <a:ext uri="{FF2B5EF4-FFF2-40B4-BE49-F238E27FC236}">
                <a16:creationId xmlns:a16="http://schemas.microsoft.com/office/drawing/2014/main" id="{CA5F2072-7B0D-E434-A2C2-BF4EE213E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250" y="1378785"/>
            <a:ext cx="267207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89E117DA-F507-7C55-E63F-9C5789DBFC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330" y="4144748"/>
            <a:ext cx="4075720" cy="28888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58C32EFC-EFDC-5960-729B-4A63171E4F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267" y="4481503"/>
            <a:ext cx="2796174" cy="1080683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19273FC1-861B-5776-6EDC-7008F3505472}"/>
              </a:ext>
            </a:extLst>
          </p:cNvPr>
          <p:cNvPicPr>
            <a:picLocks/>
          </p:cNvPicPr>
          <p:nvPr/>
        </p:nvPicPr>
        <p:blipFill>
          <a:blip r:embed="rId10"/>
          <a:srcRect l="71924" t="15478"/>
          <a:stretch>
            <a:fillRect/>
          </a:stretch>
        </p:blipFill>
        <p:spPr>
          <a:xfrm>
            <a:off x="397603" y="5722069"/>
            <a:ext cx="1522518" cy="218042"/>
          </a:xfrm>
          <a:prstGeom prst="rect">
            <a:avLst/>
          </a:prstGeom>
        </p:spPr>
      </p:pic>
      <p:grpSp>
        <p:nvGrpSpPr>
          <p:cNvPr id="44" name="组合 43">
            <a:extLst>
              <a:ext uri="{FF2B5EF4-FFF2-40B4-BE49-F238E27FC236}">
                <a16:creationId xmlns:a16="http://schemas.microsoft.com/office/drawing/2014/main" id="{2BB39AC4-D5D0-8811-FDF0-E237E9C81E0E}"/>
              </a:ext>
            </a:extLst>
          </p:cNvPr>
          <p:cNvGrpSpPr/>
          <p:nvPr/>
        </p:nvGrpSpPr>
        <p:grpSpPr>
          <a:xfrm>
            <a:off x="434848" y="5465299"/>
            <a:ext cx="4038553" cy="717280"/>
            <a:chOff x="434848" y="5465299"/>
            <a:chExt cx="4038553" cy="717280"/>
          </a:xfrm>
        </p:grpSpPr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20E5C696-BB06-DA28-8029-80732516BCFF}"/>
                </a:ext>
              </a:extLst>
            </p:cNvPr>
            <p:cNvPicPr>
              <a:picLocks/>
            </p:cNvPicPr>
            <p:nvPr/>
          </p:nvPicPr>
          <p:blipFill>
            <a:blip r:embed="rId10"/>
            <a:srcRect r="29022" b="-7668"/>
            <a:stretch>
              <a:fillRect/>
            </a:stretch>
          </p:blipFill>
          <p:spPr>
            <a:xfrm>
              <a:off x="436052" y="5465299"/>
              <a:ext cx="3780714" cy="272818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EBBAA35E-7F90-6922-9747-FE867B90F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869627" y="5722069"/>
              <a:ext cx="2603774" cy="277931"/>
            </a:xfrm>
            <a:prstGeom prst="rect">
              <a:avLst/>
            </a:prstGeom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D23545E1-CAE9-6738-0A59-C20ACA4E4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34848" y="5935371"/>
              <a:ext cx="3867437" cy="247208"/>
            </a:xfrm>
            <a:prstGeom prst="rect">
              <a:avLst/>
            </a:prstGeom>
          </p:spPr>
        </p:pic>
      </p:grpSp>
      <p:pic>
        <p:nvPicPr>
          <p:cNvPr id="48" name="图片 47">
            <a:extLst>
              <a:ext uri="{FF2B5EF4-FFF2-40B4-BE49-F238E27FC236}">
                <a16:creationId xmlns:a16="http://schemas.microsoft.com/office/drawing/2014/main" id="{52A77081-0CBA-9FCD-23EA-3B9F12E3C6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7889" y="6180580"/>
            <a:ext cx="2154956" cy="206326"/>
          </a:xfrm>
          <a:prstGeom prst="rect">
            <a:avLst/>
          </a:prstGeom>
        </p:spPr>
      </p:pic>
      <p:pic>
        <p:nvPicPr>
          <p:cNvPr id="49" name="Picture 7">
            <a:extLst>
              <a:ext uri="{FF2B5EF4-FFF2-40B4-BE49-F238E27FC236}">
                <a16:creationId xmlns:a16="http://schemas.microsoft.com/office/drawing/2014/main" id="{D5DE276B-1569-CCBD-FA76-95C3D4FA2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43" y="3970111"/>
            <a:ext cx="3825779" cy="255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36187388-3425-3FB4-33AC-192F7B391A9B}"/>
              </a:ext>
            </a:extLst>
          </p:cNvPr>
          <p:cNvSpPr txBox="1"/>
          <p:nvPr/>
        </p:nvSpPr>
        <p:spPr>
          <a:xfrm>
            <a:off x="267402" y="727714"/>
            <a:ext cx="11497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数据稀疏性统计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Granja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造血系统 </a:t>
            </a:r>
            <a:r>
              <a:rPr lang="en-US" altLang="zh-CN" sz="20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scATAC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-seq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图谱）</a:t>
            </a:r>
          </a:p>
        </p:txBody>
      </p:sp>
    </p:spTree>
    <p:extLst>
      <p:ext uri="{BB962C8B-B14F-4D97-AF65-F5344CB8AC3E}">
        <p14:creationId xmlns:p14="http://schemas.microsoft.com/office/powerpoint/2010/main" val="120739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"/>
    </mc:Choice>
    <mc:Fallback xmlns:a14="http://schemas.microsoft.com/office/drawing/2010/main" xmlns="">
      <p:transition spd="slow" advTm="45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CF00-E45D-83E9-BEC9-8C697DB1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4BBCE01-A2AA-F972-4FE4-509710FA116A}"/>
              </a:ext>
            </a:extLst>
          </p:cNvPr>
          <p:cNvSpPr/>
          <p:nvPr/>
        </p:nvSpPr>
        <p:spPr>
          <a:xfrm>
            <a:off x="6096000" y="2737216"/>
            <a:ext cx="5766059" cy="3767753"/>
          </a:xfrm>
          <a:prstGeom prst="roundRect">
            <a:avLst>
              <a:gd name="adj" fmla="val 4610"/>
            </a:avLst>
          </a:prstGeom>
          <a:solidFill>
            <a:schemeClr val="accent3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FE72CE5-17C4-8C22-EF08-6F0E9EBEDE69}"/>
              </a:ext>
            </a:extLst>
          </p:cNvPr>
          <p:cNvSpPr/>
          <p:nvPr/>
        </p:nvSpPr>
        <p:spPr>
          <a:xfrm>
            <a:off x="243326" y="2737217"/>
            <a:ext cx="5766059" cy="3767753"/>
          </a:xfrm>
          <a:prstGeom prst="roundRect">
            <a:avLst>
              <a:gd name="adj" fmla="val 4610"/>
            </a:avLst>
          </a:prstGeom>
          <a:solidFill>
            <a:schemeClr val="accent5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9243DD9-95D2-76A5-A3A6-15B1913520E3}"/>
              </a:ext>
            </a:extLst>
          </p:cNvPr>
          <p:cNvSpPr/>
          <p:nvPr/>
        </p:nvSpPr>
        <p:spPr>
          <a:xfrm>
            <a:off x="388384" y="941056"/>
            <a:ext cx="11436324" cy="1280345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B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093DC9E-246B-1D8F-FA8E-370D95C11203}"/>
              </a:ext>
            </a:extLst>
          </p:cNvPr>
          <p:cNvSpPr txBox="1"/>
          <p:nvPr/>
        </p:nvSpPr>
        <p:spPr>
          <a:xfrm>
            <a:off x="3304836" y="817946"/>
            <a:ext cx="5162002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GWAS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资源：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BCX2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血液性状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fine-mapping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变异集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AF5F1A-3ED9-7271-4F67-346BF5854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AD76421-7772-AD86-FAD5-6020DBCEDE8C}"/>
              </a:ext>
            </a:extLst>
          </p:cNvPr>
          <p:cNvSpPr txBox="1"/>
          <p:nvPr/>
        </p:nvSpPr>
        <p:spPr>
          <a:xfrm>
            <a:off x="589940" y="1113722"/>
            <a:ext cx="11100546" cy="98488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r>
              <a:rPr lang="zh-CN" altLang="en-US" sz="1600" b="1" dirty="0"/>
              <a:t>具体来源：</a:t>
            </a:r>
            <a:r>
              <a:rPr lang="en-US" altLang="zh-CN" sz="1600" dirty="0"/>
              <a:t>Vuckovic </a:t>
            </a:r>
            <a:r>
              <a:rPr lang="zh-CN" altLang="en-US" sz="1600" dirty="0"/>
              <a:t>等基于 </a:t>
            </a:r>
            <a:r>
              <a:rPr lang="en-US" altLang="zh-CN" sz="1600" dirty="0"/>
              <a:t>UK Biobank </a:t>
            </a:r>
            <a:r>
              <a:rPr lang="zh-CN" altLang="en-US" sz="1600" dirty="0"/>
              <a:t>等大规模人群队列的血液性状 </a:t>
            </a:r>
            <a:r>
              <a:rPr lang="en-US" altLang="zh-CN" sz="1600" dirty="0"/>
              <a:t>GWAS </a:t>
            </a:r>
            <a:r>
              <a:rPr lang="zh-CN" altLang="en-US" sz="1600" dirty="0"/>
              <a:t>与精细定位结果</a:t>
            </a:r>
            <a:endParaRPr lang="en-US" altLang="zh-CN" sz="1600" dirty="0"/>
          </a:p>
          <a:p>
            <a:r>
              <a:rPr lang="zh-CN" altLang="en-US" sz="1600" b="1" dirty="0"/>
              <a:t>数据类型：血液细胞计数性状</a:t>
            </a:r>
            <a:r>
              <a:rPr lang="zh-CN" altLang="en-US" sz="1600" dirty="0"/>
              <a:t>相关候选因果变异</a:t>
            </a:r>
            <a:endParaRPr lang="en-US" altLang="zh-CN" sz="1600" dirty="0"/>
          </a:p>
          <a:p>
            <a:r>
              <a:rPr lang="zh-CN" altLang="en-US" sz="1600" b="1" dirty="0"/>
              <a:t>数据规模：</a:t>
            </a:r>
            <a:r>
              <a:rPr lang="en-US" altLang="zh-CN" sz="1600" dirty="0"/>
              <a:t>563,085 </a:t>
            </a:r>
            <a:r>
              <a:rPr lang="zh-CN" altLang="en-US" sz="1600" dirty="0"/>
              <a:t>名欧洲血统参与者，</a:t>
            </a:r>
            <a:r>
              <a:rPr lang="en-US" altLang="zh-CN" sz="1600" dirty="0"/>
              <a:t>29 </a:t>
            </a:r>
            <a:r>
              <a:rPr lang="zh-CN" altLang="en-US" sz="1600" dirty="0"/>
              <a:t>个血液细胞表型。本研究使用：覆盖 </a:t>
            </a:r>
            <a:r>
              <a:rPr lang="en-US" altLang="zh-CN" sz="1600" dirty="0"/>
              <a:t>22 </a:t>
            </a:r>
            <a:r>
              <a:rPr lang="zh-CN" altLang="en-US" sz="1600" dirty="0"/>
              <a:t>个血液细胞性状的 </a:t>
            </a:r>
            <a:r>
              <a:rPr lang="en-US" altLang="zh-CN" sz="1600" dirty="0"/>
              <a:t>fine-mapping </a:t>
            </a:r>
            <a:r>
              <a:rPr lang="zh-CN" altLang="en-US" sz="1600" dirty="0"/>
              <a:t>结果；筛选 </a:t>
            </a:r>
            <a:r>
              <a:rPr lang="en-US" altLang="zh-CN" sz="1600" dirty="0"/>
              <a:t>PP &gt; 0.01 </a:t>
            </a:r>
            <a:r>
              <a:rPr lang="zh-CN" altLang="en-US" sz="1600" dirty="0"/>
              <a:t>且与开放染色质区域重叠的候选变异</a:t>
            </a:r>
            <a:endParaRPr lang="en-US" altLang="zh-CN" sz="16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9D255E4-DBF5-E94D-57F5-6B479769979E}"/>
              </a:ext>
            </a:extLst>
          </p:cNvPr>
          <p:cNvSpPr/>
          <p:nvPr/>
        </p:nvSpPr>
        <p:spPr>
          <a:xfrm>
            <a:off x="388385" y="2898722"/>
            <a:ext cx="5479564" cy="3492119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B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6160F7-F09C-5CBA-870D-BE7AC47C2610}"/>
              </a:ext>
            </a:extLst>
          </p:cNvPr>
          <p:cNvSpPr txBox="1"/>
          <p:nvPr/>
        </p:nvSpPr>
        <p:spPr>
          <a:xfrm>
            <a:off x="1865724" y="2775611"/>
            <a:ext cx="2524886" cy="246221"/>
          </a:xfrm>
          <a:prstGeom prst="rect">
            <a:avLst/>
          </a:prstGeom>
          <a:solidFill>
            <a:srgbClr val="003E87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主要指标：</a:t>
            </a:r>
            <a:r>
              <a:rPr lang="en-US" altLang="zh-CN" sz="1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AUROC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6684AB-E2D7-BD84-57FA-BCE8D39D434D}"/>
              </a:ext>
            </a:extLst>
          </p:cNvPr>
          <p:cNvSpPr txBox="1"/>
          <p:nvPr/>
        </p:nvSpPr>
        <p:spPr>
          <a:xfrm>
            <a:off x="589939" y="3118677"/>
            <a:ext cx="5050549" cy="1969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600" b="1" dirty="0"/>
              <a:t>AUROC </a:t>
            </a:r>
            <a:r>
              <a:rPr lang="zh-CN" altLang="en-US" sz="1600" b="1" dirty="0"/>
              <a:t>是 </a:t>
            </a:r>
            <a:r>
              <a:rPr lang="en-US" altLang="zh-CN" sz="1600" b="1" dirty="0"/>
              <a:t>ROC </a:t>
            </a:r>
            <a:r>
              <a:rPr lang="zh-CN" altLang="en-US" sz="1600" b="1" dirty="0"/>
              <a:t>曲线下面积，常用于评价二分类或排序任务中的整体区分能力。</a:t>
            </a:r>
            <a:endParaRPr lang="en-US" altLang="zh-C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正样本：</a:t>
            </a:r>
            <a:r>
              <a:rPr lang="zh-CN" altLang="en-US" sz="1600" dirty="0"/>
              <a:t>目标细胞类型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负样本：</a:t>
            </a:r>
            <a:r>
              <a:rPr lang="zh-CN" altLang="en-US" sz="1600" dirty="0"/>
              <a:t>其他细胞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连续预测分数：</a:t>
            </a:r>
            <a:r>
              <a:rPr lang="zh-CN" altLang="en-US" sz="1600" dirty="0"/>
              <a:t>每个细胞一个 </a:t>
            </a:r>
            <a:r>
              <a:rPr lang="en-US" altLang="zh-CN" sz="1600" dirty="0"/>
              <a:t>TRS </a:t>
            </a:r>
            <a:r>
              <a:rPr lang="zh-CN" altLang="en-US" sz="1600" dirty="0"/>
              <a:t>性状相关性评分</a:t>
            </a:r>
            <a:endParaRPr lang="en-US" altLang="zh-CN" sz="1600" dirty="0"/>
          </a:p>
          <a:p>
            <a:r>
              <a:rPr lang="en-US" altLang="zh-CN" sz="1600" dirty="0"/>
              <a:t>AUROC </a:t>
            </a:r>
            <a:r>
              <a:rPr lang="zh-CN" altLang="en-US" sz="1600" dirty="0"/>
              <a:t>衡量的是目标细胞是否整体获得更高的 </a:t>
            </a:r>
            <a:r>
              <a:rPr lang="en-US" altLang="zh-CN" sz="1600" dirty="0"/>
              <a:t>TRS </a:t>
            </a:r>
            <a:r>
              <a:rPr lang="zh-CN" altLang="en-US" sz="1600" dirty="0"/>
              <a:t>分数。越接近 </a:t>
            </a:r>
            <a:r>
              <a:rPr lang="en-US" altLang="zh-CN" sz="1600" dirty="0"/>
              <a:t>1</a:t>
            </a:r>
            <a:r>
              <a:rPr lang="zh-CN" altLang="en-US" sz="1600" dirty="0"/>
              <a:t>，说明识别效果越好，接近 </a:t>
            </a:r>
            <a:r>
              <a:rPr lang="en-US" altLang="zh-CN" sz="1600" dirty="0"/>
              <a:t>0.5 </a:t>
            </a:r>
            <a:r>
              <a:rPr lang="zh-CN" altLang="en-US" sz="1600" dirty="0"/>
              <a:t>则表示接近随机猜测。</a:t>
            </a:r>
            <a:endParaRPr lang="en-US" altLang="zh-CN" sz="16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451C7E5-B1BC-8D3C-7F76-CED4BDFEE3AE}"/>
              </a:ext>
            </a:extLst>
          </p:cNvPr>
          <p:cNvSpPr/>
          <p:nvPr/>
        </p:nvSpPr>
        <p:spPr>
          <a:xfrm>
            <a:off x="6230672" y="2898722"/>
            <a:ext cx="5506063" cy="3492119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B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061E7B5-923C-E054-B0C8-FD7BEE966492}"/>
              </a:ext>
            </a:extLst>
          </p:cNvPr>
          <p:cNvSpPr txBox="1"/>
          <p:nvPr/>
        </p:nvSpPr>
        <p:spPr>
          <a:xfrm>
            <a:off x="7946191" y="3134535"/>
            <a:ext cx="1975862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 dirty="0"/>
              <a:t>TRS </a:t>
            </a:r>
            <a:r>
              <a:rPr lang="zh-CN" altLang="en-US" sz="1600" b="1" dirty="0"/>
              <a:t>前 </a:t>
            </a:r>
            <a:r>
              <a:rPr lang="en-US" altLang="zh-CN" sz="1600" b="1" dirty="0"/>
              <a:t>5% </a:t>
            </a:r>
            <a:r>
              <a:rPr lang="zh-CN" altLang="en-US" sz="1600" b="1" dirty="0"/>
              <a:t>中靶比例</a:t>
            </a:r>
            <a:endParaRPr lang="en-US" altLang="zh-CN" sz="16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96A8F2-84CB-D64B-A53D-E3CD86F0ADF4}"/>
              </a:ext>
            </a:extLst>
          </p:cNvPr>
          <p:cNvSpPr txBox="1"/>
          <p:nvPr/>
        </p:nvSpPr>
        <p:spPr>
          <a:xfrm>
            <a:off x="6493580" y="3433965"/>
            <a:ext cx="4970898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600" dirty="0"/>
              <a:t>在 </a:t>
            </a:r>
            <a:r>
              <a:rPr lang="en-US" altLang="zh-CN" sz="1600" dirty="0"/>
              <a:t>TRS </a:t>
            </a:r>
            <a:r>
              <a:rPr lang="zh-CN" altLang="en-US" sz="1600" dirty="0"/>
              <a:t>排名前 </a:t>
            </a:r>
            <a:r>
              <a:rPr lang="en-US" altLang="zh-CN" sz="1600" dirty="0"/>
              <a:t>5% </a:t>
            </a:r>
            <a:r>
              <a:rPr lang="zh-CN" altLang="en-US" sz="1600" dirty="0"/>
              <a:t>的高相关细胞中，属于目标细胞类型的比例，用于衡量模型是否把高分集中分配给真正相关的细胞。</a:t>
            </a:r>
            <a:endParaRPr lang="en-US" altLang="zh-CN" sz="1600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15F7DF3-49A0-8806-F983-CA462E551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80170"/>
              </p:ext>
            </p:extLst>
          </p:nvPr>
        </p:nvGraphicFramePr>
        <p:xfrm>
          <a:off x="1441093" y="5026253"/>
          <a:ext cx="3374148" cy="1219200"/>
        </p:xfrm>
        <a:graphic>
          <a:graphicData uri="http://schemas.openxmlformats.org/drawingml/2006/table">
            <a:tbl>
              <a:tblPr/>
              <a:tblGrid>
                <a:gridCol w="1493125">
                  <a:extLst>
                    <a:ext uri="{9D8B030D-6E8A-4147-A177-3AD203B41FA5}">
                      <a16:colId xmlns:a16="http://schemas.microsoft.com/office/drawing/2014/main" val="83412615"/>
                    </a:ext>
                  </a:extLst>
                </a:gridCol>
                <a:gridCol w="1881023">
                  <a:extLst>
                    <a:ext uri="{9D8B030D-6E8A-4147-A177-3AD203B41FA5}">
                      <a16:colId xmlns:a16="http://schemas.microsoft.com/office/drawing/2014/main" val="6794244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AUROC</a:t>
                      </a:r>
                    </a:p>
                  </a:txBody>
                  <a:tcPr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 w="9525" cap="flat" cmpd="sng" algn="ctr">
                      <a:solidFill>
                        <a:srgbClr val="1C38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含义</a:t>
                      </a:r>
                    </a:p>
                  </a:txBody>
                  <a:tcPr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 w="9525" cap="flat" cmpd="sng" algn="ctr">
                      <a:solidFill>
                        <a:srgbClr val="1C38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8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181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&lt;0.5</a:t>
                      </a:r>
                    </a:p>
                  </a:txBody>
                  <a:tcPr anchor="ctr">
                    <a:lnL>
                      <a:solidFill>
                        <a:srgbClr val="1C3879"/>
                      </a:solidFill>
                      <a:prstDash val="soli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38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表现劣于随机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 w="9525" cap="flat" cmpd="sng" algn="ctr">
                      <a:solidFill>
                        <a:srgbClr val="1C38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9583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=0.5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C38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接近随机猜测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38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67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=1.0</a:t>
                      </a:r>
                    </a:p>
                  </a:txBody>
                  <a:tcPr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DDDDDD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完美区分</a:t>
                      </a:r>
                    </a:p>
                  </a:txBody>
                  <a:tcPr anchor="ctr">
                    <a:lnL>
                      <a:solidFill>
                        <a:srgbClr val="DDDDDD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38664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9A12DC70-E95A-2BFC-AAF4-7ADDD0FBEB7B}"/>
              </a:ext>
            </a:extLst>
          </p:cNvPr>
          <p:cNvSpPr/>
          <p:nvPr/>
        </p:nvSpPr>
        <p:spPr>
          <a:xfrm>
            <a:off x="2427436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实验设计与数据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6A016E-33A3-B370-09D9-603C54E5270A}"/>
              </a:ext>
            </a:extLst>
          </p:cNvPr>
          <p:cNvSpPr txBox="1"/>
          <p:nvPr/>
        </p:nvSpPr>
        <p:spPr>
          <a:xfrm>
            <a:off x="388384" y="2310745"/>
            <a:ext cx="6590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评价指标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AE065AB-A04B-B345-14B1-7C8D0A6383B1}"/>
              </a:ext>
            </a:extLst>
          </p:cNvPr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3D3A9D-A399-C3C9-72EB-F15A2339FF5E}"/>
              </a:ext>
            </a:extLst>
          </p:cNvPr>
          <p:cNvSpPr txBox="1"/>
          <p:nvPr/>
        </p:nvSpPr>
        <p:spPr>
          <a:xfrm>
            <a:off x="8304303" y="4217949"/>
            <a:ext cx="1345576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/>
              <a:t>背景中靶比例</a:t>
            </a:r>
            <a:endParaRPr lang="en-US" altLang="zh-CN" sz="1600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0AAF442-D253-1AF0-B4EE-3CE918848B8A}"/>
              </a:ext>
            </a:extLst>
          </p:cNvPr>
          <p:cNvSpPr txBox="1"/>
          <p:nvPr/>
        </p:nvSpPr>
        <p:spPr>
          <a:xfrm>
            <a:off x="6491642" y="4521795"/>
            <a:ext cx="4970898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600" dirty="0"/>
              <a:t>在全部细胞中，目标细胞类型本身所占的比例，用作随机情况下的基准水平。</a:t>
            </a:r>
            <a:endParaRPr lang="en-US" altLang="zh-CN" sz="16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33E38B-C113-7BDA-035B-C5DB630D5C40}"/>
              </a:ext>
            </a:extLst>
          </p:cNvPr>
          <p:cNvSpPr txBox="1"/>
          <p:nvPr/>
        </p:nvSpPr>
        <p:spPr>
          <a:xfrm>
            <a:off x="8418983" y="5116096"/>
            <a:ext cx="1030277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/>
              <a:t>富集倍数</a:t>
            </a:r>
            <a:endParaRPr lang="en-US" altLang="zh-CN" sz="1600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A578C65-51AA-FF19-9866-C55C8AC97C33}"/>
              </a:ext>
            </a:extLst>
          </p:cNvPr>
          <p:cNvSpPr txBox="1"/>
          <p:nvPr/>
        </p:nvSpPr>
        <p:spPr>
          <a:xfrm>
            <a:off x="6493579" y="5416083"/>
            <a:ext cx="4970898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600" dirty="0"/>
              <a:t>TRS </a:t>
            </a:r>
            <a:r>
              <a:rPr lang="zh-CN" altLang="en-US" sz="1600" dirty="0"/>
              <a:t>前 </a:t>
            </a:r>
            <a:r>
              <a:rPr lang="en-US" altLang="zh-CN" sz="1600" dirty="0"/>
              <a:t>5% </a:t>
            </a:r>
            <a:r>
              <a:rPr lang="zh-CN" altLang="en-US" sz="1600" dirty="0"/>
              <a:t>中靶比例与背景中靶比例的比值，数值越大，说明目标细胞在高 </a:t>
            </a:r>
            <a:r>
              <a:rPr lang="en-US" altLang="zh-CN" sz="1600" dirty="0"/>
              <a:t>TRS </a:t>
            </a:r>
            <a:r>
              <a:rPr lang="zh-CN" altLang="en-US" sz="1600" dirty="0"/>
              <a:t>细胞中越明显富集，模型定位效果越好。</a:t>
            </a:r>
            <a:endParaRPr lang="en-US" altLang="zh-CN" sz="16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B2EE096-2BB1-8593-007E-029A21FB0C4C}"/>
              </a:ext>
            </a:extLst>
          </p:cNvPr>
          <p:cNvSpPr txBox="1"/>
          <p:nvPr/>
        </p:nvSpPr>
        <p:spPr>
          <a:xfrm>
            <a:off x="8253891" y="2772410"/>
            <a:ext cx="1360462" cy="246221"/>
          </a:xfrm>
          <a:prstGeom prst="rect">
            <a:avLst/>
          </a:prstGeom>
          <a:solidFill>
            <a:srgbClr val="003E87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次要指标</a:t>
            </a:r>
            <a:endParaRPr lang="en-US" altLang="zh-CN" sz="1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45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"/>
    </mc:Choice>
    <mc:Fallback xmlns:a14="http://schemas.microsoft.com/office/drawing/2010/main" xmlns="">
      <p:transition spd="slow" advTm="45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874F-CF52-E142-F82D-098817A7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BB268E01-A3FA-5F0F-D907-298D0DF3CF48}"/>
              </a:ext>
            </a:extLst>
          </p:cNvPr>
          <p:cNvSpPr/>
          <p:nvPr/>
        </p:nvSpPr>
        <p:spPr>
          <a:xfrm>
            <a:off x="9105894" y="2185641"/>
            <a:ext cx="2898334" cy="4163122"/>
          </a:xfrm>
          <a:prstGeom prst="roundRect">
            <a:avLst>
              <a:gd name="adj" fmla="val 4610"/>
            </a:avLst>
          </a:prstGeom>
          <a:solidFill>
            <a:schemeClr val="accent3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E371FC36-833C-44EF-E051-6CC9962070AB}"/>
              </a:ext>
            </a:extLst>
          </p:cNvPr>
          <p:cNvSpPr/>
          <p:nvPr/>
        </p:nvSpPr>
        <p:spPr>
          <a:xfrm>
            <a:off x="6127034" y="2185641"/>
            <a:ext cx="2898334" cy="4163122"/>
          </a:xfrm>
          <a:prstGeom prst="roundRect">
            <a:avLst>
              <a:gd name="adj" fmla="val 4610"/>
            </a:avLst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CBC087EB-EE3F-E670-E592-89E20401B201}"/>
              </a:ext>
            </a:extLst>
          </p:cNvPr>
          <p:cNvSpPr/>
          <p:nvPr/>
        </p:nvSpPr>
        <p:spPr>
          <a:xfrm>
            <a:off x="3134046" y="2185641"/>
            <a:ext cx="2898334" cy="4163122"/>
          </a:xfrm>
          <a:prstGeom prst="roundRect">
            <a:avLst>
              <a:gd name="adj" fmla="val 4610"/>
            </a:avLst>
          </a:prstGeom>
          <a:solidFill>
            <a:schemeClr val="accent3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49718D04-5D12-7732-EE74-4A2EA713CE53}"/>
              </a:ext>
            </a:extLst>
          </p:cNvPr>
          <p:cNvSpPr/>
          <p:nvPr/>
        </p:nvSpPr>
        <p:spPr>
          <a:xfrm>
            <a:off x="187774" y="2185641"/>
            <a:ext cx="2898334" cy="4163122"/>
          </a:xfrm>
          <a:prstGeom prst="roundRect">
            <a:avLst>
              <a:gd name="adj" fmla="val 4610"/>
            </a:avLst>
          </a:prstGeom>
          <a:solidFill>
            <a:schemeClr val="accent3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718ACA9-B308-3D62-448D-38DBBB334601}"/>
              </a:ext>
            </a:extLst>
          </p:cNvPr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A7AB83-9C69-3C5D-1403-5C39B8905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E05022A-68F3-ACBE-5BF0-45A981AB458F}"/>
              </a:ext>
            </a:extLst>
          </p:cNvPr>
          <p:cNvSpPr/>
          <p:nvPr/>
        </p:nvSpPr>
        <p:spPr>
          <a:xfrm>
            <a:off x="656047" y="1093972"/>
            <a:ext cx="10879905" cy="909561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00300">
              <a:lnSpc>
                <a:spcPct val="125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面向 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GWAS 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与单细胞 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ATAC 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数据整合中的</a:t>
            </a:r>
            <a:r>
              <a:rPr lang="zh-CN" altLang="en-US" b="1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性状相关细胞定位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问题，评估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SCAVENGE</a:t>
            </a:r>
            <a:r>
              <a:rPr lang="zh-CN" altLang="en-US" b="1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图传播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方法及 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RNA-ATAC </a:t>
            </a:r>
            <a:r>
              <a:rPr lang="zh-CN" altLang="en-US" b="1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多组学融合改进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策略的识别效果。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C1D79D-9B6D-B074-F23F-8C46B1C6BE87}"/>
              </a:ext>
            </a:extLst>
          </p:cNvPr>
          <p:cNvSpPr/>
          <p:nvPr/>
        </p:nvSpPr>
        <p:spPr>
          <a:xfrm>
            <a:off x="1563321" y="842818"/>
            <a:ext cx="1395469" cy="353242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实验总体目标</a:t>
            </a:r>
            <a:endParaRPr lang="zh-CN" altLang="en-US" sz="1200" dirty="0">
              <a:solidFill>
                <a:schemeClr val="bg1"/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034F28B-FB5D-1EE2-82D3-1A51180964E7}"/>
              </a:ext>
            </a:extLst>
          </p:cNvPr>
          <p:cNvGrpSpPr/>
          <p:nvPr/>
        </p:nvGrpSpPr>
        <p:grpSpPr>
          <a:xfrm>
            <a:off x="260873" y="2254687"/>
            <a:ext cx="2763660" cy="2932132"/>
            <a:chOff x="656047" y="2413019"/>
            <a:chExt cx="3257997" cy="2857791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8E0604A0-48DB-CEBF-808B-6F3A465FA40F}"/>
                </a:ext>
              </a:extLst>
            </p:cNvPr>
            <p:cNvSpPr/>
            <p:nvPr/>
          </p:nvSpPr>
          <p:spPr>
            <a:xfrm>
              <a:off x="656047" y="2413019"/>
              <a:ext cx="3244412" cy="2857791"/>
            </a:xfrm>
            <a:prstGeom prst="roundRect">
              <a:avLst>
                <a:gd name="adj" fmla="val 4162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939FF2B-C691-B116-F74C-C33E5A1F0105}"/>
                </a:ext>
              </a:extLst>
            </p:cNvPr>
            <p:cNvSpPr/>
            <p:nvPr/>
          </p:nvSpPr>
          <p:spPr>
            <a:xfrm>
              <a:off x="656832" y="2860316"/>
              <a:ext cx="3257212" cy="45193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SCAVENGE </a:t>
              </a:r>
              <a:r>
                <a:rPr lang="zh-CN" altLang="en-US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复现实验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C106868F-D67C-A8FA-D011-1FD6A151D0AF}"/>
                </a:ext>
              </a:extLst>
            </p:cNvPr>
            <p:cNvSpPr/>
            <p:nvPr/>
          </p:nvSpPr>
          <p:spPr>
            <a:xfrm>
              <a:off x="741827" y="3315001"/>
              <a:ext cx="3038456" cy="1779513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0" rIns="0" bIns="0" rtlCol="0" anchor="ctr"/>
            <a:lstStyle/>
            <a:p>
              <a:pPr>
                <a:lnSpc>
                  <a:spcPct val="125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基于 </a:t>
              </a:r>
              <a:r>
                <a:rPr lang="en-US" altLang="zh-CN" sz="1600" dirty="0" err="1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scATAC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-seq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数据与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GWAS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精细定位变异，复现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SCAVENGE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流程，验证其识别性状相关细胞类型的能力。</a:t>
              </a:r>
              <a:endPara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FC317E1-1F64-DDE7-3252-B8C8BF0BDB40}"/>
                </a:ext>
              </a:extLst>
            </p:cNvPr>
            <p:cNvSpPr/>
            <p:nvPr/>
          </p:nvSpPr>
          <p:spPr>
            <a:xfrm>
              <a:off x="1563321" y="2507074"/>
              <a:ext cx="1444234" cy="353242"/>
            </a:xfrm>
            <a:prstGeom prst="rect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实验一 复现</a:t>
              </a:r>
              <a:endPara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CFBC94F-19C6-C2BF-3D7B-F16E75B1916B}"/>
              </a:ext>
            </a:extLst>
          </p:cNvPr>
          <p:cNvGrpSpPr/>
          <p:nvPr/>
        </p:nvGrpSpPr>
        <p:grpSpPr>
          <a:xfrm>
            <a:off x="3221733" y="2254687"/>
            <a:ext cx="2763660" cy="2932132"/>
            <a:chOff x="656047" y="2413019"/>
            <a:chExt cx="3257997" cy="2857791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30BC8D82-71DE-7EFE-57CF-5E992F72FADD}"/>
                </a:ext>
              </a:extLst>
            </p:cNvPr>
            <p:cNvSpPr/>
            <p:nvPr/>
          </p:nvSpPr>
          <p:spPr>
            <a:xfrm>
              <a:off x="656047" y="2413019"/>
              <a:ext cx="3244412" cy="2857791"/>
            </a:xfrm>
            <a:prstGeom prst="roundRect">
              <a:avLst>
                <a:gd name="adj" fmla="val 4162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7945BE36-FE45-A505-5E12-3CAC4BC944FB}"/>
                </a:ext>
              </a:extLst>
            </p:cNvPr>
            <p:cNvSpPr/>
            <p:nvPr/>
          </p:nvSpPr>
          <p:spPr>
            <a:xfrm>
              <a:off x="656832" y="2860316"/>
              <a:ext cx="3257212" cy="45193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ATAC-only </a:t>
              </a:r>
              <a:r>
                <a:rPr lang="zh-CN" altLang="en-US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基线实验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A56897E-413F-D3E6-3A7D-4688175BB7A0}"/>
                </a:ext>
              </a:extLst>
            </p:cNvPr>
            <p:cNvSpPr/>
            <p:nvPr/>
          </p:nvSpPr>
          <p:spPr>
            <a:xfrm>
              <a:off x="741827" y="3315001"/>
              <a:ext cx="3038456" cy="1779513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0" rIns="0" bIns="0" rtlCol="0" anchor="ctr"/>
            <a:lstStyle/>
            <a:p>
              <a:pPr>
                <a:lnSpc>
                  <a:spcPct val="125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在配对多组学数据集中仅使用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ATAC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模态，构建单模态细胞图并进行随机游走传播，评估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ATAC-only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方法的表现与局限。</a:t>
              </a:r>
              <a:endPara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E0C5BAF-E973-1FD5-7F90-2F6CDFC5C133}"/>
                </a:ext>
              </a:extLst>
            </p:cNvPr>
            <p:cNvSpPr/>
            <p:nvPr/>
          </p:nvSpPr>
          <p:spPr>
            <a:xfrm>
              <a:off x="1563321" y="2507074"/>
              <a:ext cx="1444234" cy="353242"/>
            </a:xfrm>
            <a:prstGeom prst="rect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实验二 基线</a:t>
              </a:r>
              <a:endPara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8E56C5B-B0CE-3CBC-9C66-1DF5DDC97E3D}"/>
              </a:ext>
            </a:extLst>
          </p:cNvPr>
          <p:cNvGrpSpPr/>
          <p:nvPr/>
        </p:nvGrpSpPr>
        <p:grpSpPr>
          <a:xfrm>
            <a:off x="6200133" y="2254687"/>
            <a:ext cx="2763660" cy="2932132"/>
            <a:chOff x="656047" y="2413019"/>
            <a:chExt cx="3257997" cy="285779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6BA38856-57DC-C5C6-592C-B2215F2425EB}"/>
                </a:ext>
              </a:extLst>
            </p:cNvPr>
            <p:cNvSpPr/>
            <p:nvPr/>
          </p:nvSpPr>
          <p:spPr>
            <a:xfrm>
              <a:off x="656047" y="2413019"/>
              <a:ext cx="3244412" cy="2857791"/>
            </a:xfrm>
            <a:prstGeom prst="roundRect">
              <a:avLst>
                <a:gd name="adj" fmla="val 4162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6F454F3-5C59-83EA-C4FC-B34E40C4F60A}"/>
                </a:ext>
              </a:extLst>
            </p:cNvPr>
            <p:cNvSpPr/>
            <p:nvPr/>
          </p:nvSpPr>
          <p:spPr>
            <a:xfrm>
              <a:off x="656832" y="2860316"/>
              <a:ext cx="3257212" cy="45193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多组学融合改进实验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B09B6A1-9F00-E585-3158-80AD94892E27}"/>
                </a:ext>
              </a:extLst>
            </p:cNvPr>
            <p:cNvSpPr/>
            <p:nvPr/>
          </p:nvSpPr>
          <p:spPr>
            <a:xfrm>
              <a:off x="741827" y="3315001"/>
              <a:ext cx="3038456" cy="1779513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0" rIns="0" bIns="0" rtlCol="0" anchor="ctr"/>
            <a:lstStyle/>
            <a:p>
              <a:pPr>
                <a:lnSpc>
                  <a:spcPct val="125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引入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RNA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端 </a:t>
              </a:r>
              <a:r>
                <a:rPr lang="en-US" altLang="zh-CN" sz="1600" dirty="0" err="1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scDRS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性状相关信号，融合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ATAC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与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RNA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特征重建细胞图，评估多组学融合对细胞类型识别效果的提升。</a:t>
              </a:r>
              <a:endPara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3E7C6376-DEFD-DB88-8A9B-F1DDC36C6D43}"/>
                </a:ext>
              </a:extLst>
            </p:cNvPr>
            <p:cNvSpPr/>
            <p:nvPr/>
          </p:nvSpPr>
          <p:spPr>
            <a:xfrm>
              <a:off x="1563321" y="2507074"/>
              <a:ext cx="1444234" cy="353242"/>
            </a:xfrm>
            <a:prstGeom prst="rect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实验三 改进</a:t>
              </a:r>
              <a:endPara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FBAA796-2BAD-3315-63AF-29E3EAD0C9F1}"/>
              </a:ext>
            </a:extLst>
          </p:cNvPr>
          <p:cNvGrpSpPr/>
          <p:nvPr/>
        </p:nvGrpSpPr>
        <p:grpSpPr>
          <a:xfrm>
            <a:off x="9178533" y="2254687"/>
            <a:ext cx="2763660" cy="2932132"/>
            <a:chOff x="656047" y="2413019"/>
            <a:chExt cx="3257997" cy="2857791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E4A4D9D7-EEB9-62E3-E6F9-FC275AE645C5}"/>
                </a:ext>
              </a:extLst>
            </p:cNvPr>
            <p:cNvSpPr/>
            <p:nvPr/>
          </p:nvSpPr>
          <p:spPr>
            <a:xfrm>
              <a:off x="656047" y="2413019"/>
              <a:ext cx="3244412" cy="2857791"/>
            </a:xfrm>
            <a:prstGeom prst="roundRect">
              <a:avLst>
                <a:gd name="adj" fmla="val 4162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3C91234-76FF-CABC-4952-D2B78F666489}"/>
                </a:ext>
              </a:extLst>
            </p:cNvPr>
            <p:cNvSpPr/>
            <p:nvPr/>
          </p:nvSpPr>
          <p:spPr>
            <a:xfrm>
              <a:off x="656832" y="2860316"/>
              <a:ext cx="3257212" cy="45193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模态退化压力测试</a:t>
              </a: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4D1E1F67-7F31-8275-F9B1-6BE52A278CCD}"/>
                </a:ext>
              </a:extLst>
            </p:cNvPr>
            <p:cNvSpPr/>
            <p:nvPr/>
          </p:nvSpPr>
          <p:spPr>
            <a:xfrm>
              <a:off x="741827" y="3315001"/>
              <a:ext cx="3038456" cy="1779513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0" rIns="0" bIns="0" rtlCol="0" anchor="ctr"/>
            <a:lstStyle/>
            <a:p>
              <a:pPr>
                <a:lnSpc>
                  <a:spcPct val="125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逐步降低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ATAC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信号质量，对比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ATAC-only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与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RNA-ATAC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融合方法的表现，验证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RNA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信息在 </a:t>
              </a:r>
              <a:r>
                <a:rPr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ATAC </a:t>
              </a:r>
              <a:r>
                <a:rPr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稀疏场景下的补充作用。</a:t>
              </a:r>
              <a:endPara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D8B2009E-947C-AEAF-1554-5839CB5283FA}"/>
                </a:ext>
              </a:extLst>
            </p:cNvPr>
            <p:cNvSpPr/>
            <p:nvPr/>
          </p:nvSpPr>
          <p:spPr>
            <a:xfrm>
              <a:off x="1445436" y="2504325"/>
              <a:ext cx="1631237" cy="353242"/>
            </a:xfrm>
            <a:prstGeom prst="rect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补充实验 验证</a:t>
              </a:r>
              <a:endPara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FBBF052C-2462-A5A8-DEDF-552D4D4930A4}"/>
              </a:ext>
            </a:extLst>
          </p:cNvPr>
          <p:cNvSpPr txBox="1"/>
          <p:nvPr/>
        </p:nvSpPr>
        <p:spPr>
          <a:xfrm>
            <a:off x="260873" y="5279544"/>
            <a:ext cx="2752136" cy="10099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600" b="1" dirty="0"/>
              <a:t>健康造血系统 </a:t>
            </a:r>
            <a:r>
              <a:rPr lang="en-US" altLang="zh-CN" sz="1600" b="1" dirty="0" err="1"/>
              <a:t>scATAC</a:t>
            </a:r>
            <a:r>
              <a:rPr lang="en-US" altLang="zh-CN" sz="1600" b="1" dirty="0"/>
              <a:t>-seq </a:t>
            </a:r>
            <a:r>
              <a:rPr lang="zh-CN" altLang="en-US" sz="1600" b="1" dirty="0"/>
              <a:t>图谱</a:t>
            </a:r>
            <a:br>
              <a:rPr lang="zh-CN" altLang="en-US" sz="1600" dirty="0"/>
            </a:br>
            <a:r>
              <a:rPr lang="en-US" altLang="zh-CN" sz="1600" dirty="0"/>
              <a:t>35,038 </a:t>
            </a:r>
            <a:r>
              <a:rPr lang="zh-CN" altLang="en-US" sz="1600" dirty="0"/>
              <a:t>个细胞，</a:t>
            </a:r>
            <a:r>
              <a:rPr lang="en-US" altLang="zh-CN" sz="1600" dirty="0"/>
              <a:t>452,004 </a:t>
            </a:r>
            <a:r>
              <a:rPr lang="zh-CN" altLang="en-US" sz="1600" dirty="0"/>
              <a:t>个染色质开放区域（</a:t>
            </a:r>
            <a:r>
              <a:rPr lang="en-US" altLang="zh-CN" sz="1600" dirty="0"/>
              <a:t>peak</a:t>
            </a:r>
            <a:r>
              <a:rPr lang="zh-CN" altLang="en-US" sz="1600" dirty="0"/>
              <a:t>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03A7792-157E-9212-77D4-4226C07AC996}"/>
              </a:ext>
            </a:extLst>
          </p:cNvPr>
          <p:cNvSpPr txBox="1"/>
          <p:nvPr/>
        </p:nvSpPr>
        <p:spPr>
          <a:xfrm>
            <a:off x="3221733" y="5279544"/>
            <a:ext cx="2752136" cy="10099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600" b="1" dirty="0"/>
              <a:t>BMMC </a:t>
            </a:r>
            <a:r>
              <a:rPr lang="zh-CN" altLang="en-US" sz="1600" b="1" dirty="0"/>
              <a:t>配对多组学数据集（仅使用 </a:t>
            </a:r>
            <a:r>
              <a:rPr lang="en-US" altLang="zh-CN" sz="1600" b="1" dirty="0"/>
              <a:t>ATAC </a:t>
            </a:r>
            <a:r>
              <a:rPr lang="zh-CN" altLang="en-US" sz="1600" b="1" dirty="0"/>
              <a:t>模态）</a:t>
            </a:r>
            <a:br>
              <a:rPr lang="zh-CN" altLang="en-US" sz="1600" b="1" dirty="0"/>
            </a:br>
            <a:r>
              <a:rPr lang="en-US" altLang="zh-CN" sz="1600" dirty="0"/>
              <a:t>69,249 </a:t>
            </a:r>
            <a:r>
              <a:rPr lang="zh-CN" altLang="en-US" sz="1600" dirty="0"/>
              <a:t>个细胞，约 </a:t>
            </a:r>
            <a:r>
              <a:rPr lang="en-US" altLang="zh-CN" sz="1600" dirty="0"/>
              <a:t>14 </a:t>
            </a:r>
            <a:r>
              <a:rPr lang="zh-CN" altLang="en-US" sz="1600" dirty="0"/>
              <a:t>万个 </a:t>
            </a:r>
            <a:r>
              <a:rPr lang="en-US" altLang="zh-CN" sz="1600" dirty="0"/>
              <a:t>peak</a:t>
            </a:r>
            <a:endParaRPr lang="zh-CN" altLang="en-US" sz="16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84CD517-613F-39EF-3A81-12F23FF05C42}"/>
              </a:ext>
            </a:extLst>
          </p:cNvPr>
          <p:cNvSpPr txBox="1"/>
          <p:nvPr/>
        </p:nvSpPr>
        <p:spPr>
          <a:xfrm>
            <a:off x="6185545" y="5275031"/>
            <a:ext cx="2752136" cy="10099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600" b="1" dirty="0"/>
              <a:t>BMMC </a:t>
            </a:r>
            <a:r>
              <a:rPr lang="zh-CN" altLang="en-US" sz="1600" b="1" dirty="0"/>
              <a:t>配对多组学数据集（</a:t>
            </a:r>
            <a:r>
              <a:rPr lang="en-US" altLang="zh-CN" sz="1600" b="1" dirty="0"/>
              <a:t>RNA + ATAC</a:t>
            </a:r>
            <a:r>
              <a:rPr lang="zh-CN" altLang="en-US" sz="1600" b="1" dirty="0"/>
              <a:t>）</a:t>
            </a:r>
            <a:br>
              <a:rPr lang="zh-CN" altLang="en-US" sz="1600" b="1" dirty="0"/>
            </a:br>
            <a:r>
              <a:rPr lang="en-US" altLang="zh-CN" sz="1600" dirty="0"/>
              <a:t>69,249 </a:t>
            </a:r>
            <a:r>
              <a:rPr lang="zh-CN" altLang="en-US" sz="1600" dirty="0"/>
              <a:t>个细胞，约 </a:t>
            </a:r>
            <a:r>
              <a:rPr lang="en-US" altLang="zh-CN" sz="1600" dirty="0"/>
              <a:t>14 </a:t>
            </a:r>
            <a:r>
              <a:rPr lang="zh-CN" altLang="en-US" sz="1600" dirty="0"/>
              <a:t>万个 </a:t>
            </a:r>
            <a:r>
              <a:rPr lang="en-US" altLang="zh-CN" sz="1600" dirty="0"/>
              <a:t>peak</a:t>
            </a:r>
            <a:r>
              <a:rPr lang="zh-CN" altLang="en-US" sz="1600" dirty="0"/>
              <a:t>，约 </a:t>
            </a:r>
            <a:r>
              <a:rPr lang="en-US" altLang="zh-CN" sz="1600" dirty="0"/>
              <a:t>1.3 </a:t>
            </a:r>
            <a:r>
              <a:rPr lang="zh-CN" altLang="en-US" sz="1600" dirty="0"/>
              <a:t>万个基因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CD40F29-2EC1-8E58-FE8F-53BD1FF51AD2}"/>
              </a:ext>
            </a:extLst>
          </p:cNvPr>
          <p:cNvSpPr txBox="1"/>
          <p:nvPr/>
        </p:nvSpPr>
        <p:spPr>
          <a:xfrm>
            <a:off x="9190057" y="5275031"/>
            <a:ext cx="2752136" cy="10099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600" b="1" dirty="0"/>
              <a:t>BMMC </a:t>
            </a:r>
            <a:r>
              <a:rPr lang="zh-CN" altLang="en-US" sz="1600" b="1" dirty="0"/>
              <a:t>配对多组学数据集（</a:t>
            </a:r>
            <a:r>
              <a:rPr lang="en-US" altLang="zh-CN" sz="1600" b="1" dirty="0"/>
              <a:t>RNA + </a:t>
            </a:r>
            <a:r>
              <a:rPr lang="zh-CN" altLang="en-US" sz="1600" b="1" dirty="0"/>
              <a:t>降质 </a:t>
            </a:r>
            <a:r>
              <a:rPr lang="en-US" altLang="zh-CN" sz="1600" b="1" dirty="0"/>
              <a:t>ATAC</a:t>
            </a:r>
            <a:r>
              <a:rPr lang="zh-CN" altLang="en-US" sz="1600" b="1" dirty="0"/>
              <a:t>）</a:t>
            </a:r>
            <a:br>
              <a:rPr lang="zh-CN" altLang="en-US" sz="1600" b="1" dirty="0"/>
            </a:br>
            <a:r>
              <a:rPr lang="zh-CN" altLang="en-US" sz="1600" dirty="0"/>
              <a:t>模拟不同 </a:t>
            </a:r>
            <a:r>
              <a:rPr lang="en-US" altLang="zh-CN" sz="1600" dirty="0"/>
              <a:t>ATAC reads </a:t>
            </a:r>
            <a:r>
              <a:rPr lang="zh-CN" altLang="en-US" sz="1600" dirty="0"/>
              <a:t>丢弃比例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BBAEDB9-39DE-D4C8-D7E6-5EB966E01482}"/>
              </a:ext>
            </a:extLst>
          </p:cNvPr>
          <p:cNvSpPr/>
          <p:nvPr/>
        </p:nvSpPr>
        <p:spPr>
          <a:xfrm>
            <a:off x="2427436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实验设计与数据</a:t>
            </a:r>
          </a:p>
        </p:txBody>
      </p:sp>
    </p:spTree>
    <p:extLst>
      <p:ext uri="{BB962C8B-B14F-4D97-AF65-F5344CB8AC3E}">
        <p14:creationId xmlns:p14="http://schemas.microsoft.com/office/powerpoint/2010/main" val="378756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42"/>
    </mc:Choice>
    <mc:Fallback xmlns="">
      <p:transition spd="slow" advTm="2434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45EB2-2217-65F0-1B52-BE9C7882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矩形: 圆角 1444">
            <a:extLst>
              <a:ext uri="{FF2B5EF4-FFF2-40B4-BE49-F238E27FC236}">
                <a16:creationId xmlns:a16="http://schemas.microsoft.com/office/drawing/2014/main" id="{A8412152-DC8F-DD7D-21E3-00A202250C8D}"/>
              </a:ext>
            </a:extLst>
          </p:cNvPr>
          <p:cNvSpPr/>
          <p:nvPr/>
        </p:nvSpPr>
        <p:spPr>
          <a:xfrm>
            <a:off x="4443230" y="860489"/>
            <a:ext cx="6929201" cy="3701086"/>
          </a:xfrm>
          <a:prstGeom prst="roundRect">
            <a:avLst>
              <a:gd name="adj" fmla="val 4610"/>
            </a:avLst>
          </a:prstGeom>
          <a:solidFill>
            <a:schemeClr val="accent5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6C869A-7081-471A-EE17-21043679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48E4A9-3CA7-3C36-FA1B-50E7D8A2F993}"/>
              </a:ext>
            </a:extLst>
          </p:cNvPr>
          <p:cNvSpPr txBox="1"/>
          <p:nvPr/>
        </p:nvSpPr>
        <p:spPr>
          <a:xfrm>
            <a:off x="267402" y="727714"/>
            <a:ext cx="43593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</a:t>
            </a:r>
            <a:r>
              <a:rPr lang="en-US" altLang="zh-CN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SCAVENGE</a:t>
            </a: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F93722-2848-9528-21AE-3C352FCFB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3853159-1531-EC46-8D23-EB0D3C715486}"/>
              </a:ext>
            </a:extLst>
          </p:cNvPr>
          <p:cNvSpPr/>
          <p:nvPr/>
        </p:nvSpPr>
        <p:spPr>
          <a:xfrm>
            <a:off x="4875534" y="-4746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SCAVENGE</a:t>
            </a:r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复现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510E2816-2A2E-576B-38EB-AAF4DFB44B60}"/>
              </a:ext>
            </a:extLst>
          </p:cNvPr>
          <p:cNvSpPr/>
          <p:nvPr/>
        </p:nvSpPr>
        <p:spPr>
          <a:xfrm>
            <a:off x="267402" y="1289364"/>
            <a:ext cx="3920353" cy="4994663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5B0D36E-5810-669D-564E-538F7369EA3C}"/>
              </a:ext>
            </a:extLst>
          </p:cNvPr>
          <p:cNvSpPr txBox="1"/>
          <p:nvPr/>
        </p:nvSpPr>
        <p:spPr>
          <a:xfrm>
            <a:off x="1524871" y="1204405"/>
            <a:ext cx="1289214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预处理阶段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D010681-5481-7CEC-DD3D-754FE493F0FC}"/>
              </a:ext>
            </a:extLst>
          </p:cNvPr>
          <p:cNvSpPr txBox="1"/>
          <p:nvPr/>
        </p:nvSpPr>
        <p:spPr>
          <a:xfrm>
            <a:off x="725974" y="1942882"/>
            <a:ext cx="1177760" cy="396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zh-CN" altLang="en-US" sz="1400" b="1" dirty="0"/>
              <a:t>遗传变异信息</a:t>
            </a:r>
            <a:endParaRPr lang="zh-CN" altLang="en-US" sz="1400" dirty="0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061B1276-9F6C-BC3F-3785-0DB4773E74B2}"/>
              </a:ext>
            </a:extLst>
          </p:cNvPr>
          <p:cNvGrpSpPr/>
          <p:nvPr/>
        </p:nvGrpSpPr>
        <p:grpSpPr>
          <a:xfrm>
            <a:off x="443832" y="2294107"/>
            <a:ext cx="1716748" cy="826047"/>
            <a:chOff x="509614" y="2062413"/>
            <a:chExt cx="1727047" cy="1299158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429213C8-2595-0E35-8920-687B34ED7638}"/>
                </a:ext>
              </a:extLst>
            </p:cNvPr>
            <p:cNvSpPr/>
            <p:nvPr/>
          </p:nvSpPr>
          <p:spPr>
            <a:xfrm>
              <a:off x="509614" y="2062413"/>
              <a:ext cx="1727047" cy="1299158"/>
            </a:xfrm>
            <a:prstGeom prst="roundRect">
              <a:avLst>
                <a:gd name="adj" fmla="val 3704"/>
              </a:avLst>
            </a:prstGeom>
            <a:solidFill>
              <a:schemeClr val="bg1">
                <a:lumMod val="95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3396130-D53F-0F27-26C7-7BA0837C0562}"/>
                </a:ext>
              </a:extLst>
            </p:cNvPr>
            <p:cNvSpPr txBox="1"/>
            <p:nvPr/>
          </p:nvSpPr>
          <p:spPr>
            <a:xfrm>
              <a:off x="585991" y="2169586"/>
              <a:ext cx="1574292" cy="381704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GWAS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数据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E6EBB4D7-9B39-E387-A8D0-E3DF1AAB3989}"/>
                </a:ext>
              </a:extLst>
            </p:cNvPr>
            <p:cNvSpPr txBox="1"/>
            <p:nvPr/>
          </p:nvSpPr>
          <p:spPr>
            <a:xfrm>
              <a:off x="594372" y="2603318"/>
              <a:ext cx="1574291" cy="594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精细定位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fine-mapping</a:t>
              </a:r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D0A6C24B-2F5F-63DA-5722-E20A4F7879D3}"/>
              </a:ext>
            </a:extLst>
          </p:cNvPr>
          <p:cNvSpPr txBox="1"/>
          <p:nvPr/>
        </p:nvSpPr>
        <p:spPr>
          <a:xfrm>
            <a:off x="1656197" y="1510922"/>
            <a:ext cx="1026562" cy="34008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输入数据</a:t>
            </a:r>
          </a:p>
        </p:txBody>
      </p:sp>
      <p:sp>
        <p:nvSpPr>
          <p:cNvPr id="1280" name="文本框 1279">
            <a:extLst>
              <a:ext uri="{FF2B5EF4-FFF2-40B4-BE49-F238E27FC236}">
                <a16:creationId xmlns:a16="http://schemas.microsoft.com/office/drawing/2014/main" id="{8AC6B209-3532-89B3-9478-D738553143EA}"/>
              </a:ext>
            </a:extLst>
          </p:cNvPr>
          <p:cNvSpPr txBox="1"/>
          <p:nvPr/>
        </p:nvSpPr>
        <p:spPr>
          <a:xfrm>
            <a:off x="2389545" y="1942882"/>
            <a:ext cx="1591491" cy="396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zh-CN" altLang="en-US" sz="1400" b="1" dirty="0"/>
              <a:t>单细胞表观组数据</a:t>
            </a:r>
          </a:p>
        </p:txBody>
      </p:sp>
      <p:cxnSp>
        <p:nvCxnSpPr>
          <p:cNvPr id="1281" name="直接箭头连接符 1280">
            <a:extLst>
              <a:ext uri="{FF2B5EF4-FFF2-40B4-BE49-F238E27FC236}">
                <a16:creationId xmlns:a16="http://schemas.microsoft.com/office/drawing/2014/main" id="{22D19FD2-E871-8D30-9913-9D42D5EDEC14}"/>
              </a:ext>
            </a:extLst>
          </p:cNvPr>
          <p:cNvCxnSpPr>
            <a:cxnSpLocks/>
            <a:endCxn id="1280" idx="0"/>
          </p:cNvCxnSpPr>
          <p:nvPr/>
        </p:nvCxnSpPr>
        <p:spPr>
          <a:xfrm>
            <a:off x="2134070" y="1851011"/>
            <a:ext cx="1051221" cy="9187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2" name="直接箭头连接符 1281">
            <a:extLst>
              <a:ext uri="{FF2B5EF4-FFF2-40B4-BE49-F238E27FC236}">
                <a16:creationId xmlns:a16="http://schemas.microsoft.com/office/drawing/2014/main" id="{796E8E22-7F98-AEC4-B6B4-5D8BB393FBB3}"/>
              </a:ext>
            </a:extLst>
          </p:cNvPr>
          <p:cNvCxnSpPr>
            <a:cxnSpLocks/>
            <a:stCxn id="63" idx="2"/>
            <a:endCxn id="58" idx="0"/>
          </p:cNvCxnSpPr>
          <p:nvPr/>
        </p:nvCxnSpPr>
        <p:spPr>
          <a:xfrm flipH="1">
            <a:off x="1314854" y="1851011"/>
            <a:ext cx="854624" cy="9187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1" name="组合 1310">
            <a:extLst>
              <a:ext uri="{FF2B5EF4-FFF2-40B4-BE49-F238E27FC236}">
                <a16:creationId xmlns:a16="http://schemas.microsoft.com/office/drawing/2014/main" id="{85A21D42-D476-BEDD-193F-FE7E4B90635B}"/>
              </a:ext>
            </a:extLst>
          </p:cNvPr>
          <p:cNvGrpSpPr/>
          <p:nvPr/>
        </p:nvGrpSpPr>
        <p:grpSpPr>
          <a:xfrm>
            <a:off x="450565" y="3324179"/>
            <a:ext cx="1727047" cy="780755"/>
            <a:chOff x="502233" y="4353178"/>
            <a:chExt cx="1727047" cy="851413"/>
          </a:xfrm>
        </p:grpSpPr>
        <p:sp>
          <p:nvSpPr>
            <p:cNvPr id="1286" name="矩形: 圆角 1285">
              <a:extLst>
                <a:ext uri="{FF2B5EF4-FFF2-40B4-BE49-F238E27FC236}">
                  <a16:creationId xmlns:a16="http://schemas.microsoft.com/office/drawing/2014/main" id="{B1746BD2-026E-2A6A-CCEF-6F6411F475E8}"/>
                </a:ext>
              </a:extLst>
            </p:cNvPr>
            <p:cNvSpPr/>
            <p:nvPr/>
          </p:nvSpPr>
          <p:spPr>
            <a:xfrm>
              <a:off x="502233" y="4353178"/>
              <a:ext cx="1727047" cy="851413"/>
            </a:xfrm>
            <a:prstGeom prst="roundRect">
              <a:avLst>
                <a:gd name="adj" fmla="val 3704"/>
              </a:avLst>
            </a:prstGeom>
            <a:solidFill>
              <a:schemeClr val="bg1">
                <a:lumMod val="95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87" name="文本框 1286">
              <a:extLst>
                <a:ext uri="{FF2B5EF4-FFF2-40B4-BE49-F238E27FC236}">
                  <a16:creationId xmlns:a16="http://schemas.microsoft.com/office/drawing/2014/main" id="{843CC582-A008-A006-0ACC-F3B2E9216921}"/>
                </a:ext>
              </a:extLst>
            </p:cNvPr>
            <p:cNvSpPr txBox="1"/>
            <p:nvPr/>
          </p:nvSpPr>
          <p:spPr>
            <a:xfrm>
              <a:off x="596409" y="4424762"/>
              <a:ext cx="1574292" cy="275853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保留变异后验概率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PP</a:t>
              </a:r>
            </a:p>
          </p:txBody>
        </p:sp>
        <p:sp>
          <p:nvSpPr>
            <p:cNvPr id="1288" name="文本框 1287">
              <a:extLst>
                <a:ext uri="{FF2B5EF4-FFF2-40B4-BE49-F238E27FC236}">
                  <a16:creationId xmlns:a16="http://schemas.microsoft.com/office/drawing/2014/main" id="{A4B43713-440C-3CFB-1508-8CA008F332E6}"/>
                </a:ext>
              </a:extLst>
            </p:cNvPr>
            <p:cNvSpPr txBox="1"/>
            <p:nvPr/>
          </p:nvSpPr>
          <p:spPr>
            <a:xfrm>
              <a:off x="596409" y="4756085"/>
              <a:ext cx="1574292" cy="3223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该变异作为因果变异的可能性</a:t>
              </a:r>
            </a:p>
          </p:txBody>
        </p:sp>
      </p:grpSp>
      <p:sp>
        <p:nvSpPr>
          <p:cNvPr id="1290" name="矩形: 圆角 1289">
            <a:extLst>
              <a:ext uri="{FF2B5EF4-FFF2-40B4-BE49-F238E27FC236}">
                <a16:creationId xmlns:a16="http://schemas.microsoft.com/office/drawing/2014/main" id="{CC163028-5E44-9BBF-DF9A-7876A19F06CE}"/>
              </a:ext>
            </a:extLst>
          </p:cNvPr>
          <p:cNvSpPr/>
          <p:nvPr/>
        </p:nvSpPr>
        <p:spPr>
          <a:xfrm>
            <a:off x="2293675" y="2294106"/>
            <a:ext cx="1727047" cy="764160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1" name="文本框 1290">
            <a:extLst>
              <a:ext uri="{FF2B5EF4-FFF2-40B4-BE49-F238E27FC236}">
                <a16:creationId xmlns:a16="http://schemas.microsoft.com/office/drawing/2014/main" id="{7ED5F0FD-5493-F028-5E5E-AF0A2DC81483}"/>
              </a:ext>
            </a:extLst>
          </p:cNvPr>
          <p:cNvSpPr txBox="1"/>
          <p:nvPr/>
        </p:nvSpPr>
        <p:spPr>
          <a:xfrm>
            <a:off x="2370052" y="2363956"/>
            <a:ext cx="1574292" cy="396001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scATAC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-seq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特征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细胞矩阵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3" name="矩形: 圆角 1292">
            <a:extLst>
              <a:ext uri="{FF2B5EF4-FFF2-40B4-BE49-F238E27FC236}">
                <a16:creationId xmlns:a16="http://schemas.microsoft.com/office/drawing/2014/main" id="{F121DDDB-829D-C516-8A11-252A4229C7A5}"/>
              </a:ext>
            </a:extLst>
          </p:cNvPr>
          <p:cNvSpPr/>
          <p:nvPr/>
        </p:nvSpPr>
        <p:spPr>
          <a:xfrm>
            <a:off x="2293677" y="3275443"/>
            <a:ext cx="1727047" cy="1016230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4" name="文本框 1293">
            <a:extLst>
              <a:ext uri="{FF2B5EF4-FFF2-40B4-BE49-F238E27FC236}">
                <a16:creationId xmlns:a16="http://schemas.microsoft.com/office/drawing/2014/main" id="{60389F01-65D0-8812-0415-A2C466282D97}"/>
              </a:ext>
            </a:extLst>
          </p:cNvPr>
          <p:cNvSpPr txBox="1"/>
          <p:nvPr/>
        </p:nvSpPr>
        <p:spPr>
          <a:xfrm>
            <a:off x="2370054" y="3394969"/>
            <a:ext cx="1574292" cy="265258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TF-IDF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转换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5" name="矩形: 圆角 1294">
            <a:extLst>
              <a:ext uri="{FF2B5EF4-FFF2-40B4-BE49-F238E27FC236}">
                <a16:creationId xmlns:a16="http://schemas.microsoft.com/office/drawing/2014/main" id="{8539C6E3-CEF3-64B5-DA3C-12EBFBD8C56A}"/>
              </a:ext>
            </a:extLst>
          </p:cNvPr>
          <p:cNvSpPr/>
          <p:nvPr/>
        </p:nvSpPr>
        <p:spPr>
          <a:xfrm>
            <a:off x="2293675" y="4510885"/>
            <a:ext cx="1727047" cy="857816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6" name="文本框 1295">
            <a:extLst>
              <a:ext uri="{FF2B5EF4-FFF2-40B4-BE49-F238E27FC236}">
                <a16:creationId xmlns:a16="http://schemas.microsoft.com/office/drawing/2014/main" id="{06FF0257-07FC-9DA3-DF28-F04DB40E42F8}"/>
              </a:ext>
            </a:extLst>
          </p:cNvPr>
          <p:cNvSpPr txBox="1"/>
          <p:nvPr/>
        </p:nvSpPr>
        <p:spPr>
          <a:xfrm>
            <a:off x="2370052" y="4600973"/>
            <a:ext cx="1574292" cy="275119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LSI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降维表示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7" name="文本框 1296">
            <a:extLst>
              <a:ext uri="{FF2B5EF4-FFF2-40B4-BE49-F238E27FC236}">
                <a16:creationId xmlns:a16="http://schemas.microsoft.com/office/drawing/2014/main" id="{64778E51-0CEF-2B26-38A1-AA900AA8E223}"/>
              </a:ext>
            </a:extLst>
          </p:cNvPr>
          <p:cNvSpPr txBox="1"/>
          <p:nvPr/>
        </p:nvSpPr>
        <p:spPr>
          <a:xfrm>
            <a:off x="2370048" y="4946413"/>
            <a:ext cx="1574291" cy="313142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使用前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30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LSI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维度来表示细胞状态</a:t>
            </a:r>
          </a:p>
        </p:txBody>
      </p:sp>
      <p:cxnSp>
        <p:nvCxnSpPr>
          <p:cNvPr id="1302" name="直接箭头连接符 1301">
            <a:extLst>
              <a:ext uri="{FF2B5EF4-FFF2-40B4-BE49-F238E27FC236}">
                <a16:creationId xmlns:a16="http://schemas.microsoft.com/office/drawing/2014/main" id="{D0C201F0-9905-DCA0-BB8A-832A78A93AAE}"/>
              </a:ext>
            </a:extLst>
          </p:cNvPr>
          <p:cNvCxnSpPr>
            <a:cxnSpLocks/>
          </p:cNvCxnSpPr>
          <p:nvPr/>
        </p:nvCxnSpPr>
        <p:spPr>
          <a:xfrm flipH="1">
            <a:off x="1279923" y="3094106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3" name="直接箭头连接符 1302">
            <a:extLst>
              <a:ext uri="{FF2B5EF4-FFF2-40B4-BE49-F238E27FC236}">
                <a16:creationId xmlns:a16="http://schemas.microsoft.com/office/drawing/2014/main" id="{E9071264-DFE7-BC83-6AAA-4DB2392A09B1}"/>
              </a:ext>
            </a:extLst>
          </p:cNvPr>
          <p:cNvCxnSpPr>
            <a:cxnSpLocks/>
          </p:cNvCxnSpPr>
          <p:nvPr/>
        </p:nvCxnSpPr>
        <p:spPr>
          <a:xfrm flipH="1">
            <a:off x="3185293" y="3062096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直接箭头连接符 1303">
            <a:extLst>
              <a:ext uri="{FF2B5EF4-FFF2-40B4-BE49-F238E27FC236}">
                <a16:creationId xmlns:a16="http://schemas.microsoft.com/office/drawing/2014/main" id="{0C925E36-1A01-720F-08BA-044FF47D822A}"/>
              </a:ext>
            </a:extLst>
          </p:cNvPr>
          <p:cNvCxnSpPr>
            <a:cxnSpLocks/>
          </p:cNvCxnSpPr>
          <p:nvPr/>
        </p:nvCxnSpPr>
        <p:spPr>
          <a:xfrm flipH="1">
            <a:off x="3185291" y="4291672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4" name="矩形: 圆角 1313">
            <a:extLst>
              <a:ext uri="{FF2B5EF4-FFF2-40B4-BE49-F238E27FC236}">
                <a16:creationId xmlns:a16="http://schemas.microsoft.com/office/drawing/2014/main" id="{21DE868F-966C-CB3F-AEA2-7B888EE024F2}"/>
              </a:ext>
            </a:extLst>
          </p:cNvPr>
          <p:cNvSpPr/>
          <p:nvPr/>
        </p:nvSpPr>
        <p:spPr>
          <a:xfrm>
            <a:off x="447648" y="4319228"/>
            <a:ext cx="1727047" cy="924767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15" name="文本框 1314">
            <a:extLst>
              <a:ext uri="{FF2B5EF4-FFF2-40B4-BE49-F238E27FC236}">
                <a16:creationId xmlns:a16="http://schemas.microsoft.com/office/drawing/2014/main" id="{F31FE516-2B9D-AE9A-29AF-3346B6EF7737}"/>
              </a:ext>
            </a:extLst>
          </p:cNvPr>
          <p:cNvSpPr txBox="1"/>
          <p:nvPr/>
        </p:nvSpPr>
        <p:spPr>
          <a:xfrm>
            <a:off x="541824" y="4384871"/>
            <a:ext cx="1574292" cy="252960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映射到开放染色质区域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16" name="文本框 1315">
            <a:extLst>
              <a:ext uri="{FF2B5EF4-FFF2-40B4-BE49-F238E27FC236}">
                <a16:creationId xmlns:a16="http://schemas.microsoft.com/office/drawing/2014/main" id="{FA829736-433F-9CD5-D34C-49D16676BBEE}"/>
              </a:ext>
            </a:extLst>
          </p:cNvPr>
          <p:cNvSpPr txBox="1"/>
          <p:nvPr/>
        </p:nvSpPr>
        <p:spPr>
          <a:xfrm>
            <a:off x="541824" y="4609762"/>
            <a:ext cx="1574292" cy="634233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scATAC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-seq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中的开放染色质峰区域进行重叠匹配</a:t>
            </a:r>
          </a:p>
        </p:txBody>
      </p:sp>
      <p:cxnSp>
        <p:nvCxnSpPr>
          <p:cNvPr id="1312" name="直接箭头连接符 1311">
            <a:extLst>
              <a:ext uri="{FF2B5EF4-FFF2-40B4-BE49-F238E27FC236}">
                <a16:creationId xmlns:a16="http://schemas.microsoft.com/office/drawing/2014/main" id="{23FC3161-CCFB-4565-F6A4-8B99F07C1F16}"/>
              </a:ext>
            </a:extLst>
          </p:cNvPr>
          <p:cNvCxnSpPr>
            <a:cxnSpLocks/>
          </p:cNvCxnSpPr>
          <p:nvPr/>
        </p:nvCxnSpPr>
        <p:spPr>
          <a:xfrm flipH="1">
            <a:off x="1283583" y="4084767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7" name="文本框 1316">
            <a:extLst>
              <a:ext uri="{FF2B5EF4-FFF2-40B4-BE49-F238E27FC236}">
                <a16:creationId xmlns:a16="http://schemas.microsoft.com/office/drawing/2014/main" id="{8073DDB5-1707-212A-472D-2CF1BA632041}"/>
              </a:ext>
            </a:extLst>
          </p:cNvPr>
          <p:cNvSpPr txBox="1"/>
          <p:nvPr/>
        </p:nvSpPr>
        <p:spPr>
          <a:xfrm>
            <a:off x="2370052" y="2785031"/>
            <a:ext cx="1574292" cy="25203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二值化处理</a:t>
            </a:r>
          </a:p>
        </p:txBody>
      </p:sp>
      <p:sp>
        <p:nvSpPr>
          <p:cNvPr id="1318" name="文本框 1317">
            <a:extLst>
              <a:ext uri="{FF2B5EF4-FFF2-40B4-BE49-F238E27FC236}">
                <a16:creationId xmlns:a16="http://schemas.microsoft.com/office/drawing/2014/main" id="{F2FDCB62-65EB-EB27-D35B-9DF937862BAE}"/>
              </a:ext>
            </a:extLst>
          </p:cNvPr>
          <p:cNvSpPr txBox="1"/>
          <p:nvPr/>
        </p:nvSpPr>
        <p:spPr>
          <a:xfrm>
            <a:off x="2370047" y="3673467"/>
            <a:ext cx="1574292" cy="56557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降低测序深度和高频区域带来的影响，使不同细胞之间更可比较。</a:t>
            </a:r>
          </a:p>
        </p:txBody>
      </p:sp>
      <p:sp>
        <p:nvSpPr>
          <p:cNvPr id="1368" name="矩形: 圆角 1367">
            <a:extLst>
              <a:ext uri="{FF2B5EF4-FFF2-40B4-BE49-F238E27FC236}">
                <a16:creationId xmlns:a16="http://schemas.microsoft.com/office/drawing/2014/main" id="{33BE3CC2-424F-E253-432C-4DAECC994F48}"/>
              </a:ext>
            </a:extLst>
          </p:cNvPr>
          <p:cNvSpPr/>
          <p:nvPr/>
        </p:nvSpPr>
        <p:spPr>
          <a:xfrm>
            <a:off x="4567906" y="961856"/>
            <a:ext cx="3253143" cy="3388170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9" name="文本框 1368">
            <a:extLst>
              <a:ext uri="{FF2B5EF4-FFF2-40B4-BE49-F238E27FC236}">
                <a16:creationId xmlns:a16="http://schemas.microsoft.com/office/drawing/2014/main" id="{C67EAC67-A286-5CC0-8E65-8FB8C8096B00}"/>
              </a:ext>
            </a:extLst>
          </p:cNvPr>
          <p:cNvSpPr txBox="1"/>
          <p:nvPr/>
        </p:nvSpPr>
        <p:spPr>
          <a:xfrm>
            <a:off x="5230864" y="858425"/>
            <a:ext cx="1707679" cy="246221"/>
          </a:xfrm>
          <a:prstGeom prst="rect">
            <a:avLst/>
          </a:prstGeom>
          <a:solidFill>
            <a:srgbClr val="EBF3FA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筛选种子细胞</a:t>
            </a:r>
          </a:p>
        </p:txBody>
      </p:sp>
      <p:grpSp>
        <p:nvGrpSpPr>
          <p:cNvPr id="1407" name="组合 1406">
            <a:extLst>
              <a:ext uri="{FF2B5EF4-FFF2-40B4-BE49-F238E27FC236}">
                <a16:creationId xmlns:a16="http://schemas.microsoft.com/office/drawing/2014/main" id="{71D36E60-832D-5153-F54B-9B7D155151FB}"/>
              </a:ext>
            </a:extLst>
          </p:cNvPr>
          <p:cNvGrpSpPr/>
          <p:nvPr/>
        </p:nvGrpSpPr>
        <p:grpSpPr>
          <a:xfrm>
            <a:off x="407023" y="5490038"/>
            <a:ext cx="1727047" cy="585311"/>
            <a:chOff x="483659" y="5568636"/>
            <a:chExt cx="2417140" cy="787714"/>
          </a:xfrm>
        </p:grpSpPr>
        <p:sp>
          <p:nvSpPr>
            <p:cNvPr id="1408" name="矩形 1407">
              <a:extLst>
                <a:ext uri="{FF2B5EF4-FFF2-40B4-BE49-F238E27FC236}">
                  <a16:creationId xmlns:a16="http://schemas.microsoft.com/office/drawing/2014/main" id="{4F03E6FF-75EE-DA73-F62D-D199EADB651C}"/>
                </a:ext>
              </a:extLst>
            </p:cNvPr>
            <p:cNvSpPr/>
            <p:nvPr/>
          </p:nvSpPr>
          <p:spPr>
            <a:xfrm>
              <a:off x="521747" y="5568636"/>
              <a:ext cx="2379051" cy="7877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9" name="文本框 1408">
              <a:extLst>
                <a:ext uri="{FF2B5EF4-FFF2-40B4-BE49-F238E27FC236}">
                  <a16:creationId xmlns:a16="http://schemas.microsoft.com/office/drawing/2014/main" id="{76E317C1-0F35-0CFF-0BB9-D3349540121A}"/>
                </a:ext>
              </a:extLst>
            </p:cNvPr>
            <p:cNvSpPr txBox="1"/>
            <p:nvPr/>
          </p:nvSpPr>
          <p:spPr>
            <a:xfrm>
              <a:off x="483659" y="5611390"/>
              <a:ext cx="24171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候选因果变异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–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开放染色质峰重叠结果</a:t>
              </a:r>
            </a:p>
          </p:txBody>
        </p:sp>
      </p:grpSp>
      <p:grpSp>
        <p:nvGrpSpPr>
          <p:cNvPr id="1418" name="组合 1417">
            <a:extLst>
              <a:ext uri="{FF2B5EF4-FFF2-40B4-BE49-F238E27FC236}">
                <a16:creationId xmlns:a16="http://schemas.microsoft.com/office/drawing/2014/main" id="{E167BDD9-E49D-5F8E-AF5B-43F791C51EDD}"/>
              </a:ext>
            </a:extLst>
          </p:cNvPr>
          <p:cNvGrpSpPr/>
          <p:nvPr/>
        </p:nvGrpSpPr>
        <p:grpSpPr>
          <a:xfrm>
            <a:off x="4773324" y="1619309"/>
            <a:ext cx="2812515" cy="830229"/>
            <a:chOff x="509614" y="2062413"/>
            <a:chExt cx="1727047" cy="1299158"/>
          </a:xfrm>
        </p:grpSpPr>
        <p:sp>
          <p:nvSpPr>
            <p:cNvPr id="1419" name="矩形: 圆角 1418">
              <a:extLst>
                <a:ext uri="{FF2B5EF4-FFF2-40B4-BE49-F238E27FC236}">
                  <a16:creationId xmlns:a16="http://schemas.microsoft.com/office/drawing/2014/main" id="{5049DC60-4474-6521-808A-CC907212F556}"/>
                </a:ext>
              </a:extLst>
            </p:cNvPr>
            <p:cNvSpPr/>
            <p:nvPr/>
          </p:nvSpPr>
          <p:spPr>
            <a:xfrm>
              <a:off x="509614" y="2062413"/>
              <a:ext cx="1727047" cy="1299158"/>
            </a:xfrm>
            <a:prstGeom prst="roundRect">
              <a:avLst>
                <a:gd name="adj" fmla="val 370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20" name="文本框 1419">
              <a:extLst>
                <a:ext uri="{FF2B5EF4-FFF2-40B4-BE49-F238E27FC236}">
                  <a16:creationId xmlns:a16="http://schemas.microsoft.com/office/drawing/2014/main" id="{6B322237-20DF-DB49-B28E-5596B98AE577}"/>
                </a:ext>
              </a:extLst>
            </p:cNvPr>
            <p:cNvSpPr txBox="1"/>
            <p:nvPr/>
          </p:nvSpPr>
          <p:spPr>
            <a:xfrm>
              <a:off x="585991" y="2169586"/>
              <a:ext cx="1574292" cy="381704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使用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g-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chromVAR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计算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Z-score</a:t>
              </a:r>
            </a:p>
          </p:txBody>
        </p:sp>
        <p:sp>
          <p:nvSpPr>
            <p:cNvPr id="1421" name="文本框 1420">
              <a:extLst>
                <a:ext uri="{FF2B5EF4-FFF2-40B4-BE49-F238E27FC236}">
                  <a16:creationId xmlns:a16="http://schemas.microsoft.com/office/drawing/2014/main" id="{FEAB7CFE-8255-747C-FEFD-AF0CBC161A9E}"/>
                </a:ext>
              </a:extLst>
            </p:cNvPr>
            <p:cNvSpPr txBox="1"/>
            <p:nvPr/>
          </p:nvSpPr>
          <p:spPr>
            <a:xfrm>
              <a:off x="594372" y="2603318"/>
              <a:ext cx="1574291" cy="594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Z-score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越高，说明该细胞与目标性状的初始相关性越强。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30" name="组合 1429">
            <a:extLst>
              <a:ext uri="{FF2B5EF4-FFF2-40B4-BE49-F238E27FC236}">
                <a16:creationId xmlns:a16="http://schemas.microsoft.com/office/drawing/2014/main" id="{1E025BF0-6307-3A33-5A30-1FC3B8855107}"/>
              </a:ext>
            </a:extLst>
          </p:cNvPr>
          <p:cNvGrpSpPr/>
          <p:nvPr/>
        </p:nvGrpSpPr>
        <p:grpSpPr>
          <a:xfrm>
            <a:off x="4816329" y="3501692"/>
            <a:ext cx="2812515" cy="770072"/>
            <a:chOff x="491586" y="1953739"/>
            <a:chExt cx="1727047" cy="1299158"/>
          </a:xfrm>
        </p:grpSpPr>
        <p:sp>
          <p:nvSpPr>
            <p:cNvPr id="1431" name="矩形: 圆角 1430">
              <a:extLst>
                <a:ext uri="{FF2B5EF4-FFF2-40B4-BE49-F238E27FC236}">
                  <a16:creationId xmlns:a16="http://schemas.microsoft.com/office/drawing/2014/main" id="{C5D183E8-5208-DDA9-B401-08397C5E5A6F}"/>
                </a:ext>
              </a:extLst>
            </p:cNvPr>
            <p:cNvSpPr/>
            <p:nvPr/>
          </p:nvSpPr>
          <p:spPr>
            <a:xfrm>
              <a:off x="491586" y="1953739"/>
              <a:ext cx="1727047" cy="1299158"/>
            </a:xfrm>
            <a:prstGeom prst="roundRect">
              <a:avLst>
                <a:gd name="adj" fmla="val 370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2" name="文本框 1431">
              <a:extLst>
                <a:ext uri="{FF2B5EF4-FFF2-40B4-BE49-F238E27FC236}">
                  <a16:creationId xmlns:a16="http://schemas.microsoft.com/office/drawing/2014/main" id="{6803A6BC-6546-B6F3-F343-3709B66B627B}"/>
                </a:ext>
              </a:extLst>
            </p:cNvPr>
            <p:cNvSpPr txBox="1"/>
            <p:nvPr/>
          </p:nvSpPr>
          <p:spPr>
            <a:xfrm>
              <a:off x="585991" y="2169586"/>
              <a:ext cx="1574292" cy="381704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选择种子细胞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seed cells</a:t>
              </a:r>
            </a:p>
          </p:txBody>
        </p:sp>
        <p:sp>
          <p:nvSpPr>
            <p:cNvPr id="1433" name="文本框 1432">
              <a:extLst>
                <a:ext uri="{FF2B5EF4-FFF2-40B4-BE49-F238E27FC236}">
                  <a16:creationId xmlns:a16="http://schemas.microsoft.com/office/drawing/2014/main" id="{267B597E-77FF-5BEB-5C26-327D9CB6E11B}"/>
                </a:ext>
              </a:extLst>
            </p:cNvPr>
            <p:cNvSpPr txBox="1"/>
            <p:nvPr/>
          </p:nvSpPr>
          <p:spPr>
            <a:xfrm>
              <a:off x="594372" y="2603318"/>
              <a:ext cx="1574291" cy="594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单尾检验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 &lt; 0.05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；数量过多时保留前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5%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34" name="矩形: 圆角 1433">
            <a:extLst>
              <a:ext uri="{FF2B5EF4-FFF2-40B4-BE49-F238E27FC236}">
                <a16:creationId xmlns:a16="http://schemas.microsoft.com/office/drawing/2014/main" id="{9A3007A3-ADB6-6083-385A-0B4923B4D3D8}"/>
              </a:ext>
            </a:extLst>
          </p:cNvPr>
          <p:cNvSpPr/>
          <p:nvPr/>
        </p:nvSpPr>
        <p:spPr>
          <a:xfrm>
            <a:off x="7982954" y="974959"/>
            <a:ext cx="3253143" cy="2538857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5" name="文本框 1434">
            <a:extLst>
              <a:ext uri="{FF2B5EF4-FFF2-40B4-BE49-F238E27FC236}">
                <a16:creationId xmlns:a16="http://schemas.microsoft.com/office/drawing/2014/main" id="{4B8B992F-1CB4-A214-06A8-8D2901F926E3}"/>
              </a:ext>
            </a:extLst>
          </p:cNvPr>
          <p:cNvSpPr txBox="1"/>
          <p:nvPr/>
        </p:nvSpPr>
        <p:spPr>
          <a:xfrm>
            <a:off x="8554833" y="864913"/>
            <a:ext cx="2131222" cy="246221"/>
          </a:xfrm>
          <a:prstGeom prst="rect">
            <a:avLst/>
          </a:prstGeom>
          <a:solidFill>
            <a:srgbClr val="EBF3FA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构建细胞相似性网络</a:t>
            </a:r>
          </a:p>
        </p:txBody>
      </p:sp>
      <p:grpSp>
        <p:nvGrpSpPr>
          <p:cNvPr id="1437" name="组合 1436">
            <a:extLst>
              <a:ext uri="{FF2B5EF4-FFF2-40B4-BE49-F238E27FC236}">
                <a16:creationId xmlns:a16="http://schemas.microsoft.com/office/drawing/2014/main" id="{AA79D9B7-4442-66B0-278C-114BB0274012}"/>
              </a:ext>
            </a:extLst>
          </p:cNvPr>
          <p:cNvGrpSpPr/>
          <p:nvPr/>
        </p:nvGrpSpPr>
        <p:grpSpPr>
          <a:xfrm>
            <a:off x="8203267" y="1576836"/>
            <a:ext cx="2812515" cy="817872"/>
            <a:chOff x="509614" y="2062413"/>
            <a:chExt cx="1727047" cy="1299158"/>
          </a:xfrm>
        </p:grpSpPr>
        <p:sp>
          <p:nvSpPr>
            <p:cNvPr id="1438" name="矩形: 圆角 1437">
              <a:extLst>
                <a:ext uri="{FF2B5EF4-FFF2-40B4-BE49-F238E27FC236}">
                  <a16:creationId xmlns:a16="http://schemas.microsoft.com/office/drawing/2014/main" id="{09410966-1C52-4890-1170-9978E447A1E7}"/>
                </a:ext>
              </a:extLst>
            </p:cNvPr>
            <p:cNvSpPr/>
            <p:nvPr/>
          </p:nvSpPr>
          <p:spPr>
            <a:xfrm>
              <a:off x="509614" y="2062413"/>
              <a:ext cx="1727047" cy="1299158"/>
            </a:xfrm>
            <a:prstGeom prst="roundRect">
              <a:avLst>
                <a:gd name="adj" fmla="val 3704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9" name="文本框 1438">
              <a:extLst>
                <a:ext uri="{FF2B5EF4-FFF2-40B4-BE49-F238E27FC236}">
                  <a16:creationId xmlns:a16="http://schemas.microsoft.com/office/drawing/2014/main" id="{0A227677-573C-26D7-0A56-8B898AB9DC64}"/>
                </a:ext>
              </a:extLst>
            </p:cNvPr>
            <p:cNvSpPr txBox="1"/>
            <p:nvPr/>
          </p:nvSpPr>
          <p:spPr>
            <a:xfrm>
              <a:off x="585991" y="2169586"/>
              <a:ext cx="1574292" cy="381704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计算细胞间距离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0" name="文本框 1439">
              <a:extLst>
                <a:ext uri="{FF2B5EF4-FFF2-40B4-BE49-F238E27FC236}">
                  <a16:creationId xmlns:a16="http://schemas.microsoft.com/office/drawing/2014/main" id="{254AA249-70DB-37D7-BEDA-C1105233D636}"/>
                </a:ext>
              </a:extLst>
            </p:cNvPr>
            <p:cNvSpPr txBox="1"/>
            <p:nvPr/>
          </p:nvSpPr>
          <p:spPr>
            <a:xfrm>
              <a:off x="594372" y="2603318"/>
              <a:ext cx="1574291" cy="594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距离越近，说明两个细胞的染色质开放模式越相似。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41" name="组合 1440">
            <a:extLst>
              <a:ext uri="{FF2B5EF4-FFF2-40B4-BE49-F238E27FC236}">
                <a16:creationId xmlns:a16="http://schemas.microsoft.com/office/drawing/2014/main" id="{37886031-5013-95AF-610E-3FEFFADE72E0}"/>
              </a:ext>
            </a:extLst>
          </p:cNvPr>
          <p:cNvGrpSpPr/>
          <p:nvPr/>
        </p:nvGrpSpPr>
        <p:grpSpPr>
          <a:xfrm>
            <a:off x="8203266" y="2554107"/>
            <a:ext cx="2812515" cy="770072"/>
            <a:chOff x="509614" y="2062413"/>
            <a:chExt cx="1727047" cy="1299158"/>
          </a:xfrm>
        </p:grpSpPr>
        <p:sp>
          <p:nvSpPr>
            <p:cNvPr id="1442" name="矩形: 圆角 1441">
              <a:extLst>
                <a:ext uri="{FF2B5EF4-FFF2-40B4-BE49-F238E27FC236}">
                  <a16:creationId xmlns:a16="http://schemas.microsoft.com/office/drawing/2014/main" id="{5642C8BB-A7BA-7216-CC1D-0FC208AF06B5}"/>
                </a:ext>
              </a:extLst>
            </p:cNvPr>
            <p:cNvSpPr/>
            <p:nvPr/>
          </p:nvSpPr>
          <p:spPr>
            <a:xfrm>
              <a:off x="509614" y="2062413"/>
              <a:ext cx="1727047" cy="1299158"/>
            </a:xfrm>
            <a:prstGeom prst="roundRect">
              <a:avLst>
                <a:gd name="adj" fmla="val 3704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3" name="文本框 1442">
              <a:extLst>
                <a:ext uri="{FF2B5EF4-FFF2-40B4-BE49-F238E27FC236}">
                  <a16:creationId xmlns:a16="http://schemas.microsoft.com/office/drawing/2014/main" id="{2B51A820-8F24-A0F8-7695-32E9A2906683}"/>
                </a:ext>
              </a:extLst>
            </p:cNvPr>
            <p:cNvSpPr txBox="1"/>
            <p:nvPr/>
          </p:nvSpPr>
          <p:spPr>
            <a:xfrm>
              <a:off x="585991" y="2169586"/>
              <a:ext cx="1574292" cy="381704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构建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M-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kNN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细胞相似性图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4" name="文本框 1443">
              <a:extLst>
                <a:ext uri="{FF2B5EF4-FFF2-40B4-BE49-F238E27FC236}">
                  <a16:creationId xmlns:a16="http://schemas.microsoft.com/office/drawing/2014/main" id="{A8A839D1-7E01-E5DA-78A8-644EAC91F346}"/>
                </a:ext>
              </a:extLst>
            </p:cNvPr>
            <p:cNvSpPr txBox="1"/>
            <p:nvPr/>
          </p:nvSpPr>
          <p:spPr>
            <a:xfrm>
              <a:off x="594372" y="2603318"/>
              <a:ext cx="1574291" cy="594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 = 30, k = 30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46" name="箭头: 右 1445">
            <a:extLst>
              <a:ext uri="{FF2B5EF4-FFF2-40B4-BE49-F238E27FC236}">
                <a16:creationId xmlns:a16="http://schemas.microsoft.com/office/drawing/2014/main" id="{0E603199-839E-CD93-98C3-4BC5B82335E2}"/>
              </a:ext>
            </a:extLst>
          </p:cNvPr>
          <p:cNvSpPr/>
          <p:nvPr/>
        </p:nvSpPr>
        <p:spPr>
          <a:xfrm>
            <a:off x="4115495" y="2034423"/>
            <a:ext cx="542670" cy="599109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47" name="图片 1446">
            <a:extLst>
              <a:ext uri="{FF2B5EF4-FFF2-40B4-BE49-F238E27FC236}">
                <a16:creationId xmlns:a16="http://schemas.microsoft.com/office/drawing/2014/main" id="{E705600A-062D-20EC-5860-B05AC2DA0FB9}"/>
              </a:ext>
            </a:extLst>
          </p:cNvPr>
          <p:cNvPicPr>
            <a:picLocks/>
          </p:cNvPicPr>
          <p:nvPr/>
        </p:nvPicPr>
        <p:blipFill>
          <a:blip r:embed="rId4"/>
          <a:srcRect b="21765"/>
          <a:stretch>
            <a:fillRect/>
          </a:stretch>
        </p:blipFill>
        <p:spPr>
          <a:xfrm>
            <a:off x="5164139" y="2378008"/>
            <a:ext cx="2067545" cy="996182"/>
          </a:xfrm>
          <a:prstGeom prst="rect">
            <a:avLst/>
          </a:prstGeom>
        </p:spPr>
      </p:pic>
      <p:cxnSp>
        <p:nvCxnSpPr>
          <p:cNvPr id="1453" name="直接箭头连接符 1452">
            <a:extLst>
              <a:ext uri="{FF2B5EF4-FFF2-40B4-BE49-F238E27FC236}">
                <a16:creationId xmlns:a16="http://schemas.microsoft.com/office/drawing/2014/main" id="{411EAC87-2BA7-DB6A-65F5-4226CE29932A}"/>
              </a:ext>
            </a:extLst>
          </p:cNvPr>
          <p:cNvCxnSpPr>
            <a:cxnSpLocks/>
            <a:endCxn id="1419" idx="0"/>
          </p:cNvCxnSpPr>
          <p:nvPr/>
        </p:nvCxnSpPr>
        <p:spPr>
          <a:xfrm>
            <a:off x="6173644" y="1425266"/>
            <a:ext cx="5938" cy="19404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直接箭头连接符 1461">
            <a:extLst>
              <a:ext uri="{FF2B5EF4-FFF2-40B4-BE49-F238E27FC236}">
                <a16:creationId xmlns:a16="http://schemas.microsoft.com/office/drawing/2014/main" id="{E19C191C-B762-E6FC-6CCF-B6D22D022FF9}"/>
              </a:ext>
            </a:extLst>
          </p:cNvPr>
          <p:cNvCxnSpPr>
            <a:cxnSpLocks/>
            <a:endCxn id="1439" idx="0"/>
          </p:cNvCxnSpPr>
          <p:nvPr/>
        </p:nvCxnSpPr>
        <p:spPr>
          <a:xfrm flipH="1">
            <a:off x="9609524" y="1446036"/>
            <a:ext cx="1" cy="19827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6" name="直接箭头连接符 1465">
            <a:extLst>
              <a:ext uri="{FF2B5EF4-FFF2-40B4-BE49-F238E27FC236}">
                <a16:creationId xmlns:a16="http://schemas.microsoft.com/office/drawing/2014/main" id="{3494AED2-883D-A316-4A3D-A7DF548364A3}"/>
              </a:ext>
            </a:extLst>
          </p:cNvPr>
          <p:cNvCxnSpPr>
            <a:cxnSpLocks/>
            <a:stCxn id="1440" idx="2"/>
            <a:endCxn id="1442" idx="0"/>
          </p:cNvCxnSpPr>
          <p:nvPr/>
        </p:nvCxnSpPr>
        <p:spPr>
          <a:xfrm flipH="1">
            <a:off x="9609524" y="2291932"/>
            <a:ext cx="13647" cy="262175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9" name="直接箭头连接符 1468">
            <a:extLst>
              <a:ext uri="{FF2B5EF4-FFF2-40B4-BE49-F238E27FC236}">
                <a16:creationId xmlns:a16="http://schemas.microsoft.com/office/drawing/2014/main" id="{55C16F8F-EC48-DC13-9371-A96E55C015AF}"/>
              </a:ext>
            </a:extLst>
          </p:cNvPr>
          <p:cNvCxnSpPr>
            <a:cxnSpLocks/>
            <a:stCxn id="1447" idx="2"/>
            <a:endCxn id="1432" idx="0"/>
          </p:cNvCxnSpPr>
          <p:nvPr/>
        </p:nvCxnSpPr>
        <p:spPr>
          <a:xfrm>
            <a:off x="6197912" y="3374190"/>
            <a:ext cx="54033" cy="255445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2" name="矩形: 圆角 1471">
            <a:extLst>
              <a:ext uri="{FF2B5EF4-FFF2-40B4-BE49-F238E27FC236}">
                <a16:creationId xmlns:a16="http://schemas.microsoft.com/office/drawing/2014/main" id="{72EC2990-0F75-720B-1461-EC34EEC743A1}"/>
              </a:ext>
            </a:extLst>
          </p:cNvPr>
          <p:cNvSpPr/>
          <p:nvPr/>
        </p:nvSpPr>
        <p:spPr>
          <a:xfrm>
            <a:off x="4443231" y="4600973"/>
            <a:ext cx="4637766" cy="1958260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3" name="文本框 1472">
            <a:extLst>
              <a:ext uri="{FF2B5EF4-FFF2-40B4-BE49-F238E27FC236}">
                <a16:creationId xmlns:a16="http://schemas.microsoft.com/office/drawing/2014/main" id="{54F4F4EE-40BF-2744-028A-0EE5E0046581}"/>
              </a:ext>
            </a:extLst>
          </p:cNvPr>
          <p:cNvSpPr txBox="1"/>
          <p:nvPr/>
        </p:nvSpPr>
        <p:spPr>
          <a:xfrm>
            <a:off x="5909941" y="4501034"/>
            <a:ext cx="1531834" cy="252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网络传播</a:t>
            </a:r>
          </a:p>
        </p:txBody>
      </p:sp>
      <p:sp>
        <p:nvSpPr>
          <p:cNvPr id="1482" name="箭头: 左右 1481">
            <a:extLst>
              <a:ext uri="{FF2B5EF4-FFF2-40B4-BE49-F238E27FC236}">
                <a16:creationId xmlns:a16="http://schemas.microsoft.com/office/drawing/2014/main" id="{B8D3AAC0-0EA8-83B7-4B42-821D22E0EC83}"/>
              </a:ext>
            </a:extLst>
          </p:cNvPr>
          <p:cNvSpPr/>
          <p:nvPr/>
        </p:nvSpPr>
        <p:spPr>
          <a:xfrm>
            <a:off x="6267418" y="5507791"/>
            <a:ext cx="737944" cy="290480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3" name="文本框 1482">
            <a:extLst>
              <a:ext uri="{FF2B5EF4-FFF2-40B4-BE49-F238E27FC236}">
                <a16:creationId xmlns:a16="http://schemas.microsoft.com/office/drawing/2014/main" id="{216EB6A7-9CA2-0FF8-6281-A52CCCC2C95D}"/>
              </a:ext>
            </a:extLst>
          </p:cNvPr>
          <p:cNvSpPr txBox="1"/>
          <p:nvPr/>
        </p:nvSpPr>
        <p:spPr>
          <a:xfrm>
            <a:off x="4512794" y="4778397"/>
            <a:ext cx="4544325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在细胞相似性网络中通过随机游走扩散信号，建模全局细胞与表型的关联概率。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84" name="图片 1483">
            <a:extLst>
              <a:ext uri="{FF2B5EF4-FFF2-40B4-BE49-F238E27FC236}">
                <a16:creationId xmlns:a16="http://schemas.microsoft.com/office/drawing/2014/main" id="{27169568-A417-5F9B-1704-C3C164F23148}"/>
              </a:ext>
            </a:extLst>
          </p:cNvPr>
          <p:cNvPicPr>
            <a:picLocks/>
          </p:cNvPicPr>
          <p:nvPr/>
        </p:nvPicPr>
        <p:blipFill>
          <a:blip r:embed="rId5"/>
          <a:srcRect t="2546" b="11634"/>
          <a:stretch>
            <a:fillRect/>
          </a:stretch>
        </p:blipFill>
        <p:spPr>
          <a:xfrm>
            <a:off x="4587285" y="5311311"/>
            <a:ext cx="2097641" cy="972716"/>
          </a:xfrm>
          <a:prstGeom prst="rect">
            <a:avLst/>
          </a:prstGeom>
        </p:spPr>
      </p:pic>
      <p:pic>
        <p:nvPicPr>
          <p:cNvPr id="1485" name="图片 1484">
            <a:extLst>
              <a:ext uri="{FF2B5EF4-FFF2-40B4-BE49-F238E27FC236}">
                <a16:creationId xmlns:a16="http://schemas.microsoft.com/office/drawing/2014/main" id="{36CE0AF9-9C7C-211C-2A6D-8A0DF2DC1185}"/>
              </a:ext>
            </a:extLst>
          </p:cNvPr>
          <p:cNvPicPr>
            <a:picLocks/>
          </p:cNvPicPr>
          <p:nvPr/>
        </p:nvPicPr>
        <p:blipFill>
          <a:blip r:embed="rId6"/>
          <a:srcRect l="2252" t="3228"/>
          <a:stretch>
            <a:fillRect/>
          </a:stretch>
        </p:blipFill>
        <p:spPr>
          <a:xfrm>
            <a:off x="6751497" y="5231009"/>
            <a:ext cx="2152299" cy="1241284"/>
          </a:xfrm>
          <a:prstGeom prst="rect">
            <a:avLst/>
          </a:prstGeom>
        </p:spPr>
      </p:pic>
      <p:sp>
        <p:nvSpPr>
          <p:cNvPr id="1486" name="箭头: 右 1485">
            <a:extLst>
              <a:ext uri="{FF2B5EF4-FFF2-40B4-BE49-F238E27FC236}">
                <a16:creationId xmlns:a16="http://schemas.microsoft.com/office/drawing/2014/main" id="{CFD3494A-842C-32DF-1473-691BD1B2BBB3}"/>
              </a:ext>
            </a:extLst>
          </p:cNvPr>
          <p:cNvSpPr/>
          <p:nvPr/>
        </p:nvSpPr>
        <p:spPr>
          <a:xfrm>
            <a:off x="6579348" y="5740497"/>
            <a:ext cx="220353" cy="2542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2F365DC7-C0C2-93DE-9B71-3F7A6085D58B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1494" name="矩形: 圆角 1493">
            <a:extLst>
              <a:ext uri="{FF2B5EF4-FFF2-40B4-BE49-F238E27FC236}">
                <a16:creationId xmlns:a16="http://schemas.microsoft.com/office/drawing/2014/main" id="{9B3A4712-8D71-5CCE-7E8B-6227E21378CC}"/>
              </a:ext>
            </a:extLst>
          </p:cNvPr>
          <p:cNvSpPr/>
          <p:nvPr/>
        </p:nvSpPr>
        <p:spPr>
          <a:xfrm>
            <a:off x="9248384" y="3921727"/>
            <a:ext cx="2704600" cy="2255408"/>
          </a:xfrm>
          <a:prstGeom prst="roundRect">
            <a:avLst>
              <a:gd name="adj" fmla="val 1681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88" name="图片 1487">
            <a:extLst>
              <a:ext uri="{FF2B5EF4-FFF2-40B4-BE49-F238E27FC236}">
                <a16:creationId xmlns:a16="http://schemas.microsoft.com/office/drawing/2014/main" id="{4EA3CDA4-492C-32EA-4404-D5C0651ED186}"/>
              </a:ext>
            </a:extLst>
          </p:cNvPr>
          <p:cNvPicPr>
            <a:picLocks/>
          </p:cNvPicPr>
          <p:nvPr/>
        </p:nvPicPr>
        <p:blipFill>
          <a:blip r:embed="rId7"/>
          <a:srcRect l="2298" r="7795"/>
          <a:stretch>
            <a:fillRect/>
          </a:stretch>
        </p:blipFill>
        <p:spPr>
          <a:xfrm>
            <a:off x="9350009" y="4564221"/>
            <a:ext cx="2501347" cy="1516731"/>
          </a:xfrm>
          <a:prstGeom prst="rect">
            <a:avLst/>
          </a:prstGeom>
        </p:spPr>
      </p:pic>
      <p:sp>
        <p:nvSpPr>
          <p:cNvPr id="1489" name="文本框 1488">
            <a:extLst>
              <a:ext uri="{FF2B5EF4-FFF2-40B4-BE49-F238E27FC236}">
                <a16:creationId xmlns:a16="http://schemas.microsoft.com/office/drawing/2014/main" id="{4E128EF4-017E-BFB6-2759-DBF0A70F21F1}"/>
              </a:ext>
            </a:extLst>
          </p:cNvPr>
          <p:cNvSpPr txBox="1"/>
          <p:nvPr/>
        </p:nvSpPr>
        <p:spPr>
          <a:xfrm>
            <a:off x="9333877" y="4011451"/>
            <a:ext cx="2533613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输出性状相关性评分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(TRS)</a:t>
            </a:r>
          </a:p>
        </p:txBody>
      </p:sp>
      <p:sp>
        <p:nvSpPr>
          <p:cNvPr id="1495" name="箭头: 右 1494">
            <a:extLst>
              <a:ext uri="{FF2B5EF4-FFF2-40B4-BE49-F238E27FC236}">
                <a16:creationId xmlns:a16="http://schemas.microsoft.com/office/drawing/2014/main" id="{E4A5C56C-E524-69FC-1595-D81B95732A5F}"/>
              </a:ext>
            </a:extLst>
          </p:cNvPr>
          <p:cNvSpPr/>
          <p:nvPr/>
        </p:nvSpPr>
        <p:spPr>
          <a:xfrm>
            <a:off x="9018319" y="4533689"/>
            <a:ext cx="401976" cy="470447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99" name="直接箭头连接符 1498">
            <a:extLst>
              <a:ext uri="{FF2B5EF4-FFF2-40B4-BE49-F238E27FC236}">
                <a16:creationId xmlns:a16="http://schemas.microsoft.com/office/drawing/2014/main" id="{73E95B92-EB6A-4D65-A92A-956E6F9FF387}"/>
              </a:ext>
            </a:extLst>
          </p:cNvPr>
          <p:cNvCxnSpPr>
            <a:cxnSpLocks/>
            <a:stCxn id="1368" idx="2"/>
          </p:cNvCxnSpPr>
          <p:nvPr/>
        </p:nvCxnSpPr>
        <p:spPr>
          <a:xfrm>
            <a:off x="6194478" y="4350026"/>
            <a:ext cx="422175" cy="1510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03" name="直接箭头连接符 1502">
            <a:extLst>
              <a:ext uri="{FF2B5EF4-FFF2-40B4-BE49-F238E27FC236}">
                <a16:creationId xmlns:a16="http://schemas.microsoft.com/office/drawing/2014/main" id="{B5E1F06D-B35E-20C6-1F29-29130042FC38}"/>
              </a:ext>
            </a:extLst>
          </p:cNvPr>
          <p:cNvCxnSpPr>
            <a:cxnSpLocks/>
            <a:stCxn id="1434" idx="2"/>
          </p:cNvCxnSpPr>
          <p:nvPr/>
        </p:nvCxnSpPr>
        <p:spPr>
          <a:xfrm flipH="1">
            <a:off x="6616653" y="3513816"/>
            <a:ext cx="2992873" cy="9872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504" name="组合 1503">
            <a:extLst>
              <a:ext uri="{FF2B5EF4-FFF2-40B4-BE49-F238E27FC236}">
                <a16:creationId xmlns:a16="http://schemas.microsoft.com/office/drawing/2014/main" id="{9DBD4C23-50E0-CB24-5578-8F1F75588EB3}"/>
              </a:ext>
            </a:extLst>
          </p:cNvPr>
          <p:cNvGrpSpPr/>
          <p:nvPr/>
        </p:nvGrpSpPr>
        <p:grpSpPr>
          <a:xfrm>
            <a:off x="2293675" y="5555053"/>
            <a:ext cx="1742213" cy="439698"/>
            <a:chOff x="521747" y="5568636"/>
            <a:chExt cx="2379052" cy="787714"/>
          </a:xfrm>
        </p:grpSpPr>
        <p:sp>
          <p:nvSpPr>
            <p:cNvPr id="1505" name="矩形 1504">
              <a:extLst>
                <a:ext uri="{FF2B5EF4-FFF2-40B4-BE49-F238E27FC236}">
                  <a16:creationId xmlns:a16="http://schemas.microsoft.com/office/drawing/2014/main" id="{A802F740-A90D-708D-17DA-B8AE1A0846E8}"/>
                </a:ext>
              </a:extLst>
            </p:cNvPr>
            <p:cNvSpPr/>
            <p:nvPr/>
          </p:nvSpPr>
          <p:spPr>
            <a:xfrm>
              <a:off x="521747" y="5568636"/>
              <a:ext cx="2379051" cy="7877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6" name="文本框 1505">
              <a:extLst>
                <a:ext uri="{FF2B5EF4-FFF2-40B4-BE49-F238E27FC236}">
                  <a16:creationId xmlns:a16="http://schemas.microsoft.com/office/drawing/2014/main" id="{36E61218-56A7-E685-8B49-A26C14106AC2}"/>
                </a:ext>
              </a:extLst>
            </p:cNvPr>
            <p:cNvSpPr txBox="1"/>
            <p:nvPr/>
          </p:nvSpPr>
          <p:spPr>
            <a:xfrm>
              <a:off x="585993" y="5611390"/>
              <a:ext cx="23148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LSI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细胞嵌入矩阵</a:t>
              </a:r>
            </a:p>
          </p:txBody>
        </p:sp>
      </p:grpSp>
      <p:cxnSp>
        <p:nvCxnSpPr>
          <p:cNvPr id="1507" name="直接箭头连接符 1506">
            <a:extLst>
              <a:ext uri="{FF2B5EF4-FFF2-40B4-BE49-F238E27FC236}">
                <a16:creationId xmlns:a16="http://schemas.microsoft.com/office/drawing/2014/main" id="{277A927C-6BB2-43F9-8741-EF2C5410A632}"/>
              </a:ext>
            </a:extLst>
          </p:cNvPr>
          <p:cNvCxnSpPr>
            <a:cxnSpLocks/>
          </p:cNvCxnSpPr>
          <p:nvPr/>
        </p:nvCxnSpPr>
        <p:spPr>
          <a:xfrm flipH="1">
            <a:off x="1288389" y="5243995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8" name="直接箭头连接符 1507">
            <a:extLst>
              <a:ext uri="{FF2B5EF4-FFF2-40B4-BE49-F238E27FC236}">
                <a16:creationId xmlns:a16="http://schemas.microsoft.com/office/drawing/2014/main" id="{5F0FC575-CEBC-E078-AF97-46B6156EEC62}"/>
              </a:ext>
            </a:extLst>
          </p:cNvPr>
          <p:cNvCxnSpPr>
            <a:cxnSpLocks/>
          </p:cNvCxnSpPr>
          <p:nvPr/>
        </p:nvCxnSpPr>
        <p:spPr>
          <a:xfrm flipH="1">
            <a:off x="3185291" y="5311311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9" name="组合 1508">
            <a:extLst>
              <a:ext uri="{FF2B5EF4-FFF2-40B4-BE49-F238E27FC236}">
                <a16:creationId xmlns:a16="http://schemas.microsoft.com/office/drawing/2014/main" id="{4689994F-267C-4CCA-51FB-0FEA8BE00E97}"/>
              </a:ext>
            </a:extLst>
          </p:cNvPr>
          <p:cNvGrpSpPr/>
          <p:nvPr/>
        </p:nvGrpSpPr>
        <p:grpSpPr>
          <a:xfrm>
            <a:off x="4574185" y="1117971"/>
            <a:ext cx="3198918" cy="356898"/>
            <a:chOff x="483659" y="5568636"/>
            <a:chExt cx="2417140" cy="787714"/>
          </a:xfrm>
        </p:grpSpPr>
        <p:sp>
          <p:nvSpPr>
            <p:cNvPr id="1510" name="矩形 1509">
              <a:extLst>
                <a:ext uri="{FF2B5EF4-FFF2-40B4-BE49-F238E27FC236}">
                  <a16:creationId xmlns:a16="http://schemas.microsoft.com/office/drawing/2014/main" id="{75A86EEA-E5D3-3BCC-0512-180C9D8329A7}"/>
                </a:ext>
              </a:extLst>
            </p:cNvPr>
            <p:cNvSpPr/>
            <p:nvPr/>
          </p:nvSpPr>
          <p:spPr>
            <a:xfrm>
              <a:off x="521747" y="5568636"/>
              <a:ext cx="2379051" cy="7877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1" name="文本框 1510">
              <a:extLst>
                <a:ext uri="{FF2B5EF4-FFF2-40B4-BE49-F238E27FC236}">
                  <a16:creationId xmlns:a16="http://schemas.microsoft.com/office/drawing/2014/main" id="{CBDC149B-069D-3801-A876-00DDF138644C}"/>
                </a:ext>
              </a:extLst>
            </p:cNvPr>
            <p:cNvSpPr txBox="1"/>
            <p:nvPr/>
          </p:nvSpPr>
          <p:spPr>
            <a:xfrm>
              <a:off x="483659" y="5611390"/>
              <a:ext cx="24171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候选因果变异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–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开放染色质峰重叠结果</a:t>
              </a:r>
            </a:p>
          </p:txBody>
        </p:sp>
      </p:grpSp>
      <p:grpSp>
        <p:nvGrpSpPr>
          <p:cNvPr id="1512" name="组合 1511">
            <a:extLst>
              <a:ext uri="{FF2B5EF4-FFF2-40B4-BE49-F238E27FC236}">
                <a16:creationId xmlns:a16="http://schemas.microsoft.com/office/drawing/2014/main" id="{8C097DD0-8D3A-FA53-054C-F54A3172C188}"/>
              </a:ext>
            </a:extLst>
          </p:cNvPr>
          <p:cNvGrpSpPr/>
          <p:nvPr/>
        </p:nvGrpSpPr>
        <p:grpSpPr>
          <a:xfrm>
            <a:off x="8752065" y="1147663"/>
            <a:ext cx="1603344" cy="328676"/>
            <a:chOff x="531067" y="5664494"/>
            <a:chExt cx="2379051" cy="787714"/>
          </a:xfrm>
        </p:grpSpPr>
        <p:sp>
          <p:nvSpPr>
            <p:cNvPr id="1513" name="矩形 1512">
              <a:extLst>
                <a:ext uri="{FF2B5EF4-FFF2-40B4-BE49-F238E27FC236}">
                  <a16:creationId xmlns:a16="http://schemas.microsoft.com/office/drawing/2014/main" id="{068E8206-95A3-652C-F62D-984AF0AC5791}"/>
                </a:ext>
              </a:extLst>
            </p:cNvPr>
            <p:cNvSpPr/>
            <p:nvPr/>
          </p:nvSpPr>
          <p:spPr>
            <a:xfrm>
              <a:off x="531067" y="5664494"/>
              <a:ext cx="2379051" cy="7877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4" name="文本框 1513">
              <a:extLst>
                <a:ext uri="{FF2B5EF4-FFF2-40B4-BE49-F238E27FC236}">
                  <a16:creationId xmlns:a16="http://schemas.microsoft.com/office/drawing/2014/main" id="{12906417-8A1A-20A1-73CD-7B1CF5079D34}"/>
                </a:ext>
              </a:extLst>
            </p:cNvPr>
            <p:cNvSpPr txBox="1"/>
            <p:nvPr/>
          </p:nvSpPr>
          <p:spPr>
            <a:xfrm>
              <a:off x="553871" y="5705767"/>
              <a:ext cx="23148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LSI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细胞嵌入矩阵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595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1169-E485-AFBB-F2A6-7241F0454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078555-8087-48D0-DC46-AE6338BA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B26367-DD10-9FB6-B52D-B81616873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E52C331D-5DFC-AEF8-1AE9-C8D23B0C53A0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4F84FD4-3B6D-BF20-68BB-1B4F4C863B7E}"/>
              </a:ext>
            </a:extLst>
          </p:cNvPr>
          <p:cNvSpPr/>
          <p:nvPr/>
        </p:nvSpPr>
        <p:spPr>
          <a:xfrm>
            <a:off x="912067" y="827046"/>
            <a:ext cx="10367866" cy="496475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25000"/>
              </a:lnSpc>
              <a:buClr>
                <a:schemeClr val="bg2"/>
              </a:buClr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PageRank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SCAVENGE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网络传播识别表型相关细胞</a:t>
            </a:r>
          </a:p>
        </p:txBody>
      </p:sp>
      <p:sp>
        <p:nvSpPr>
          <p:cNvPr id="5" name="灯片编号占位符 9">
            <a:extLst>
              <a:ext uri="{FF2B5EF4-FFF2-40B4-BE49-F238E27FC236}">
                <a16:creationId xmlns:a16="http://schemas.microsoft.com/office/drawing/2014/main" id="{6CDE6BBF-1583-1FB7-D810-7EA49D0AAB8D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81D343-BC3B-DDD9-4260-4D0279F58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8F785A27-B3D6-E730-F600-880BD40A07C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0360" y="1582762"/>
            <a:ext cx="1019230" cy="968072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5E1E98CE-60E4-F83A-42FE-FBF0390A8BB0}"/>
              </a:ext>
            </a:extLst>
          </p:cNvPr>
          <p:cNvGrpSpPr/>
          <p:nvPr/>
        </p:nvGrpSpPr>
        <p:grpSpPr>
          <a:xfrm>
            <a:off x="1418301" y="1486199"/>
            <a:ext cx="3436577" cy="838813"/>
            <a:chOff x="1734059" y="1450479"/>
            <a:chExt cx="3436577" cy="838813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8CCB5CF0-DE29-A262-3C2B-42BA9B911316}"/>
                </a:ext>
              </a:extLst>
            </p:cNvPr>
            <p:cNvSpPr/>
            <p:nvPr/>
          </p:nvSpPr>
          <p:spPr>
            <a:xfrm>
              <a:off x="2144563" y="1868497"/>
              <a:ext cx="565745" cy="29536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A61AD39-A1D7-7CE2-0630-26D97EB309BF}"/>
                </a:ext>
              </a:extLst>
            </p:cNvPr>
            <p:cNvGrpSpPr/>
            <p:nvPr/>
          </p:nvGrpSpPr>
          <p:grpSpPr>
            <a:xfrm>
              <a:off x="1734059" y="1450479"/>
              <a:ext cx="3436577" cy="838813"/>
              <a:chOff x="1826154" y="1595201"/>
              <a:chExt cx="3561569" cy="957225"/>
            </a:xfrm>
          </p:grpSpPr>
          <p:sp>
            <p:nvSpPr>
              <p:cNvPr id="13" name="对话气泡: 椭圆形 74">
                <a:extLst>
                  <a:ext uri="{FF2B5EF4-FFF2-40B4-BE49-F238E27FC236}">
                    <a16:creationId xmlns:a16="http://schemas.microsoft.com/office/drawing/2014/main" id="{D59A4754-6C3B-7FC3-A13F-264279E4DB50}"/>
                  </a:ext>
                </a:extLst>
              </p:cNvPr>
              <p:cNvSpPr/>
              <p:nvPr/>
            </p:nvSpPr>
            <p:spPr>
              <a:xfrm>
                <a:off x="1826154" y="1595201"/>
                <a:ext cx="3561569" cy="957225"/>
              </a:xfrm>
              <a:prstGeom prst="wedgeEllipseCallout">
                <a:avLst>
                  <a:gd name="adj1" fmla="val -25173"/>
                  <a:gd name="adj2" fmla="val 59708"/>
                </a:avLst>
              </a:prstGeom>
              <a:solidFill>
                <a:schemeClr val="accent5">
                  <a:lumMod val="20000"/>
                  <a:lumOff val="80000"/>
                  <a:alpha val="3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C966035-CFD6-C4F3-CED4-90081D4406D4}"/>
                  </a:ext>
                </a:extLst>
              </p:cNvPr>
              <p:cNvSpPr txBox="1"/>
              <p:nvPr/>
            </p:nvSpPr>
            <p:spPr>
              <a:xfrm>
                <a:off x="2172843" y="1812203"/>
                <a:ext cx="2868190" cy="59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搜索关键词时，搜索引擎如何把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最重要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的网页排在搜索结果前面？</a:t>
                </a:r>
              </a:p>
            </p:txBody>
          </p:sp>
        </p:grpSp>
      </p:grpSp>
      <p:sp>
        <p:nvSpPr>
          <p:cNvPr id="15" name="箭头: 下 14">
            <a:extLst>
              <a:ext uri="{FF2B5EF4-FFF2-40B4-BE49-F238E27FC236}">
                <a16:creationId xmlns:a16="http://schemas.microsoft.com/office/drawing/2014/main" id="{0EA639E0-9057-68BA-83EF-3E19B9CFFE5B}"/>
              </a:ext>
            </a:extLst>
          </p:cNvPr>
          <p:cNvSpPr/>
          <p:nvPr/>
        </p:nvSpPr>
        <p:spPr>
          <a:xfrm>
            <a:off x="2013001" y="2199577"/>
            <a:ext cx="171040" cy="1901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1ADBE03-427D-5AE2-81A7-88F8013242ED}"/>
              </a:ext>
            </a:extLst>
          </p:cNvPr>
          <p:cNvSpPr/>
          <p:nvPr/>
        </p:nvSpPr>
        <p:spPr>
          <a:xfrm>
            <a:off x="1551190" y="2400380"/>
            <a:ext cx="3170798" cy="2953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随机上网的人会更容易走到哪些网页？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E9017BF-E410-BBC0-843A-618AE4B08915}"/>
              </a:ext>
            </a:extLst>
          </p:cNvPr>
          <p:cNvSpPr/>
          <p:nvPr/>
        </p:nvSpPr>
        <p:spPr>
          <a:xfrm>
            <a:off x="114134" y="2845464"/>
            <a:ext cx="1817334" cy="2953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：链接网络的数量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DAFCF2A-5224-6481-D692-CE9996888B7E}"/>
              </a:ext>
            </a:extLst>
          </p:cNvPr>
          <p:cNvSpPr/>
          <p:nvPr/>
        </p:nvSpPr>
        <p:spPr>
          <a:xfrm>
            <a:off x="1987153" y="2845464"/>
            <a:ext cx="1997017" cy="2953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：链接网络的重要性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568D788-AAA1-FB85-18C0-818D6236948B}"/>
              </a:ext>
            </a:extLst>
          </p:cNvPr>
          <p:cNvSpPr/>
          <p:nvPr/>
        </p:nvSpPr>
        <p:spPr>
          <a:xfrm>
            <a:off x="310360" y="3331211"/>
            <a:ext cx="5045646" cy="63546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PageRank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的本质：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某网页的重要性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随机游走者长期到达该网页的概率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F6A120C-F585-1671-BEB7-0C1D1405FCEA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1022801" y="2695740"/>
            <a:ext cx="2113788" cy="149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00342C0-422C-F74B-88E8-9F5A84D42D44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2985662" y="2695740"/>
            <a:ext cx="150927" cy="149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0769A6A8-FE2E-951E-0E0F-3B6B4AE4C7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487" y="4090622"/>
            <a:ext cx="3486234" cy="2325589"/>
          </a:xfrm>
          <a:prstGeom prst="rect">
            <a:avLst/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8BD744F-C9F3-7BFC-4AEB-D397B24383CF}"/>
              </a:ext>
            </a:extLst>
          </p:cNvPr>
          <p:cNvSpPr/>
          <p:nvPr/>
        </p:nvSpPr>
        <p:spPr>
          <a:xfrm>
            <a:off x="1051002" y="4076545"/>
            <a:ext cx="3869320" cy="2353744"/>
          </a:xfrm>
          <a:prstGeom prst="roundRect">
            <a:avLst/>
          </a:prstGeom>
          <a:noFill/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BC491D1-3AF8-7575-FA5E-8EA7C15D1B61}"/>
              </a:ext>
            </a:extLst>
          </p:cNvPr>
          <p:cNvSpPr txBox="1"/>
          <p:nvPr/>
        </p:nvSpPr>
        <p:spPr>
          <a:xfrm>
            <a:off x="1206814" y="4128781"/>
            <a:ext cx="54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52DE0F-E869-77BD-1DC2-8C0E6EFA0839}"/>
              </a:ext>
            </a:extLst>
          </p:cNvPr>
          <p:cNvSpPr txBox="1"/>
          <p:nvPr/>
        </p:nvSpPr>
        <p:spPr>
          <a:xfrm>
            <a:off x="1370127" y="6416211"/>
            <a:ext cx="1114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整个互联网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E6BBB87-35BD-A10A-2F47-EA56212ED663}"/>
              </a:ext>
            </a:extLst>
          </p:cNvPr>
          <p:cNvSpPr txBox="1"/>
          <p:nvPr/>
        </p:nvSpPr>
        <p:spPr>
          <a:xfrm>
            <a:off x="3556798" y="4275729"/>
            <a:ext cx="546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链接</a:t>
            </a: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EB3F4ED5-18DB-2F28-B4CD-04B5EF16CC1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305" y="4117014"/>
            <a:ext cx="357670" cy="970562"/>
          </a:xfrm>
          <a:prstGeom prst="rect">
            <a:avLst/>
          </a:prstGeom>
        </p:spPr>
      </p:pic>
      <p:sp>
        <p:nvSpPr>
          <p:cNvPr id="28" name="箭头: 右 27">
            <a:extLst>
              <a:ext uri="{FF2B5EF4-FFF2-40B4-BE49-F238E27FC236}">
                <a16:creationId xmlns:a16="http://schemas.microsoft.com/office/drawing/2014/main" id="{8464DD8D-791B-5EF9-29E6-340B469FD5E7}"/>
              </a:ext>
            </a:extLst>
          </p:cNvPr>
          <p:cNvSpPr/>
          <p:nvPr/>
        </p:nvSpPr>
        <p:spPr>
          <a:xfrm>
            <a:off x="912067" y="4564097"/>
            <a:ext cx="370616" cy="17875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Picture 1">
            <a:extLst>
              <a:ext uri="{FF2B5EF4-FFF2-40B4-BE49-F238E27FC236}">
                <a16:creationId xmlns:a16="http://schemas.microsoft.com/office/drawing/2014/main" id="{69304F3C-47D7-2D4F-8577-F1D1CF3AB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856" y="1875046"/>
            <a:ext cx="1991719" cy="74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87948F0-9F0C-A88A-C014-7153A13318A3}"/>
              </a:ext>
            </a:extLst>
          </p:cNvPr>
          <p:cNvSpPr/>
          <p:nvPr/>
        </p:nvSpPr>
        <p:spPr>
          <a:xfrm>
            <a:off x="5561491" y="1486199"/>
            <a:ext cx="6114491" cy="5040617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748E8F7-8C98-3EEF-741D-EF66EFCFB0D3}"/>
              </a:ext>
            </a:extLst>
          </p:cNvPr>
          <p:cNvSpPr txBox="1"/>
          <p:nvPr/>
        </p:nvSpPr>
        <p:spPr>
          <a:xfrm>
            <a:off x="5645054" y="1567269"/>
            <a:ext cx="5952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某个网页：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它的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pagerank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分数是：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D29949D-DAB8-BEB4-CC24-C3CABF7AA596}"/>
              </a:ext>
            </a:extLst>
          </p:cNvPr>
          <p:cNvSpPr txBox="1"/>
          <p:nvPr/>
        </p:nvSpPr>
        <p:spPr>
          <a:xfrm>
            <a:off x="7780987" y="1842790"/>
            <a:ext cx="38167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所有指向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的网页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，都会把自己的一部分分数传递给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。分数大小取决于网页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自己的分数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PR(j)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与外链数量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L(j)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F42E8AD-0D36-E4CD-FD0C-8C49AA65B8CD}"/>
              </a:ext>
            </a:extLst>
          </p:cNvPr>
          <p:cNvSpPr txBox="1"/>
          <p:nvPr/>
        </p:nvSpPr>
        <p:spPr>
          <a:xfrm>
            <a:off x="5641251" y="2523130"/>
            <a:ext cx="5952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在真实的互联网中，会出现以下问题：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有些网页没有外链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随机游走者走到这些网页会“卡住”。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有些网页会形成封闭小圈子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几个网页互相链接，但不指向外面。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解决方法：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damping factor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（阻尼因子）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4" name="Picture 5">
            <a:extLst>
              <a:ext uri="{FF2B5EF4-FFF2-40B4-BE49-F238E27FC236}">
                <a16:creationId xmlns:a16="http://schemas.microsoft.com/office/drawing/2014/main" id="{0410FCDB-9015-7FA5-8EA7-86B02BA7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717" y="3477237"/>
            <a:ext cx="3128441" cy="785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5437B8DC-535C-B62D-3B23-D0950F414524}"/>
              </a:ext>
            </a:extLst>
          </p:cNvPr>
          <p:cNvSpPr txBox="1"/>
          <p:nvPr/>
        </p:nvSpPr>
        <p:spPr>
          <a:xfrm>
            <a:off x="8777158" y="3409266"/>
            <a:ext cx="28242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</a:t>
            </a:r>
            <a:r>
              <a:rPr lang="zh-CN" altLang="en-US" sz="1400" dirty="0"/>
              <a:t>：网页总数</a:t>
            </a:r>
          </a:p>
          <a:p>
            <a:r>
              <a:rPr lang="en-US" altLang="zh-CN" sz="1400" dirty="0"/>
              <a:t>d</a:t>
            </a:r>
            <a:r>
              <a:rPr lang="zh-CN" altLang="en-US" sz="1400" dirty="0"/>
              <a:t>：阻尼因子，常取 </a:t>
            </a:r>
            <a:r>
              <a:rPr lang="en-US" altLang="zh-CN" sz="1400" dirty="0"/>
              <a:t>0.85</a:t>
            </a:r>
          </a:p>
          <a:p>
            <a:r>
              <a:rPr lang="en-US" altLang="zh-CN" sz="1400" dirty="0"/>
              <a:t>1-d/N</a:t>
            </a:r>
            <a:r>
              <a:rPr lang="zh-CN" altLang="en-US" sz="1400" dirty="0"/>
              <a:t>：表示有一部分概率会随机跳转到</a:t>
            </a:r>
            <a:r>
              <a:rPr lang="zh-CN" altLang="en-US" sz="1400" b="1" dirty="0">
                <a:solidFill>
                  <a:srgbClr val="C00000"/>
                </a:solidFill>
              </a:rPr>
              <a:t>任意网页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A598A5B-6DD1-6FE5-CE4C-1C971B275875}"/>
              </a:ext>
            </a:extLst>
          </p:cNvPr>
          <p:cNvSpPr txBox="1"/>
          <p:nvPr/>
        </p:nvSpPr>
        <p:spPr>
          <a:xfrm>
            <a:off x="5645054" y="4343954"/>
            <a:ext cx="59526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可以把整个过程看成马尔可夫链，定义一个概率向量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：第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步时，每个网页被访问的概率分布。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不断迭代：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/>
              <a:t>M</a:t>
            </a:r>
            <a:r>
              <a:rPr lang="zh-CN" altLang="en-US" sz="1400" dirty="0"/>
              <a:t>：按网页链接定义的转移矩阵</a:t>
            </a:r>
          </a:p>
          <a:p>
            <a:r>
              <a:rPr lang="en-US" altLang="zh-CN" sz="1400" dirty="0"/>
              <a:t>u</a:t>
            </a:r>
            <a:r>
              <a:rPr lang="zh-CN" altLang="en-US" sz="1400" dirty="0"/>
              <a:t>：随机跳转分布，通常是均匀分布</a:t>
            </a:r>
          </a:p>
          <a:p>
            <a:r>
              <a:rPr lang="en-US" altLang="zh-CN" sz="1400" dirty="0"/>
              <a:t>d</a:t>
            </a:r>
            <a:r>
              <a:rPr lang="zh-CN" altLang="en-US" sz="1400" dirty="0"/>
              <a:t>：继续沿链接走的概率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经过很多次迭代之后，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会稳定下来，变成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V*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，就是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PageRank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分数。</a:t>
            </a:r>
          </a:p>
          <a:p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Picture 7">
            <a:extLst>
              <a:ext uri="{FF2B5EF4-FFF2-40B4-BE49-F238E27FC236}">
                <a16:creationId xmlns:a16="http://schemas.microsoft.com/office/drawing/2014/main" id="{0F516D34-D6CF-8BBC-4BE8-E0AE2ED4E11E}"/>
              </a:ext>
            </a:extLst>
          </p:cNvPr>
          <p:cNvPicPr>
            <a:picLocks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16" r="8152"/>
          <a:stretch>
            <a:fillRect/>
          </a:stretch>
        </p:blipFill>
        <p:spPr bwMode="auto">
          <a:xfrm>
            <a:off x="7048778" y="5083032"/>
            <a:ext cx="2666444" cy="325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13437D2-FC65-B096-5629-AFEB4D002B0F}"/>
              </a:ext>
            </a:extLst>
          </p:cNvPr>
          <p:cNvSpPr/>
          <p:nvPr/>
        </p:nvSpPr>
        <p:spPr>
          <a:xfrm>
            <a:off x="4039855" y="2782031"/>
            <a:ext cx="1373905" cy="4713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拓扑结构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：在网络中的位置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853BD59-41FD-E371-CF77-2010706B925E}"/>
              </a:ext>
            </a:extLst>
          </p:cNvPr>
          <p:cNvCxnSpPr>
            <a:stCxn id="16" idx="2"/>
            <a:endCxn id="38" idx="0"/>
          </p:cNvCxnSpPr>
          <p:nvPr/>
        </p:nvCxnSpPr>
        <p:spPr>
          <a:xfrm>
            <a:off x="3136589" y="2695740"/>
            <a:ext cx="1590219" cy="86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EB9BD63-ED43-6EAD-6821-A1436BC1472C}"/>
              </a:ext>
            </a:extLst>
          </p:cNvPr>
          <p:cNvSpPr/>
          <p:nvPr/>
        </p:nvSpPr>
        <p:spPr>
          <a:xfrm>
            <a:off x="1684011" y="4126899"/>
            <a:ext cx="750084" cy="3077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单细胞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3425668-E067-0943-A2D3-3773DF26D472}"/>
              </a:ext>
            </a:extLst>
          </p:cNvPr>
          <p:cNvSpPr/>
          <p:nvPr/>
        </p:nvSpPr>
        <p:spPr>
          <a:xfrm>
            <a:off x="4019334" y="3938411"/>
            <a:ext cx="1709432" cy="6354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细胞在高维特征空间中的相似性连接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763AE92-AAC3-F02E-100B-104F6B611F35}"/>
              </a:ext>
            </a:extLst>
          </p:cNvPr>
          <p:cNvSpPr/>
          <p:nvPr/>
        </p:nvSpPr>
        <p:spPr>
          <a:xfrm>
            <a:off x="2375902" y="6436834"/>
            <a:ext cx="1402326" cy="3077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细胞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细胞网络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73DBF2BB-5301-62C2-BA8A-10E277AEA7EA}"/>
              </a:ext>
            </a:extLst>
          </p:cNvPr>
          <p:cNvSpPr/>
          <p:nvPr/>
        </p:nvSpPr>
        <p:spPr>
          <a:xfrm>
            <a:off x="10164430" y="4080971"/>
            <a:ext cx="1458928" cy="3077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重启到种子细胞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E223F55B-9AE3-63E6-AE7E-3D31C09AE450}"/>
              </a:ext>
            </a:extLst>
          </p:cNvPr>
          <p:cNvSpPr/>
          <p:nvPr/>
        </p:nvSpPr>
        <p:spPr>
          <a:xfrm>
            <a:off x="5514609" y="6364412"/>
            <a:ext cx="1609849" cy="3077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PageRank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1DD132F4-2AED-13F5-B545-D231DF11238D}"/>
              </a:ext>
            </a:extLst>
          </p:cNvPr>
          <p:cNvSpPr/>
          <p:nvPr/>
        </p:nvSpPr>
        <p:spPr>
          <a:xfrm>
            <a:off x="7117877" y="6436834"/>
            <a:ext cx="205485" cy="157953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6D29436-DD1D-269D-81D7-665BCA6DADE7}"/>
              </a:ext>
            </a:extLst>
          </p:cNvPr>
          <p:cNvSpPr/>
          <p:nvPr/>
        </p:nvSpPr>
        <p:spPr>
          <a:xfrm>
            <a:off x="7314646" y="6364412"/>
            <a:ext cx="1609849" cy="3077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个性化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PageRank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A705C3D1-2139-6187-3BDC-FAF256F2F450}"/>
              </a:ext>
            </a:extLst>
          </p:cNvPr>
          <p:cNvSpPr/>
          <p:nvPr/>
        </p:nvSpPr>
        <p:spPr>
          <a:xfrm>
            <a:off x="8929904" y="6436834"/>
            <a:ext cx="214115" cy="171052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7A8DEA3-9ADB-8DD6-6B91-59AEFFA36A13}"/>
              </a:ext>
            </a:extLst>
          </p:cNvPr>
          <p:cNvSpPr/>
          <p:nvPr/>
        </p:nvSpPr>
        <p:spPr>
          <a:xfrm>
            <a:off x="9134170" y="6369588"/>
            <a:ext cx="1326004" cy="3077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应用在细胞图</a:t>
            </a:r>
          </a:p>
        </p:txBody>
      </p:sp>
      <p:sp>
        <p:nvSpPr>
          <p:cNvPr id="49" name="箭头: 右 48">
            <a:extLst>
              <a:ext uri="{FF2B5EF4-FFF2-40B4-BE49-F238E27FC236}">
                <a16:creationId xmlns:a16="http://schemas.microsoft.com/office/drawing/2014/main" id="{5CADED07-8EBE-6656-FE33-46C9DCB6FDE6}"/>
              </a:ext>
            </a:extLst>
          </p:cNvPr>
          <p:cNvSpPr/>
          <p:nvPr/>
        </p:nvSpPr>
        <p:spPr>
          <a:xfrm>
            <a:off x="10437415" y="6424523"/>
            <a:ext cx="214115" cy="171052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6A25B6C7-801D-6955-0460-351027667D1A}"/>
              </a:ext>
            </a:extLst>
          </p:cNvPr>
          <p:cNvSpPr/>
          <p:nvPr/>
        </p:nvSpPr>
        <p:spPr>
          <a:xfrm>
            <a:off x="10643535" y="6364412"/>
            <a:ext cx="1152419" cy="3077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SCAVENGE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1E63B4A-282E-6408-C6AB-1DC1F2592534}"/>
              </a:ext>
            </a:extLst>
          </p:cNvPr>
          <p:cNvSpPr/>
          <p:nvPr/>
        </p:nvSpPr>
        <p:spPr>
          <a:xfrm>
            <a:off x="8534257" y="5743970"/>
            <a:ext cx="3110374" cy="3077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TRS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→每个细胞与性状的相关性分数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DAA753-F01E-980F-97A0-595DC8E8394C}"/>
              </a:ext>
            </a:extLst>
          </p:cNvPr>
          <p:cNvSpPr txBox="1"/>
          <p:nvPr/>
        </p:nvSpPr>
        <p:spPr>
          <a:xfrm>
            <a:off x="-34561" y="5139424"/>
            <a:ext cx="1291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随机点击链接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跳转网页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81438B4-264C-1550-372D-CDE9E6F151BC}"/>
              </a:ext>
            </a:extLst>
          </p:cNvPr>
          <p:cNvSpPr/>
          <p:nvPr/>
        </p:nvSpPr>
        <p:spPr>
          <a:xfrm>
            <a:off x="4875534" y="-4746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SCAVENGE</a:t>
            </a:r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复现</a:t>
            </a:r>
          </a:p>
        </p:txBody>
      </p:sp>
    </p:spTree>
    <p:extLst>
      <p:ext uri="{BB962C8B-B14F-4D97-AF65-F5344CB8AC3E}">
        <p14:creationId xmlns:p14="http://schemas.microsoft.com/office/powerpoint/2010/main" val="41976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54D14-79CA-10C8-DAA7-3FE5CE1DF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32024B7-A55B-BFB9-F153-7894DA7D3DCC}"/>
              </a:ext>
            </a:extLst>
          </p:cNvPr>
          <p:cNvSpPr txBox="1"/>
          <p:nvPr/>
        </p:nvSpPr>
        <p:spPr>
          <a:xfrm>
            <a:off x="936691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FF0828-AB65-EC47-B31E-45D57F3F3506}"/>
              </a:ext>
            </a:extLst>
          </p:cNvPr>
          <p:cNvSpPr txBox="1"/>
          <p:nvPr/>
        </p:nvSpPr>
        <p:spPr>
          <a:xfrm>
            <a:off x="267402" y="727714"/>
            <a:ext cx="10067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</a:t>
            </a:r>
            <a:r>
              <a:rPr lang="en-US" altLang="zh-CN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SCAVENGE</a:t>
            </a: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复现：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结果示例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单性状：平均红细胞体积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MCV</a:t>
            </a:r>
            <a:endParaRPr lang="zh-CN" altLang="en-US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2E631BB-5D77-14AB-8498-ECD8378F8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02D4CBFD-5653-7A30-62E1-0F0703F0B610}"/>
              </a:ext>
            </a:extLst>
          </p:cNvPr>
          <p:cNvGrpSpPr/>
          <p:nvPr/>
        </p:nvGrpSpPr>
        <p:grpSpPr>
          <a:xfrm>
            <a:off x="328920" y="1172614"/>
            <a:ext cx="11525387" cy="2703730"/>
            <a:chOff x="328921" y="1315683"/>
            <a:chExt cx="11525387" cy="270373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45ABD12-45F1-524E-6FF4-F73AF22D9B61}"/>
                </a:ext>
              </a:extLst>
            </p:cNvPr>
            <p:cNvSpPr/>
            <p:nvPr/>
          </p:nvSpPr>
          <p:spPr>
            <a:xfrm>
              <a:off x="328921" y="1315683"/>
              <a:ext cx="11525387" cy="270373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7B6C0F4-8FE4-86B4-7C9F-FDC1E580A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52193" y="1369991"/>
              <a:ext cx="3617039" cy="2583599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E7F66F2-26A4-3EC1-557A-6562DC1A7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77850" y="1369991"/>
              <a:ext cx="5190222" cy="2595111"/>
            </a:xfrm>
            <a:prstGeom prst="rect">
              <a:avLst/>
            </a:prstGeom>
          </p:spPr>
        </p:pic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2B4C149-D62A-011E-E6EF-E05248945146}"/>
                </a:ext>
              </a:extLst>
            </p:cNvPr>
            <p:cNvSpPr/>
            <p:nvPr/>
          </p:nvSpPr>
          <p:spPr>
            <a:xfrm>
              <a:off x="388127" y="1369991"/>
              <a:ext cx="2195388" cy="386446"/>
            </a:xfrm>
            <a:prstGeom prst="roundRect">
              <a:avLst>
                <a:gd name="adj" fmla="val 461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r>
                <a:rPr lang="zh-CN" altLang="pl-PL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原始 </a:t>
              </a:r>
              <a:r>
                <a:rPr lang="pl-PL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Z-score</a:t>
              </a:r>
              <a:r>
                <a:rPr lang="zh-CN" altLang="pl-PL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的分布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FFB8922-CBF5-C134-5FF0-7B3BE307F5F4}"/>
                </a:ext>
              </a:extLst>
            </p:cNvPr>
            <p:cNvSpPr txBox="1"/>
            <p:nvPr/>
          </p:nvSpPr>
          <p:spPr>
            <a:xfrm>
              <a:off x="388126" y="1669088"/>
              <a:ext cx="21953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展示了单细胞 </a:t>
              </a:r>
              <a:r>
                <a:rPr lang="en-US" altLang="zh-CN" sz="1400" dirty="0"/>
                <a:t>GWAS </a:t>
              </a:r>
              <a:r>
                <a:rPr lang="zh-CN" altLang="en-US" sz="1400" dirty="0"/>
                <a:t>富集分析在进行核心网络传播</a:t>
              </a:r>
              <a:r>
                <a:rPr lang="zh-CN" altLang="en-US" sz="1400" b="1" dirty="0"/>
                <a:t>前</a:t>
              </a:r>
              <a:r>
                <a:rPr lang="zh-CN" altLang="en-US" sz="1400" dirty="0"/>
                <a:t>的基线状态。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B000062-8C44-178D-F03C-3676FC964047}"/>
              </a:ext>
            </a:extLst>
          </p:cNvPr>
          <p:cNvGrpSpPr/>
          <p:nvPr/>
        </p:nvGrpSpPr>
        <p:grpSpPr>
          <a:xfrm>
            <a:off x="328920" y="3930652"/>
            <a:ext cx="11525387" cy="2815618"/>
            <a:chOff x="328921" y="1315683"/>
            <a:chExt cx="11525387" cy="281561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A19AFFF-3152-7EAD-92F8-D35ADE27DB88}"/>
                </a:ext>
              </a:extLst>
            </p:cNvPr>
            <p:cNvSpPr/>
            <p:nvPr/>
          </p:nvSpPr>
          <p:spPr>
            <a:xfrm>
              <a:off x="328921" y="1315683"/>
              <a:ext cx="11525387" cy="270373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858D8A2B-A68A-0C92-181B-20200946E426}"/>
                </a:ext>
              </a:extLst>
            </p:cNvPr>
            <p:cNvSpPr/>
            <p:nvPr/>
          </p:nvSpPr>
          <p:spPr>
            <a:xfrm>
              <a:off x="388127" y="1369991"/>
              <a:ext cx="2195388" cy="386446"/>
            </a:xfrm>
            <a:prstGeom prst="roundRect">
              <a:avLst>
                <a:gd name="adj" fmla="val 461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TRS</a:t>
              </a:r>
              <a:r>
                <a:rPr lang="zh-CN" altLang="pl-PL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的分布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464F7AB-68BB-FD92-DFD4-D7BBE998E9EC}"/>
                </a:ext>
              </a:extLst>
            </p:cNvPr>
            <p:cNvSpPr txBox="1"/>
            <p:nvPr/>
          </p:nvSpPr>
          <p:spPr>
            <a:xfrm>
              <a:off x="388126" y="1669088"/>
              <a:ext cx="2195389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经过网络传播和归一化处理后，</a:t>
              </a:r>
              <a:r>
                <a:rPr lang="en-US" altLang="zh-CN" sz="1400" dirty="0"/>
                <a:t>SCAVENGE </a:t>
              </a:r>
              <a:r>
                <a:rPr lang="zh-CN" altLang="en-US" sz="1400" dirty="0"/>
                <a:t>算法发挥核心威力的</a:t>
              </a:r>
              <a:r>
                <a:rPr lang="zh-CN" altLang="en-US" sz="1400" b="1" dirty="0"/>
                <a:t>最终成果展示。</a:t>
              </a:r>
              <a:endParaRPr lang="en-US" altLang="zh-CN" sz="1400" b="1" dirty="0"/>
            </a:p>
            <a:p>
              <a:r>
                <a:rPr lang="zh-CN" altLang="en-US" sz="1400" dirty="0"/>
                <a:t>算法精准地从稀疏、嘈杂的单细胞 </a:t>
              </a:r>
              <a:r>
                <a:rPr lang="en-US" altLang="zh-CN" sz="1400" dirty="0"/>
                <a:t>ATAC-seq </a:t>
              </a:r>
              <a:r>
                <a:rPr lang="zh-CN" altLang="en-US" sz="1400" dirty="0"/>
                <a:t>数据中，通过细胞间的拓扑网络，将 </a:t>
              </a:r>
              <a:r>
                <a:rPr lang="en-US" altLang="zh-CN" sz="1400" dirty="0"/>
                <a:t>MCV</a:t>
              </a:r>
              <a:r>
                <a:rPr lang="zh-CN" altLang="en-US" sz="1400" dirty="0"/>
                <a:t>这一复杂表型的致病靶细胞死死锁定在了红细胞系上。</a:t>
              </a:r>
            </a:p>
            <a:p>
              <a:endParaRPr lang="zh-CN" altLang="en-US" sz="1400" dirty="0"/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9B647559-A4E8-6C32-28C1-146A52DBA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192" y="3996472"/>
            <a:ext cx="3617039" cy="258359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0C7447A-FF7D-D49B-12E7-00E2B5C0D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849" y="3996472"/>
            <a:ext cx="5190223" cy="259511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8681ADA-B8C4-7B22-CB8A-79A9D1AAE20D}"/>
              </a:ext>
            </a:extLst>
          </p:cNvPr>
          <p:cNvSpPr/>
          <p:nvPr/>
        </p:nvSpPr>
        <p:spPr>
          <a:xfrm>
            <a:off x="4875534" y="-4746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SCAVENGE</a:t>
            </a:r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复现</a:t>
            </a:r>
          </a:p>
        </p:txBody>
      </p:sp>
    </p:spTree>
    <p:extLst>
      <p:ext uri="{BB962C8B-B14F-4D97-AF65-F5344CB8AC3E}">
        <p14:creationId xmlns:p14="http://schemas.microsoft.com/office/powerpoint/2010/main" val="339450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796"/>
    </mc:Choice>
    <mc:Fallback xmlns:a14="http://schemas.microsoft.com/office/drawing/2010/main" xmlns="">
      <p:transition spd="slow" advTm="7379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555A-86A3-033D-4A2A-3BE2FCDD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E8D396C-4A26-79D5-C630-6B037B55BEA6}"/>
              </a:ext>
            </a:extLst>
          </p:cNvPr>
          <p:cNvSpPr txBox="1"/>
          <p:nvPr/>
        </p:nvSpPr>
        <p:spPr>
          <a:xfrm>
            <a:off x="936691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7AA5570-5C36-4F12-A1EB-4155A99A166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C13675-B749-ED81-6305-22B4E6521FD7}"/>
              </a:ext>
            </a:extLst>
          </p:cNvPr>
          <p:cNvSpPr txBox="1"/>
          <p:nvPr/>
        </p:nvSpPr>
        <p:spPr>
          <a:xfrm>
            <a:off x="267402" y="727714"/>
            <a:ext cx="8777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</a:t>
            </a:r>
            <a:r>
              <a:rPr lang="en-US" altLang="zh-CN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SCAVENGE</a:t>
            </a: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复现：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结果示例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单性状：淋巴细胞计数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LYM</a:t>
            </a:r>
            <a:endParaRPr lang="zh-CN" altLang="en-US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17FC092-3B41-AB68-7128-E0FABAEBA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8A276DD2-72A7-94EC-E840-A62F97BB4722}"/>
              </a:ext>
            </a:extLst>
          </p:cNvPr>
          <p:cNvGrpSpPr/>
          <p:nvPr/>
        </p:nvGrpSpPr>
        <p:grpSpPr>
          <a:xfrm>
            <a:off x="328920" y="1172614"/>
            <a:ext cx="11525387" cy="2703730"/>
            <a:chOff x="328921" y="1315683"/>
            <a:chExt cx="11525387" cy="270373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D313703-0265-3D09-60D4-98B8E2CB8B5C}"/>
                </a:ext>
              </a:extLst>
            </p:cNvPr>
            <p:cNvSpPr/>
            <p:nvPr/>
          </p:nvSpPr>
          <p:spPr>
            <a:xfrm>
              <a:off x="328921" y="1315683"/>
              <a:ext cx="11525387" cy="270373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A7BA9E4-0D99-CA4A-89CA-AD2E57921D52}"/>
                </a:ext>
              </a:extLst>
            </p:cNvPr>
            <p:cNvSpPr/>
            <p:nvPr/>
          </p:nvSpPr>
          <p:spPr>
            <a:xfrm>
              <a:off x="388127" y="1369991"/>
              <a:ext cx="2195388" cy="386446"/>
            </a:xfrm>
            <a:prstGeom prst="roundRect">
              <a:avLst>
                <a:gd name="adj" fmla="val 461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r>
                <a:rPr lang="zh-CN" altLang="pl-PL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原始 </a:t>
              </a:r>
              <a:r>
                <a:rPr lang="pl-PL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Z-score</a:t>
              </a:r>
              <a:r>
                <a:rPr lang="zh-CN" altLang="pl-PL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的分布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6AD1561-02AF-1504-9550-5AC7A5924D6B}"/>
                </a:ext>
              </a:extLst>
            </p:cNvPr>
            <p:cNvSpPr txBox="1"/>
            <p:nvPr/>
          </p:nvSpPr>
          <p:spPr>
            <a:xfrm>
              <a:off x="388126" y="1669088"/>
              <a:ext cx="21953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展示了单细胞 </a:t>
              </a:r>
              <a:r>
                <a:rPr lang="en-US" altLang="zh-CN" sz="1400" dirty="0"/>
                <a:t>GWAS </a:t>
              </a:r>
              <a:r>
                <a:rPr lang="zh-CN" altLang="en-US" sz="1400" dirty="0"/>
                <a:t>富集分析在进行核心网络传播</a:t>
              </a:r>
              <a:r>
                <a:rPr lang="zh-CN" altLang="en-US" sz="1400" b="1" dirty="0"/>
                <a:t>前</a:t>
              </a:r>
              <a:r>
                <a:rPr lang="zh-CN" altLang="en-US" sz="1400" dirty="0"/>
                <a:t>的基线状态。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5D653B9-76B3-B92C-A7DD-3BC1EA12C45E}"/>
              </a:ext>
            </a:extLst>
          </p:cNvPr>
          <p:cNvGrpSpPr/>
          <p:nvPr/>
        </p:nvGrpSpPr>
        <p:grpSpPr>
          <a:xfrm>
            <a:off x="328920" y="3930652"/>
            <a:ext cx="11525387" cy="2815618"/>
            <a:chOff x="328921" y="1315683"/>
            <a:chExt cx="11525387" cy="281561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B1DC4BB-F460-C336-4B90-3B1ED8A92BE5}"/>
                </a:ext>
              </a:extLst>
            </p:cNvPr>
            <p:cNvSpPr/>
            <p:nvPr/>
          </p:nvSpPr>
          <p:spPr>
            <a:xfrm>
              <a:off x="328921" y="1315683"/>
              <a:ext cx="11525387" cy="270373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2E1A7050-02F4-51CB-1FF3-20A9ECEE89A9}"/>
                </a:ext>
              </a:extLst>
            </p:cNvPr>
            <p:cNvSpPr/>
            <p:nvPr/>
          </p:nvSpPr>
          <p:spPr>
            <a:xfrm>
              <a:off x="388127" y="1369991"/>
              <a:ext cx="2195388" cy="386446"/>
            </a:xfrm>
            <a:prstGeom prst="roundRect">
              <a:avLst>
                <a:gd name="adj" fmla="val 461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TRS</a:t>
              </a:r>
              <a:r>
                <a:rPr lang="zh-CN" altLang="pl-PL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的分布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5F1EB2E-4D27-CE4B-42D1-6F1EF24BABF8}"/>
                </a:ext>
              </a:extLst>
            </p:cNvPr>
            <p:cNvSpPr txBox="1"/>
            <p:nvPr/>
          </p:nvSpPr>
          <p:spPr>
            <a:xfrm>
              <a:off x="388126" y="1669088"/>
              <a:ext cx="2195389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经过网络传播和归一化处理后，</a:t>
              </a:r>
              <a:r>
                <a:rPr lang="en-US" altLang="zh-CN" sz="1400" dirty="0"/>
                <a:t>SCAVENGE </a:t>
              </a:r>
              <a:r>
                <a:rPr lang="zh-CN" altLang="en-US" sz="1400" dirty="0"/>
                <a:t>算法发挥核心威力的</a:t>
              </a:r>
              <a:r>
                <a:rPr lang="zh-CN" altLang="en-US" sz="1400" b="1" dirty="0"/>
                <a:t>最终成果展示。</a:t>
              </a:r>
              <a:endParaRPr lang="en-US" altLang="zh-CN" sz="1400" b="1" dirty="0"/>
            </a:p>
            <a:p>
              <a:r>
                <a:rPr lang="zh-CN" altLang="en-US" sz="1400" dirty="0"/>
                <a:t> </a:t>
              </a:r>
              <a:r>
                <a:rPr lang="en-US" altLang="zh-CN" sz="1400" dirty="0"/>
                <a:t>LYM </a:t>
              </a:r>
              <a:r>
                <a:rPr lang="zh-CN" altLang="en-US" sz="1400" dirty="0"/>
                <a:t>在单细胞层面面临极高测序脱落率。传统的单纯叠加 </a:t>
              </a:r>
              <a:r>
                <a:rPr lang="en-US" altLang="zh-CN" sz="1400" dirty="0"/>
                <a:t>GWAS </a:t>
              </a:r>
              <a:r>
                <a:rPr lang="zh-CN" altLang="en-US" sz="1400" dirty="0"/>
                <a:t>信号的方法是完全失效的。</a:t>
              </a:r>
              <a:r>
                <a:rPr lang="en-US" altLang="zh-CN" sz="1400" dirty="0"/>
                <a:t>SCAVENGE </a:t>
              </a:r>
              <a:r>
                <a:rPr lang="zh-CN" altLang="en-US" sz="1400" dirty="0"/>
                <a:t>成功找回了符合常识的生物学真相。</a:t>
              </a:r>
            </a:p>
            <a:p>
              <a:endParaRPr lang="zh-CN" altLang="en-US" sz="1400" dirty="0"/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903B9EE3-1128-8200-9E14-873F09F79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192" y="3996472"/>
            <a:ext cx="3617039" cy="258359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41FD043-D6C8-C78A-AD9E-17B29ACF2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849" y="3996472"/>
            <a:ext cx="5190223" cy="2595111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DAE76D75-3B49-1F24-1FE3-6C7851033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192" y="1235164"/>
            <a:ext cx="3617040" cy="258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E84DD565-BCA2-ACCA-5F67-1414B3B4307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652192" y="-10468739"/>
            <a:ext cx="93968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04009F3-DB1E-7256-E7A5-C24496AAFC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849" y="1223653"/>
            <a:ext cx="5190223" cy="259511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95FC446-70FB-7C9B-FEEC-3F0FB64F45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719" y="3996472"/>
            <a:ext cx="3617040" cy="25836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2D7605E8-B0D4-41BE-A5DD-4DF916D60D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7849" y="3996472"/>
            <a:ext cx="5190223" cy="259511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FB93E1B-5BF9-D96D-9F92-83672A01079B}"/>
              </a:ext>
            </a:extLst>
          </p:cNvPr>
          <p:cNvSpPr/>
          <p:nvPr/>
        </p:nvSpPr>
        <p:spPr>
          <a:xfrm>
            <a:off x="4875534" y="-4746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SCAVENGE</a:t>
            </a:r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复现</a:t>
            </a:r>
          </a:p>
        </p:txBody>
      </p:sp>
    </p:spTree>
    <p:extLst>
      <p:ext uri="{BB962C8B-B14F-4D97-AF65-F5344CB8AC3E}">
        <p14:creationId xmlns:p14="http://schemas.microsoft.com/office/powerpoint/2010/main" val="91966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796"/>
    </mc:Choice>
    <mc:Fallback xmlns:a14="http://schemas.microsoft.com/office/drawing/2010/main" xmlns="">
      <p:transition spd="slow" advTm="7379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5270-3154-E585-B9D1-7DBA70CF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3CE23C-BEDF-5AEC-E545-27903BE6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91C7A6-86B7-16AC-C05C-5879C4FF9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38824C2-8F4B-EC3E-F580-23FCA45F2AE3}"/>
              </a:ext>
            </a:extLst>
          </p:cNvPr>
          <p:cNvSpPr/>
          <p:nvPr/>
        </p:nvSpPr>
        <p:spPr>
          <a:xfrm>
            <a:off x="7330135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多组学融合改进</a:t>
            </a:r>
          </a:p>
        </p:txBody>
      </p:sp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3CDF4C8F-AE96-EFA5-AADD-07EAE9010746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F2EA87B-32D9-849D-7858-13E7BCF1E73E}"/>
              </a:ext>
            </a:extLst>
          </p:cNvPr>
          <p:cNvSpPr/>
          <p:nvPr/>
        </p:nvSpPr>
        <p:spPr>
          <a:xfrm>
            <a:off x="267402" y="1324781"/>
            <a:ext cx="4316710" cy="5202033"/>
          </a:xfrm>
          <a:prstGeom prst="roundRect">
            <a:avLst>
              <a:gd name="adj" fmla="val 3704"/>
            </a:avLst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DB73BD-69ED-8703-6FDE-196FCEF35916}"/>
              </a:ext>
            </a:extLst>
          </p:cNvPr>
          <p:cNvSpPr txBox="1"/>
          <p:nvPr/>
        </p:nvSpPr>
        <p:spPr>
          <a:xfrm>
            <a:off x="535523" y="1199985"/>
            <a:ext cx="3733162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BMMC</a:t>
            </a:r>
            <a:r>
              <a:rPr lang="zh-CN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数据集上的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ATAC-only baseline</a:t>
            </a:r>
            <a:r>
              <a:rPr lang="zh-CN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实验</a:t>
            </a:r>
            <a:endParaRPr lang="zh-CN" altLang="en-US" sz="1600" b="1" dirty="0">
              <a:latin typeface="Calibri" panose="020F050202020403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45" name="文本框 1344">
            <a:extLst>
              <a:ext uri="{FF2B5EF4-FFF2-40B4-BE49-F238E27FC236}">
                <a16:creationId xmlns:a16="http://schemas.microsoft.com/office/drawing/2014/main" id="{EEB02510-13D4-4D9D-1E96-998A5C59F192}"/>
              </a:ext>
            </a:extLst>
          </p:cNvPr>
          <p:cNvSpPr txBox="1"/>
          <p:nvPr/>
        </p:nvSpPr>
        <p:spPr>
          <a:xfrm>
            <a:off x="267401" y="727714"/>
            <a:ext cx="97389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 </a:t>
            </a:r>
            <a:r>
              <a:rPr lang="en-US" altLang="zh-CN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ATAC-only </a:t>
            </a: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基线实验：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原方法局限</a:t>
            </a:r>
          </a:p>
        </p:txBody>
      </p:sp>
      <p:sp>
        <p:nvSpPr>
          <p:cNvPr id="1346" name="矩形: 圆角 1345">
            <a:extLst>
              <a:ext uri="{FF2B5EF4-FFF2-40B4-BE49-F238E27FC236}">
                <a16:creationId xmlns:a16="http://schemas.microsoft.com/office/drawing/2014/main" id="{D8E1B249-8CB2-7ED8-6B69-94FD728C65B0}"/>
              </a:ext>
            </a:extLst>
          </p:cNvPr>
          <p:cNvSpPr/>
          <p:nvPr/>
        </p:nvSpPr>
        <p:spPr>
          <a:xfrm>
            <a:off x="409823" y="1587088"/>
            <a:ext cx="4037187" cy="2596644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B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7" name="文本框 1346">
            <a:extLst>
              <a:ext uri="{FF2B5EF4-FFF2-40B4-BE49-F238E27FC236}">
                <a16:creationId xmlns:a16="http://schemas.microsoft.com/office/drawing/2014/main" id="{4BC3B874-69D0-5E37-63B8-63B653DB0468}"/>
              </a:ext>
            </a:extLst>
          </p:cNvPr>
          <p:cNvSpPr txBox="1"/>
          <p:nvPr/>
        </p:nvSpPr>
        <p:spPr>
          <a:xfrm>
            <a:off x="1888088" y="1471526"/>
            <a:ext cx="1028032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实验设置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348" name="文本框 1347">
            <a:extLst>
              <a:ext uri="{FF2B5EF4-FFF2-40B4-BE49-F238E27FC236}">
                <a16:creationId xmlns:a16="http://schemas.microsoft.com/office/drawing/2014/main" id="{78E39359-C1A9-0E06-8F76-57C815D5F14A}"/>
              </a:ext>
            </a:extLst>
          </p:cNvPr>
          <p:cNvSpPr txBox="1"/>
          <p:nvPr/>
        </p:nvSpPr>
        <p:spPr>
          <a:xfrm>
            <a:off x="604858" y="1759756"/>
            <a:ext cx="3690850" cy="98488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r>
              <a:rPr lang="zh-CN" altLang="en-US" sz="1600" b="1" dirty="0"/>
              <a:t>数据集：</a:t>
            </a:r>
            <a:r>
              <a:rPr lang="en-US" altLang="zh-CN" sz="1600" dirty="0"/>
              <a:t>BMMC </a:t>
            </a:r>
            <a:r>
              <a:rPr lang="zh-CN" altLang="en-US" sz="1600" dirty="0"/>
              <a:t>配对多组学数据</a:t>
            </a:r>
          </a:p>
          <a:p>
            <a:r>
              <a:rPr lang="zh-CN" altLang="en-US" sz="1600" b="1" dirty="0"/>
              <a:t>输入：</a:t>
            </a:r>
            <a:r>
              <a:rPr lang="zh-CN" altLang="en-US" sz="1600" dirty="0"/>
              <a:t>仅使用 </a:t>
            </a:r>
            <a:r>
              <a:rPr lang="en-US" altLang="zh-CN" sz="1600" dirty="0"/>
              <a:t>ATAC peak </a:t>
            </a:r>
            <a:r>
              <a:rPr lang="zh-CN" altLang="en-US" sz="1600" dirty="0"/>
              <a:t>计数矩阵</a:t>
            </a:r>
          </a:p>
          <a:p>
            <a:r>
              <a:rPr lang="zh-CN" altLang="en-US" sz="1600" b="1" dirty="0"/>
              <a:t>评价：</a:t>
            </a:r>
            <a:r>
              <a:rPr lang="en-US" altLang="zh-CN" sz="1600" dirty="0"/>
              <a:t>AUROC</a:t>
            </a:r>
          </a:p>
          <a:p>
            <a:r>
              <a:rPr lang="zh-CN" altLang="en-US" sz="1600" b="1" dirty="0"/>
              <a:t>流程：</a:t>
            </a:r>
            <a:r>
              <a:rPr lang="zh-CN" altLang="en-US" sz="1600" dirty="0"/>
              <a:t>原始</a:t>
            </a:r>
            <a:r>
              <a:rPr lang="en-US" altLang="zh-CN" sz="1600" dirty="0"/>
              <a:t>SCAVENGE</a:t>
            </a:r>
            <a:r>
              <a:rPr lang="zh-CN" altLang="en-US" sz="1600" dirty="0"/>
              <a:t>流程</a:t>
            </a:r>
            <a:endParaRPr lang="en-US" altLang="zh-CN" sz="1600" dirty="0"/>
          </a:p>
        </p:txBody>
      </p:sp>
      <p:sp>
        <p:nvSpPr>
          <p:cNvPr id="1349" name="矩形: 圆角 1348">
            <a:extLst>
              <a:ext uri="{FF2B5EF4-FFF2-40B4-BE49-F238E27FC236}">
                <a16:creationId xmlns:a16="http://schemas.microsoft.com/office/drawing/2014/main" id="{74C03BE5-6EDD-D3FF-FC70-D423C6C07A34}"/>
              </a:ext>
            </a:extLst>
          </p:cNvPr>
          <p:cNvSpPr/>
          <p:nvPr/>
        </p:nvSpPr>
        <p:spPr>
          <a:xfrm>
            <a:off x="406291" y="4319134"/>
            <a:ext cx="4037186" cy="2129058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B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0" name="文本框 1349">
            <a:extLst>
              <a:ext uri="{FF2B5EF4-FFF2-40B4-BE49-F238E27FC236}">
                <a16:creationId xmlns:a16="http://schemas.microsoft.com/office/drawing/2014/main" id="{F84D016B-54E1-2F12-E3E0-741814B7EB01}"/>
              </a:ext>
            </a:extLst>
          </p:cNvPr>
          <p:cNvSpPr txBox="1"/>
          <p:nvPr/>
        </p:nvSpPr>
        <p:spPr>
          <a:xfrm>
            <a:off x="1932735" y="4223501"/>
            <a:ext cx="1028032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实验结果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graphicFrame>
        <p:nvGraphicFramePr>
          <p:cNvPr id="1352" name="表格 1351">
            <a:extLst>
              <a:ext uri="{FF2B5EF4-FFF2-40B4-BE49-F238E27FC236}">
                <a16:creationId xmlns:a16="http://schemas.microsoft.com/office/drawing/2014/main" id="{B5CED9B1-9609-5304-9F79-FABDBB91A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511653"/>
              </p:ext>
            </p:extLst>
          </p:nvPr>
        </p:nvGraphicFramePr>
        <p:xfrm>
          <a:off x="458886" y="4462974"/>
          <a:ext cx="3926677" cy="12290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4345">
                  <a:extLst>
                    <a:ext uri="{9D8B030D-6E8A-4147-A177-3AD203B41FA5}">
                      <a16:colId xmlns:a16="http://schemas.microsoft.com/office/drawing/2014/main" val="3212502280"/>
                    </a:ext>
                  </a:extLst>
                </a:gridCol>
                <a:gridCol w="1184115">
                  <a:extLst>
                    <a:ext uri="{9D8B030D-6E8A-4147-A177-3AD203B41FA5}">
                      <a16:colId xmlns:a16="http://schemas.microsoft.com/office/drawing/2014/main" val="3457807922"/>
                    </a:ext>
                  </a:extLst>
                </a:gridCol>
                <a:gridCol w="967027">
                  <a:extLst>
                    <a:ext uri="{9D8B030D-6E8A-4147-A177-3AD203B41FA5}">
                      <a16:colId xmlns:a16="http://schemas.microsoft.com/office/drawing/2014/main" val="508585641"/>
                    </a:ext>
                  </a:extLst>
                </a:gridCol>
                <a:gridCol w="695736">
                  <a:extLst>
                    <a:ext uri="{9D8B030D-6E8A-4147-A177-3AD203B41FA5}">
                      <a16:colId xmlns:a16="http://schemas.microsoft.com/office/drawing/2014/main" val="1445093941"/>
                    </a:ext>
                  </a:extLst>
                </a:gridCol>
                <a:gridCol w="555454">
                  <a:extLst>
                    <a:ext uri="{9D8B030D-6E8A-4147-A177-3AD203B41FA5}">
                      <a16:colId xmlns:a16="http://schemas.microsoft.com/office/drawing/2014/main" val="2515019457"/>
                    </a:ext>
                  </a:extLst>
                </a:gridCol>
              </a:tblGrid>
              <a:tr h="31576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050" b="1" kern="100" dirty="0">
                          <a:solidFill>
                            <a:srgbClr val="1E2022"/>
                          </a:solidFill>
                          <a:effectLst/>
                        </a:rPr>
                        <a:t>性状</a:t>
                      </a:r>
                      <a:endParaRPr lang="zh-CN" sz="105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381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50" b="1" kern="100" dirty="0">
                          <a:solidFill>
                            <a:srgbClr val="1E2022"/>
                          </a:solidFill>
                          <a:effectLst/>
                        </a:rPr>
                        <a:t>TRS</a:t>
                      </a:r>
                      <a:r>
                        <a:rPr lang="zh-CN" sz="1050" b="1" kern="100" dirty="0">
                          <a:solidFill>
                            <a:srgbClr val="1E2022"/>
                          </a:solidFill>
                          <a:effectLst/>
                        </a:rPr>
                        <a:t>前</a:t>
                      </a:r>
                      <a:r>
                        <a:rPr lang="en-US" sz="1050" b="1" kern="100" dirty="0">
                          <a:solidFill>
                            <a:srgbClr val="1E2022"/>
                          </a:solidFill>
                          <a:effectLst/>
                        </a:rPr>
                        <a:t>5%</a:t>
                      </a:r>
                      <a:r>
                        <a:rPr lang="zh-CN" sz="1050" b="1" kern="100" dirty="0">
                          <a:solidFill>
                            <a:srgbClr val="1E2022"/>
                          </a:solidFill>
                          <a:effectLst/>
                        </a:rPr>
                        <a:t>中靶比例</a:t>
                      </a:r>
                      <a:endParaRPr lang="zh-CN" sz="105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381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050" b="1" kern="100" dirty="0">
                          <a:solidFill>
                            <a:srgbClr val="1E2022"/>
                          </a:solidFill>
                          <a:effectLst/>
                        </a:rPr>
                        <a:t>背景中靶比例</a:t>
                      </a:r>
                      <a:endParaRPr lang="zh-CN" sz="105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381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050" b="1" kern="100" dirty="0">
                          <a:solidFill>
                            <a:srgbClr val="1E2022"/>
                          </a:solidFill>
                          <a:effectLst/>
                        </a:rPr>
                        <a:t>富集倍数</a:t>
                      </a:r>
                      <a:endParaRPr lang="zh-CN" sz="105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381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50" b="1" kern="100" dirty="0">
                          <a:solidFill>
                            <a:srgbClr val="1E2022"/>
                          </a:solidFill>
                          <a:effectLst/>
                        </a:rPr>
                        <a:t>AUROC</a:t>
                      </a:r>
                      <a:endParaRPr lang="zh-CN" sz="105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381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61485"/>
                  </a:ext>
                </a:extLst>
              </a:tr>
              <a:tr h="3046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50" kern="100" dirty="0">
                          <a:solidFill>
                            <a:srgbClr val="C00000"/>
                          </a:solidFill>
                          <a:effectLst/>
                        </a:rPr>
                        <a:t>MONO</a:t>
                      </a:r>
                      <a:endParaRPr lang="zh-CN" sz="1050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381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C00000"/>
                          </a:solidFill>
                          <a:effectLst/>
                        </a:rPr>
                        <a:t>20.9%</a:t>
                      </a:r>
                      <a:endParaRPr lang="zh-CN" sz="14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381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C00000"/>
                          </a:solidFill>
                          <a:effectLst/>
                        </a:rPr>
                        <a:t>18.4%</a:t>
                      </a:r>
                      <a:endParaRPr lang="zh-CN" sz="14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381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C00000"/>
                          </a:solidFill>
                          <a:effectLst/>
                        </a:rPr>
                        <a:t>1.13×</a:t>
                      </a:r>
                      <a:endParaRPr lang="zh-CN" sz="14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381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C00000"/>
                          </a:solidFill>
                          <a:effectLst/>
                        </a:rPr>
                        <a:t>0.532</a:t>
                      </a:r>
                      <a:endParaRPr lang="zh-CN" sz="14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381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85880"/>
                  </a:ext>
                </a:extLst>
              </a:tr>
              <a:tr h="3223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50" kern="100" dirty="0">
                          <a:solidFill>
                            <a:srgbClr val="1E2022"/>
                          </a:solidFill>
                          <a:effectLst/>
                        </a:rPr>
                        <a:t>PLT</a:t>
                      </a:r>
                      <a:endParaRPr lang="zh-CN" sz="1050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1E2022"/>
                          </a:solidFill>
                          <a:effectLst/>
                        </a:rPr>
                        <a:t>48.7%</a:t>
                      </a:r>
                      <a:endParaRPr lang="zh-CN" sz="140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1E2022"/>
                          </a:solidFill>
                          <a:effectLst/>
                        </a:rPr>
                        <a:t>14.3%</a:t>
                      </a:r>
                      <a:endParaRPr lang="zh-CN" sz="140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1E2022"/>
                          </a:solidFill>
                          <a:effectLst/>
                        </a:rPr>
                        <a:t>3.42</a:t>
                      </a:r>
                      <a:r>
                        <a:rPr lang="zh-CN" sz="1400" b="1" kern="100" dirty="0">
                          <a:solidFill>
                            <a:srgbClr val="1E2022"/>
                          </a:solidFill>
                          <a:effectLst/>
                        </a:rPr>
                        <a:t>×</a:t>
                      </a:r>
                      <a:endParaRPr lang="zh-CN" sz="140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1E2022"/>
                          </a:solidFill>
                          <a:effectLst/>
                        </a:rPr>
                        <a:t>0.663</a:t>
                      </a:r>
                      <a:endParaRPr lang="zh-CN" sz="140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506489"/>
                  </a:ext>
                </a:extLst>
              </a:tr>
              <a:tr h="2776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50" kern="100" dirty="0">
                          <a:solidFill>
                            <a:srgbClr val="1E2022"/>
                          </a:solidFill>
                          <a:effectLst/>
                        </a:rPr>
                        <a:t>LYM</a:t>
                      </a:r>
                      <a:endParaRPr lang="zh-CN" sz="1050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1E2022"/>
                          </a:solidFill>
                          <a:effectLst/>
                        </a:rPr>
                        <a:t>36.9%</a:t>
                      </a:r>
                      <a:endParaRPr lang="zh-CN" sz="140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1E2022"/>
                          </a:solidFill>
                          <a:effectLst/>
                        </a:rPr>
                        <a:t>17.2%</a:t>
                      </a:r>
                      <a:endParaRPr lang="zh-CN" sz="140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1E2022"/>
                          </a:solidFill>
                          <a:effectLst/>
                        </a:rPr>
                        <a:t>2.15</a:t>
                      </a:r>
                      <a:r>
                        <a:rPr lang="zh-CN" sz="1400" b="1" kern="100" dirty="0">
                          <a:solidFill>
                            <a:srgbClr val="1E2022"/>
                          </a:solidFill>
                          <a:effectLst/>
                        </a:rPr>
                        <a:t>×</a:t>
                      </a:r>
                      <a:endParaRPr lang="zh-CN" sz="140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rgbClr val="1E2022"/>
                          </a:solidFill>
                          <a:effectLst/>
                        </a:rPr>
                        <a:t>0.642</a:t>
                      </a:r>
                      <a:endParaRPr lang="zh-CN" sz="1400" b="1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171682"/>
                  </a:ext>
                </a:extLst>
              </a:tr>
            </a:tbl>
          </a:graphicData>
        </a:graphic>
      </p:graphicFrame>
      <p:pic>
        <p:nvPicPr>
          <p:cNvPr id="1354" name="图片 1353">
            <a:extLst>
              <a:ext uri="{FF2B5EF4-FFF2-40B4-BE49-F238E27FC236}">
                <a16:creationId xmlns:a16="http://schemas.microsoft.com/office/drawing/2014/main" id="{72B2442D-7B2A-8364-1403-8EF44D648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58" y="2756691"/>
            <a:ext cx="1683286" cy="1419823"/>
          </a:xfrm>
          <a:prstGeom prst="rect">
            <a:avLst/>
          </a:prstGeom>
        </p:spPr>
      </p:pic>
      <p:sp>
        <p:nvSpPr>
          <p:cNvPr id="1355" name="椭圆 1354">
            <a:extLst>
              <a:ext uri="{FF2B5EF4-FFF2-40B4-BE49-F238E27FC236}">
                <a16:creationId xmlns:a16="http://schemas.microsoft.com/office/drawing/2014/main" id="{CFE28332-1028-1630-AD67-BD299D71893F}"/>
              </a:ext>
            </a:extLst>
          </p:cNvPr>
          <p:cNvSpPr/>
          <p:nvPr/>
        </p:nvSpPr>
        <p:spPr>
          <a:xfrm>
            <a:off x="3831685" y="4835254"/>
            <a:ext cx="581916" cy="30498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6" name="矩形: 圆角 1355">
            <a:extLst>
              <a:ext uri="{FF2B5EF4-FFF2-40B4-BE49-F238E27FC236}">
                <a16:creationId xmlns:a16="http://schemas.microsoft.com/office/drawing/2014/main" id="{14CE5CC7-B94D-DE27-F085-FC63F28CC517}"/>
              </a:ext>
            </a:extLst>
          </p:cNvPr>
          <p:cNvSpPr/>
          <p:nvPr/>
        </p:nvSpPr>
        <p:spPr>
          <a:xfrm>
            <a:off x="458886" y="5810396"/>
            <a:ext cx="3926677" cy="4945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C00000"/>
                </a:solidFill>
              </a:rPr>
              <a:t>        MONO </a:t>
            </a:r>
            <a:r>
              <a:rPr lang="zh-CN" altLang="en-US" sz="1600" dirty="0">
                <a:solidFill>
                  <a:srgbClr val="C00000"/>
                </a:solidFill>
              </a:rPr>
              <a:t>接近随机水平，提示 </a:t>
            </a:r>
            <a:r>
              <a:rPr lang="en-US" altLang="zh-CN" sz="1600" dirty="0">
                <a:solidFill>
                  <a:srgbClr val="C00000"/>
                </a:solidFill>
              </a:rPr>
              <a:t>ATAC </a:t>
            </a:r>
            <a:r>
              <a:rPr lang="zh-CN" altLang="en-US" sz="1600" dirty="0">
                <a:solidFill>
                  <a:srgbClr val="C00000"/>
                </a:solidFill>
              </a:rPr>
              <a:t>单模态流程在部分性状上识别能力不足。</a:t>
            </a:r>
          </a:p>
        </p:txBody>
      </p:sp>
      <p:cxnSp>
        <p:nvCxnSpPr>
          <p:cNvPr id="1358" name="直接箭头连接符 1357">
            <a:extLst>
              <a:ext uri="{FF2B5EF4-FFF2-40B4-BE49-F238E27FC236}">
                <a16:creationId xmlns:a16="http://schemas.microsoft.com/office/drawing/2014/main" id="{707306F6-42F8-3BB8-C6EC-85F165985174}"/>
              </a:ext>
            </a:extLst>
          </p:cNvPr>
          <p:cNvCxnSpPr>
            <a:stCxn id="1355" idx="3"/>
            <a:endCxn id="1356" idx="0"/>
          </p:cNvCxnSpPr>
          <p:nvPr/>
        </p:nvCxnSpPr>
        <p:spPr>
          <a:xfrm flipH="1">
            <a:off x="2422225" y="5095571"/>
            <a:ext cx="1494680" cy="7148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9" name="矩形: 圆角 1358">
            <a:extLst>
              <a:ext uri="{FF2B5EF4-FFF2-40B4-BE49-F238E27FC236}">
                <a16:creationId xmlns:a16="http://schemas.microsoft.com/office/drawing/2014/main" id="{22197535-9532-3897-CFC5-5CA4176EFB21}"/>
              </a:ext>
            </a:extLst>
          </p:cNvPr>
          <p:cNvSpPr/>
          <p:nvPr/>
        </p:nvSpPr>
        <p:spPr>
          <a:xfrm>
            <a:off x="2737375" y="2886498"/>
            <a:ext cx="1492593" cy="5121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i="1" dirty="0">
                <a:solidFill>
                  <a:schemeClr val="accent1"/>
                </a:solidFill>
              </a:rPr>
              <a:t>SCAVENGE</a:t>
            </a:r>
            <a:endParaRPr lang="zh-CN" altLang="en-US" sz="2000" b="1" i="1" dirty="0">
              <a:solidFill>
                <a:schemeClr val="accent1"/>
              </a:solidFill>
            </a:endParaRPr>
          </a:p>
        </p:txBody>
      </p:sp>
      <p:sp>
        <p:nvSpPr>
          <p:cNvPr id="1360" name="箭头: 右 1359">
            <a:extLst>
              <a:ext uri="{FF2B5EF4-FFF2-40B4-BE49-F238E27FC236}">
                <a16:creationId xmlns:a16="http://schemas.microsoft.com/office/drawing/2014/main" id="{B038710A-AE8F-688F-B4E0-D7477CD70F8B}"/>
              </a:ext>
            </a:extLst>
          </p:cNvPr>
          <p:cNvSpPr/>
          <p:nvPr/>
        </p:nvSpPr>
        <p:spPr>
          <a:xfrm>
            <a:off x="2281955" y="3037041"/>
            <a:ext cx="402447" cy="2256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3" name="箭头: 下 1362">
            <a:extLst>
              <a:ext uri="{FF2B5EF4-FFF2-40B4-BE49-F238E27FC236}">
                <a16:creationId xmlns:a16="http://schemas.microsoft.com/office/drawing/2014/main" id="{7E9C6F5E-D67D-46DB-6F6C-B25C16D4A4E7}"/>
              </a:ext>
            </a:extLst>
          </p:cNvPr>
          <p:cNvSpPr/>
          <p:nvPr/>
        </p:nvSpPr>
        <p:spPr>
          <a:xfrm>
            <a:off x="3358681" y="3427093"/>
            <a:ext cx="249980" cy="2495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64" name="矩形: 圆角 1363">
            <a:extLst>
              <a:ext uri="{FF2B5EF4-FFF2-40B4-BE49-F238E27FC236}">
                <a16:creationId xmlns:a16="http://schemas.microsoft.com/office/drawing/2014/main" id="{AC0C4C2B-FA44-783C-45E5-3D665E5AA950}"/>
              </a:ext>
            </a:extLst>
          </p:cNvPr>
          <p:cNvSpPr/>
          <p:nvPr/>
        </p:nvSpPr>
        <p:spPr>
          <a:xfrm>
            <a:off x="3133633" y="3703489"/>
            <a:ext cx="705358" cy="42981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i="1" dirty="0">
                <a:solidFill>
                  <a:schemeClr val="accent1"/>
                </a:solidFill>
              </a:rPr>
              <a:t>TRS</a:t>
            </a:r>
            <a:endParaRPr lang="zh-CN" altLang="en-US" sz="2000" b="1" i="1" dirty="0">
              <a:solidFill>
                <a:schemeClr val="accent1"/>
              </a:solidFill>
            </a:endParaRPr>
          </a:p>
        </p:txBody>
      </p:sp>
      <p:sp>
        <p:nvSpPr>
          <p:cNvPr id="1366" name="箭头: 下 1365">
            <a:extLst>
              <a:ext uri="{FF2B5EF4-FFF2-40B4-BE49-F238E27FC236}">
                <a16:creationId xmlns:a16="http://schemas.microsoft.com/office/drawing/2014/main" id="{0B806D69-042C-86B6-4152-62D2AB0D2555}"/>
              </a:ext>
            </a:extLst>
          </p:cNvPr>
          <p:cNvSpPr/>
          <p:nvPr/>
        </p:nvSpPr>
        <p:spPr>
          <a:xfrm>
            <a:off x="3350309" y="4176514"/>
            <a:ext cx="249980" cy="2495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75" name="矩形 1374">
            <a:extLst>
              <a:ext uri="{FF2B5EF4-FFF2-40B4-BE49-F238E27FC236}">
                <a16:creationId xmlns:a16="http://schemas.microsoft.com/office/drawing/2014/main" id="{CB78A7EC-1D5B-CCBD-74B4-C2B70DD2C9BB}"/>
              </a:ext>
            </a:extLst>
          </p:cNvPr>
          <p:cNvSpPr/>
          <p:nvPr/>
        </p:nvSpPr>
        <p:spPr>
          <a:xfrm>
            <a:off x="4762393" y="1336879"/>
            <a:ext cx="7110335" cy="520203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DDD0A236-E475-A2CB-0001-6B910C758442}"/>
              </a:ext>
            </a:extLst>
          </p:cNvPr>
          <p:cNvSpPr txBox="1"/>
          <p:nvPr/>
        </p:nvSpPr>
        <p:spPr>
          <a:xfrm>
            <a:off x="7036012" y="1197880"/>
            <a:ext cx="256309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SCAVENGE</a:t>
            </a:r>
            <a:r>
              <a:rPr lang="zh-CN" altLang="en-US" sz="1600" b="1" dirty="0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原始流程局限性</a:t>
            </a:r>
          </a:p>
        </p:txBody>
      </p:sp>
      <p:sp>
        <p:nvSpPr>
          <p:cNvPr id="1377" name="矩形: 圆角 1376">
            <a:extLst>
              <a:ext uri="{FF2B5EF4-FFF2-40B4-BE49-F238E27FC236}">
                <a16:creationId xmlns:a16="http://schemas.microsoft.com/office/drawing/2014/main" id="{530C6563-5AA5-C41B-DA81-84286A4E5456}"/>
              </a:ext>
            </a:extLst>
          </p:cNvPr>
          <p:cNvSpPr/>
          <p:nvPr/>
        </p:nvSpPr>
        <p:spPr>
          <a:xfrm>
            <a:off x="4951611" y="1530979"/>
            <a:ext cx="6630012" cy="3601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</a:rPr>
              <a:t>1. g-</a:t>
            </a:r>
            <a:r>
              <a:rPr lang="en-US" altLang="zh-CN" sz="1600" b="1" dirty="0" err="1">
                <a:solidFill>
                  <a:schemeClr val="tx1"/>
                </a:solidFill>
              </a:rPr>
              <a:t>chromVAR</a:t>
            </a:r>
            <a:r>
              <a:rPr lang="en-US" altLang="zh-CN" sz="1600" b="1" dirty="0">
                <a:solidFill>
                  <a:schemeClr val="tx1"/>
                </a:solidFill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</a:rPr>
              <a:t>选出来的高 </a:t>
            </a:r>
            <a:r>
              <a:rPr lang="en-US" altLang="zh-CN" sz="1600" b="1" dirty="0">
                <a:solidFill>
                  <a:schemeClr val="tx1"/>
                </a:solidFill>
              </a:rPr>
              <a:t>z-score </a:t>
            </a:r>
            <a:r>
              <a:rPr lang="zh-CN" altLang="en-US" sz="1600" b="1" dirty="0">
                <a:solidFill>
                  <a:schemeClr val="tx1"/>
                </a:solidFill>
              </a:rPr>
              <a:t>细胞，不一定是真正的性状相关细胞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90" name="表格 1489">
            <a:extLst>
              <a:ext uri="{FF2B5EF4-FFF2-40B4-BE49-F238E27FC236}">
                <a16:creationId xmlns:a16="http://schemas.microsoft.com/office/drawing/2014/main" id="{B2B5F708-7404-F6B3-B060-B4DB6B7F4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376792"/>
              </p:ext>
            </p:extLst>
          </p:nvPr>
        </p:nvGraphicFramePr>
        <p:xfrm>
          <a:off x="5024951" y="1898580"/>
          <a:ext cx="6702723" cy="1675869"/>
        </p:xfrm>
        <a:graphic>
          <a:graphicData uri="http://schemas.openxmlformats.org/drawingml/2006/table">
            <a:tbl>
              <a:tblPr/>
              <a:tblGrid>
                <a:gridCol w="1138714">
                  <a:extLst>
                    <a:ext uri="{9D8B030D-6E8A-4147-A177-3AD203B41FA5}">
                      <a16:colId xmlns:a16="http://schemas.microsoft.com/office/drawing/2014/main" val="1075729053"/>
                    </a:ext>
                  </a:extLst>
                </a:gridCol>
                <a:gridCol w="1370547">
                  <a:extLst>
                    <a:ext uri="{9D8B030D-6E8A-4147-A177-3AD203B41FA5}">
                      <a16:colId xmlns:a16="http://schemas.microsoft.com/office/drawing/2014/main" val="3488414125"/>
                    </a:ext>
                  </a:extLst>
                </a:gridCol>
                <a:gridCol w="1084164">
                  <a:extLst>
                    <a:ext uri="{9D8B030D-6E8A-4147-A177-3AD203B41FA5}">
                      <a16:colId xmlns:a16="http://schemas.microsoft.com/office/drawing/2014/main" val="1516983776"/>
                    </a:ext>
                  </a:extLst>
                </a:gridCol>
                <a:gridCol w="933173">
                  <a:extLst>
                    <a:ext uri="{9D8B030D-6E8A-4147-A177-3AD203B41FA5}">
                      <a16:colId xmlns:a16="http://schemas.microsoft.com/office/drawing/2014/main" val="2307893363"/>
                    </a:ext>
                  </a:extLst>
                </a:gridCol>
                <a:gridCol w="2176125">
                  <a:extLst>
                    <a:ext uri="{9D8B030D-6E8A-4147-A177-3AD203B41FA5}">
                      <a16:colId xmlns:a16="http://schemas.microsoft.com/office/drawing/2014/main" val="2825882046"/>
                    </a:ext>
                  </a:extLst>
                </a:gridCol>
              </a:tblGrid>
              <a:tr h="278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细胞类型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MONO 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性状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PLT 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性状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LYM </a:t>
                      </a:r>
                      <a:r>
                        <a:rPr lang="zh-CN" altLang="en-US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性状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49381"/>
                  </a:ext>
                </a:extLst>
              </a:tr>
              <a:tr h="456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CD14⁺ Mono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16.2%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19.7%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20.2%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三个性状中均排名靠前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97938"/>
                  </a:ext>
                </a:extLst>
              </a:tr>
              <a:tr h="278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CD8⁺ T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14.3%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13.0%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10.5%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不同性状中反复高分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484654"/>
                  </a:ext>
                </a:extLst>
              </a:tr>
              <a:tr h="278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10.8%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9.8%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多性状重复出现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214312"/>
                  </a:ext>
                </a:extLst>
              </a:tr>
              <a:tr h="278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MK/E prog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1.0%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PLT 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目标细胞占比很低</a:t>
                      </a:r>
                    </a:p>
                  </a:txBody>
                  <a:tcPr anchor="ctr">
                    <a:lnL>
                      <a:solidFill>
                        <a:srgbClr val="1E2022"/>
                      </a:solidFill>
                      <a:prstDash val="soli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>
                      <a:solidFill>
                        <a:srgbClr val="1E2022"/>
                      </a:solidFill>
                      <a:prstDash val="soli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293172"/>
                  </a:ext>
                </a:extLst>
              </a:tr>
            </a:tbl>
          </a:graphicData>
        </a:graphic>
      </p:graphicFrame>
      <p:sp>
        <p:nvSpPr>
          <p:cNvPr id="1491" name="矩形: 圆角 1490">
            <a:extLst>
              <a:ext uri="{FF2B5EF4-FFF2-40B4-BE49-F238E27FC236}">
                <a16:creationId xmlns:a16="http://schemas.microsoft.com/office/drawing/2014/main" id="{2419450A-E7A2-6800-A592-7C619B65074E}"/>
              </a:ext>
            </a:extLst>
          </p:cNvPr>
          <p:cNvSpPr/>
          <p:nvPr/>
        </p:nvSpPr>
        <p:spPr>
          <a:xfrm>
            <a:off x="5292499" y="3571351"/>
            <a:ext cx="5912461" cy="3601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</a:rPr>
              <a:t>g-</a:t>
            </a:r>
            <a:r>
              <a:rPr lang="en-US" altLang="zh-CN" sz="1400" i="1" dirty="0" err="1">
                <a:solidFill>
                  <a:schemeClr val="tx1"/>
                </a:solidFill>
              </a:rPr>
              <a:t>chromVAR</a:t>
            </a:r>
            <a:r>
              <a:rPr lang="en-US" altLang="zh-CN" sz="1400" i="1" dirty="0">
                <a:solidFill>
                  <a:schemeClr val="tx1"/>
                </a:solidFill>
              </a:rPr>
              <a:t>  z</a:t>
            </a:r>
            <a:r>
              <a:rPr lang="zh-CN" altLang="zh-CN" sz="1400" i="1" dirty="0">
                <a:solidFill>
                  <a:schemeClr val="tx1"/>
                </a:solidFill>
              </a:rPr>
              <a:t>分数前</a:t>
            </a:r>
            <a:r>
              <a:rPr lang="en-US" altLang="zh-CN" sz="1400" i="1" dirty="0">
                <a:solidFill>
                  <a:schemeClr val="tx1"/>
                </a:solidFill>
              </a:rPr>
              <a:t>1%</a:t>
            </a:r>
            <a:r>
              <a:rPr lang="zh-CN" altLang="zh-CN" sz="1400" i="1" dirty="0">
                <a:solidFill>
                  <a:schemeClr val="tx1"/>
                </a:solidFill>
              </a:rPr>
              <a:t>种子细胞的细胞类型分布</a:t>
            </a:r>
            <a:endParaRPr lang="zh-CN" altLang="en-US" sz="1400" i="1" dirty="0">
              <a:solidFill>
                <a:schemeClr val="tx1"/>
              </a:solidFill>
            </a:endParaRPr>
          </a:p>
        </p:txBody>
      </p:sp>
      <p:sp>
        <p:nvSpPr>
          <p:cNvPr id="1492" name="矩形: 圆角 1491">
            <a:extLst>
              <a:ext uri="{FF2B5EF4-FFF2-40B4-BE49-F238E27FC236}">
                <a16:creationId xmlns:a16="http://schemas.microsoft.com/office/drawing/2014/main" id="{FAD44699-2D3B-07BC-56FE-68ACC3E7EA82}"/>
              </a:ext>
            </a:extLst>
          </p:cNvPr>
          <p:cNvSpPr/>
          <p:nvPr/>
        </p:nvSpPr>
        <p:spPr>
          <a:xfrm>
            <a:off x="4875534" y="4717375"/>
            <a:ext cx="6395062" cy="3601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</a:rPr>
              <a:t>2.</a:t>
            </a:r>
            <a:r>
              <a:rPr lang="zh-CN" altLang="en-US" sz="1600" b="1" dirty="0">
                <a:solidFill>
                  <a:schemeClr val="tx1"/>
                </a:solidFill>
              </a:rPr>
              <a:t>原始 </a:t>
            </a:r>
            <a:r>
              <a:rPr lang="en-US" altLang="zh-CN" sz="1600" b="1" dirty="0">
                <a:solidFill>
                  <a:schemeClr val="tx1"/>
                </a:solidFill>
              </a:rPr>
              <a:t>KNN </a:t>
            </a:r>
            <a:r>
              <a:rPr lang="zh-CN" altLang="en-US" sz="1600" b="1" dirty="0">
                <a:solidFill>
                  <a:schemeClr val="tx1"/>
                </a:solidFill>
              </a:rPr>
              <a:t>图是只由 </a:t>
            </a:r>
            <a:r>
              <a:rPr lang="en-US" altLang="zh-CN" sz="1600" b="1" dirty="0">
                <a:solidFill>
                  <a:schemeClr val="tx1"/>
                </a:solidFill>
              </a:rPr>
              <a:t>ATAC </a:t>
            </a:r>
            <a:r>
              <a:rPr lang="zh-CN" altLang="en-US" sz="1600" b="1" dirty="0">
                <a:solidFill>
                  <a:schemeClr val="tx1"/>
                </a:solidFill>
              </a:rPr>
              <a:t>数据构建的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93" name="矩形: 圆角 1492">
            <a:extLst>
              <a:ext uri="{FF2B5EF4-FFF2-40B4-BE49-F238E27FC236}">
                <a16:creationId xmlns:a16="http://schemas.microsoft.com/office/drawing/2014/main" id="{13BE8A84-AF94-F7FD-3E4C-431F47CB102A}"/>
              </a:ext>
            </a:extLst>
          </p:cNvPr>
          <p:cNvSpPr/>
          <p:nvPr/>
        </p:nvSpPr>
        <p:spPr>
          <a:xfrm>
            <a:off x="4831013" y="3909547"/>
            <a:ext cx="1940620" cy="3991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scATAC</a:t>
            </a:r>
            <a:r>
              <a:rPr lang="en-US" altLang="zh-CN" sz="1400" dirty="0">
                <a:solidFill>
                  <a:schemeClr val="tx1"/>
                </a:solidFill>
              </a:rPr>
              <a:t>-seq </a:t>
            </a:r>
            <a:r>
              <a:rPr lang="zh-CN" altLang="en-US" sz="1400" dirty="0">
                <a:solidFill>
                  <a:schemeClr val="tx1"/>
                </a:solidFill>
              </a:rPr>
              <a:t>极度稀疏</a:t>
            </a:r>
          </a:p>
        </p:txBody>
      </p:sp>
      <p:sp>
        <p:nvSpPr>
          <p:cNvPr id="1496" name="矩形: 圆角 1495">
            <a:extLst>
              <a:ext uri="{FF2B5EF4-FFF2-40B4-BE49-F238E27FC236}">
                <a16:creationId xmlns:a16="http://schemas.microsoft.com/office/drawing/2014/main" id="{7F0DA0C7-BD8B-1CD4-6D37-FF3B26144ECC}"/>
              </a:ext>
            </a:extLst>
          </p:cNvPr>
          <p:cNvSpPr/>
          <p:nvPr/>
        </p:nvSpPr>
        <p:spPr>
          <a:xfrm>
            <a:off x="4831013" y="4353573"/>
            <a:ext cx="2277815" cy="3991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全局染色质开放水平干扰</a:t>
            </a:r>
          </a:p>
        </p:txBody>
      </p:sp>
      <p:sp>
        <p:nvSpPr>
          <p:cNvPr id="1498" name="矩形: 圆角 1497">
            <a:extLst>
              <a:ext uri="{FF2B5EF4-FFF2-40B4-BE49-F238E27FC236}">
                <a16:creationId xmlns:a16="http://schemas.microsoft.com/office/drawing/2014/main" id="{DC041B39-16E7-519D-AE7F-4F1EEFAE5A29}"/>
              </a:ext>
            </a:extLst>
          </p:cNvPr>
          <p:cNvSpPr/>
          <p:nvPr/>
        </p:nvSpPr>
        <p:spPr>
          <a:xfrm>
            <a:off x="6689758" y="5106807"/>
            <a:ext cx="1940620" cy="3991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scATAC</a:t>
            </a:r>
            <a:r>
              <a:rPr lang="en-US" altLang="zh-CN" sz="1400" dirty="0">
                <a:solidFill>
                  <a:schemeClr val="tx1"/>
                </a:solidFill>
              </a:rPr>
              <a:t>-seq </a:t>
            </a:r>
            <a:r>
              <a:rPr lang="zh-CN" altLang="en-US" sz="1400" dirty="0">
                <a:solidFill>
                  <a:schemeClr val="tx1"/>
                </a:solidFill>
              </a:rPr>
              <a:t>极度稀疏</a:t>
            </a:r>
          </a:p>
        </p:txBody>
      </p:sp>
      <p:sp>
        <p:nvSpPr>
          <p:cNvPr id="1500" name="矩形: 圆角 1499">
            <a:extLst>
              <a:ext uri="{FF2B5EF4-FFF2-40B4-BE49-F238E27FC236}">
                <a16:creationId xmlns:a16="http://schemas.microsoft.com/office/drawing/2014/main" id="{496696D2-907E-62B4-1F64-2E20EB6BA6A9}"/>
              </a:ext>
            </a:extLst>
          </p:cNvPr>
          <p:cNvSpPr/>
          <p:nvPr/>
        </p:nvSpPr>
        <p:spPr>
          <a:xfrm>
            <a:off x="6689759" y="5566821"/>
            <a:ext cx="1940620" cy="3991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ATAC </a:t>
            </a:r>
            <a:r>
              <a:rPr lang="zh-CN" altLang="en-US" sz="1400" dirty="0">
                <a:solidFill>
                  <a:schemeClr val="tx1"/>
                </a:solidFill>
              </a:rPr>
              <a:t>只反映调控潜能</a:t>
            </a:r>
          </a:p>
        </p:txBody>
      </p:sp>
      <p:sp>
        <p:nvSpPr>
          <p:cNvPr id="1501" name="矩形: 圆角 1500">
            <a:extLst>
              <a:ext uri="{FF2B5EF4-FFF2-40B4-BE49-F238E27FC236}">
                <a16:creationId xmlns:a16="http://schemas.microsoft.com/office/drawing/2014/main" id="{FF9E0585-5C20-9733-6118-E1833FFB9664}"/>
              </a:ext>
            </a:extLst>
          </p:cNvPr>
          <p:cNvSpPr/>
          <p:nvPr/>
        </p:nvSpPr>
        <p:spPr>
          <a:xfrm>
            <a:off x="6689758" y="6031404"/>
            <a:ext cx="2225081" cy="3991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原始图缺乏模态互补能力</a:t>
            </a:r>
          </a:p>
        </p:txBody>
      </p:sp>
      <p:pic>
        <p:nvPicPr>
          <p:cNvPr id="1517" name="图片 1516">
            <a:extLst>
              <a:ext uri="{FF2B5EF4-FFF2-40B4-BE49-F238E27FC236}">
                <a16:creationId xmlns:a16="http://schemas.microsoft.com/office/drawing/2014/main" id="{333A7D16-BCAE-4E56-6A8D-D2EF74337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5178554"/>
            <a:ext cx="1392294" cy="1288613"/>
          </a:xfrm>
          <a:prstGeom prst="rect">
            <a:avLst/>
          </a:prstGeom>
        </p:spPr>
      </p:pic>
      <p:sp>
        <p:nvSpPr>
          <p:cNvPr id="1518" name="矩形: 圆角 1517">
            <a:extLst>
              <a:ext uri="{FF2B5EF4-FFF2-40B4-BE49-F238E27FC236}">
                <a16:creationId xmlns:a16="http://schemas.microsoft.com/office/drawing/2014/main" id="{048B1B63-0C62-95D2-F111-3A7E2945FBF7}"/>
              </a:ext>
            </a:extLst>
          </p:cNvPr>
          <p:cNvSpPr/>
          <p:nvPr/>
        </p:nvSpPr>
        <p:spPr>
          <a:xfrm>
            <a:off x="7200763" y="4143279"/>
            <a:ext cx="1318523" cy="3601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种子细胞偏移</a:t>
            </a:r>
          </a:p>
        </p:txBody>
      </p:sp>
      <p:sp>
        <p:nvSpPr>
          <p:cNvPr id="1519" name="矩形: 圆角 1518">
            <a:extLst>
              <a:ext uri="{FF2B5EF4-FFF2-40B4-BE49-F238E27FC236}">
                <a16:creationId xmlns:a16="http://schemas.microsoft.com/office/drawing/2014/main" id="{533521CA-5FFF-3662-55F0-C55A3D48044D}"/>
              </a:ext>
            </a:extLst>
          </p:cNvPr>
          <p:cNvSpPr/>
          <p:nvPr/>
        </p:nvSpPr>
        <p:spPr>
          <a:xfrm>
            <a:off x="8519286" y="4145785"/>
            <a:ext cx="1833999" cy="3601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网络传播方向偏移</a:t>
            </a:r>
          </a:p>
        </p:txBody>
      </p:sp>
      <p:sp>
        <p:nvSpPr>
          <p:cNvPr id="1520" name="矩形: 圆角 1519">
            <a:extLst>
              <a:ext uri="{FF2B5EF4-FFF2-40B4-BE49-F238E27FC236}">
                <a16:creationId xmlns:a16="http://schemas.microsoft.com/office/drawing/2014/main" id="{AB8B3D0F-C2D4-5AF4-B9E9-13CFBAB2F54F}"/>
              </a:ext>
            </a:extLst>
          </p:cNvPr>
          <p:cNvSpPr/>
          <p:nvPr/>
        </p:nvSpPr>
        <p:spPr>
          <a:xfrm>
            <a:off x="10259265" y="4145785"/>
            <a:ext cx="1622454" cy="3601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TRS </a:t>
            </a:r>
            <a:r>
              <a:rPr lang="zh-CN" altLang="en-US" sz="1400" dirty="0">
                <a:solidFill>
                  <a:schemeClr val="tx1"/>
                </a:solidFill>
              </a:rPr>
              <a:t>评分效果下降</a:t>
            </a:r>
          </a:p>
        </p:txBody>
      </p:sp>
      <p:cxnSp>
        <p:nvCxnSpPr>
          <p:cNvPr id="1522" name="直接箭头连接符 1521">
            <a:extLst>
              <a:ext uri="{FF2B5EF4-FFF2-40B4-BE49-F238E27FC236}">
                <a16:creationId xmlns:a16="http://schemas.microsoft.com/office/drawing/2014/main" id="{7AB92B51-8E4F-D2D6-BA1C-31D907C8FF2C}"/>
              </a:ext>
            </a:extLst>
          </p:cNvPr>
          <p:cNvCxnSpPr>
            <a:stCxn id="1493" idx="3"/>
            <a:endCxn id="1518" idx="1"/>
          </p:cNvCxnSpPr>
          <p:nvPr/>
        </p:nvCxnSpPr>
        <p:spPr>
          <a:xfrm>
            <a:off x="6771633" y="4109144"/>
            <a:ext cx="429130" cy="214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4" name="直接箭头连接符 1523">
            <a:extLst>
              <a:ext uri="{FF2B5EF4-FFF2-40B4-BE49-F238E27FC236}">
                <a16:creationId xmlns:a16="http://schemas.microsoft.com/office/drawing/2014/main" id="{7A74C800-9A24-656A-26EF-3EAABE1D97B6}"/>
              </a:ext>
            </a:extLst>
          </p:cNvPr>
          <p:cNvCxnSpPr>
            <a:stCxn id="1496" idx="3"/>
            <a:endCxn id="1518" idx="1"/>
          </p:cNvCxnSpPr>
          <p:nvPr/>
        </p:nvCxnSpPr>
        <p:spPr>
          <a:xfrm flipV="1">
            <a:off x="7108828" y="4323341"/>
            <a:ext cx="91935" cy="229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8" name="直接箭头连接符 1527">
            <a:extLst>
              <a:ext uri="{FF2B5EF4-FFF2-40B4-BE49-F238E27FC236}">
                <a16:creationId xmlns:a16="http://schemas.microsoft.com/office/drawing/2014/main" id="{D814482A-339E-AE22-0AC9-289C5634EEBB}"/>
              </a:ext>
            </a:extLst>
          </p:cNvPr>
          <p:cNvCxnSpPr/>
          <p:nvPr/>
        </p:nvCxnSpPr>
        <p:spPr>
          <a:xfrm>
            <a:off x="8439150" y="4325847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2" name="直接箭头连接符 1531">
            <a:extLst>
              <a:ext uri="{FF2B5EF4-FFF2-40B4-BE49-F238E27FC236}">
                <a16:creationId xmlns:a16="http://schemas.microsoft.com/office/drawing/2014/main" id="{F7706ABA-84A6-BBA5-A560-1F540B847BAA}"/>
              </a:ext>
            </a:extLst>
          </p:cNvPr>
          <p:cNvCxnSpPr>
            <a:cxnSpLocks/>
          </p:cNvCxnSpPr>
          <p:nvPr/>
        </p:nvCxnSpPr>
        <p:spPr>
          <a:xfrm>
            <a:off x="10155524" y="4308740"/>
            <a:ext cx="2074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4" name="矩形: 圆角 1533">
            <a:extLst>
              <a:ext uri="{FF2B5EF4-FFF2-40B4-BE49-F238E27FC236}">
                <a16:creationId xmlns:a16="http://schemas.microsoft.com/office/drawing/2014/main" id="{F0DDEAC6-AFED-CC9E-CF4B-F0C659E0123A}"/>
              </a:ext>
            </a:extLst>
          </p:cNvPr>
          <p:cNvSpPr/>
          <p:nvPr/>
        </p:nvSpPr>
        <p:spPr>
          <a:xfrm>
            <a:off x="9007259" y="5590956"/>
            <a:ext cx="2865469" cy="3601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结合</a:t>
            </a:r>
            <a:r>
              <a:rPr lang="en-US" altLang="zh-CN" sz="1400" dirty="0">
                <a:solidFill>
                  <a:schemeClr val="tx1"/>
                </a:solidFill>
              </a:rPr>
              <a:t>RNA</a:t>
            </a:r>
            <a:r>
              <a:rPr lang="zh-CN" altLang="en-US" sz="1400" dirty="0">
                <a:solidFill>
                  <a:schemeClr val="tx1"/>
                </a:solidFill>
              </a:rPr>
              <a:t>信息，鲁棒性有提升空间</a:t>
            </a:r>
          </a:p>
        </p:txBody>
      </p:sp>
      <p:cxnSp>
        <p:nvCxnSpPr>
          <p:cNvPr id="1298" name="直接箭头连接符 1297">
            <a:extLst>
              <a:ext uri="{FF2B5EF4-FFF2-40B4-BE49-F238E27FC236}">
                <a16:creationId xmlns:a16="http://schemas.microsoft.com/office/drawing/2014/main" id="{31CE7510-2C68-6926-F672-50CC0E2DE139}"/>
              </a:ext>
            </a:extLst>
          </p:cNvPr>
          <p:cNvCxnSpPr>
            <a:stCxn id="1498" idx="3"/>
            <a:endCxn id="1534" idx="1"/>
          </p:cNvCxnSpPr>
          <p:nvPr/>
        </p:nvCxnSpPr>
        <p:spPr>
          <a:xfrm>
            <a:off x="8630378" y="5306404"/>
            <a:ext cx="376881" cy="46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直接箭头连接符 1299">
            <a:extLst>
              <a:ext uri="{FF2B5EF4-FFF2-40B4-BE49-F238E27FC236}">
                <a16:creationId xmlns:a16="http://schemas.microsoft.com/office/drawing/2014/main" id="{1F05BF37-45DF-5B7C-3899-F4AF23D917CA}"/>
              </a:ext>
            </a:extLst>
          </p:cNvPr>
          <p:cNvCxnSpPr>
            <a:stCxn id="1500" idx="3"/>
            <a:endCxn id="1534" idx="1"/>
          </p:cNvCxnSpPr>
          <p:nvPr/>
        </p:nvCxnSpPr>
        <p:spPr>
          <a:xfrm>
            <a:off x="8630379" y="5766418"/>
            <a:ext cx="376880" cy="4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直接箭头连接符 1304">
            <a:extLst>
              <a:ext uri="{FF2B5EF4-FFF2-40B4-BE49-F238E27FC236}">
                <a16:creationId xmlns:a16="http://schemas.microsoft.com/office/drawing/2014/main" id="{37EDD4FA-5B26-3BC7-CB7E-2DA64DB9EE0F}"/>
              </a:ext>
            </a:extLst>
          </p:cNvPr>
          <p:cNvCxnSpPr>
            <a:stCxn id="1501" idx="3"/>
            <a:endCxn id="1534" idx="1"/>
          </p:cNvCxnSpPr>
          <p:nvPr/>
        </p:nvCxnSpPr>
        <p:spPr>
          <a:xfrm flipV="1">
            <a:off x="8914839" y="5771018"/>
            <a:ext cx="92420" cy="45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22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F07DF-C0BD-064A-DA9D-3DD42C0FE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82E170-CD6A-3C22-5DBA-359F0F8F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12E79A-8DFB-F7A1-509B-F60B43ACE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322ECB7D-8631-A3E2-363C-CF715E86F5D3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1345" name="文本框 1344">
            <a:extLst>
              <a:ext uri="{FF2B5EF4-FFF2-40B4-BE49-F238E27FC236}">
                <a16:creationId xmlns:a16="http://schemas.microsoft.com/office/drawing/2014/main" id="{E21D2442-D435-78D4-9D88-495E2B005309}"/>
              </a:ext>
            </a:extLst>
          </p:cNvPr>
          <p:cNvSpPr txBox="1"/>
          <p:nvPr/>
        </p:nvSpPr>
        <p:spPr>
          <a:xfrm>
            <a:off x="267401" y="727714"/>
            <a:ext cx="97389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多组学融合改进实验：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ATAC+RNA</a:t>
            </a:r>
            <a:endParaRPr lang="zh-CN" altLang="en-US" sz="2400" b="1" kern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5E1C31E-52F2-A475-377A-DC388B7B5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63" y="2274351"/>
            <a:ext cx="1309349" cy="140375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3655200-0DCC-0373-5566-BED8CDC51731}"/>
              </a:ext>
            </a:extLst>
          </p:cNvPr>
          <p:cNvSpPr txBox="1"/>
          <p:nvPr/>
        </p:nvSpPr>
        <p:spPr>
          <a:xfrm>
            <a:off x="605911" y="3727476"/>
            <a:ext cx="177690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/>
              <a:t>GWAS </a:t>
            </a:r>
            <a:r>
              <a:rPr lang="zh-CN" altLang="en-US" sz="1600" dirty="0"/>
              <a:t>汇总统计数据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A24E6B7-C65E-CC89-A555-0A67BD21E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330823"/>
              </p:ext>
            </p:extLst>
          </p:nvPr>
        </p:nvGraphicFramePr>
        <p:xfrm>
          <a:off x="334265" y="4170769"/>
          <a:ext cx="2312733" cy="1097280"/>
        </p:xfrm>
        <a:graphic>
          <a:graphicData uri="http://schemas.openxmlformats.org/drawingml/2006/table">
            <a:tbl>
              <a:tblPr/>
              <a:tblGrid>
                <a:gridCol w="644465">
                  <a:extLst>
                    <a:ext uri="{9D8B030D-6E8A-4147-A177-3AD203B41FA5}">
                      <a16:colId xmlns:a16="http://schemas.microsoft.com/office/drawing/2014/main" val="3283673289"/>
                    </a:ext>
                  </a:extLst>
                </a:gridCol>
                <a:gridCol w="543451">
                  <a:extLst>
                    <a:ext uri="{9D8B030D-6E8A-4147-A177-3AD203B41FA5}">
                      <a16:colId xmlns:a16="http://schemas.microsoft.com/office/drawing/2014/main" val="595801089"/>
                    </a:ext>
                  </a:extLst>
                </a:gridCol>
                <a:gridCol w="564777">
                  <a:extLst>
                    <a:ext uri="{9D8B030D-6E8A-4147-A177-3AD203B41FA5}">
                      <a16:colId xmlns:a16="http://schemas.microsoft.com/office/drawing/2014/main" val="880003067"/>
                    </a:ext>
                  </a:extLst>
                </a:gridCol>
                <a:gridCol w="560040">
                  <a:extLst>
                    <a:ext uri="{9D8B030D-6E8A-4147-A177-3AD203B41FA5}">
                      <a16:colId xmlns:a16="http://schemas.microsoft.com/office/drawing/2014/main" val="2764037936"/>
                    </a:ext>
                  </a:extLst>
                </a:gridCol>
              </a:tblGrid>
              <a:tr h="2602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</a:rPr>
                        <a:t>基因</a:t>
                      </a:r>
                    </a:p>
                  </a:txBody>
                  <a:tcPr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Cell1</a:t>
                      </a:r>
                    </a:p>
                  </a:txBody>
                  <a:tcPr anchor="ctr"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Cell2</a:t>
                      </a:r>
                    </a:p>
                  </a:txBody>
                  <a:tcPr anchor="ctr"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Cell3</a:t>
                      </a:r>
                    </a:p>
                  </a:txBody>
                  <a:tcPr anchor="ctr"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3630"/>
                  </a:ext>
                </a:extLst>
              </a:tr>
              <a:tr h="2602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Gene A</a:t>
                      </a:r>
                    </a:p>
                  </a:txBody>
                  <a:tcPr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  <a:solidFill>
                      <a:srgbClr val="C5D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</a:rPr>
                        <a:t>1.2</a:t>
                      </a:r>
                    </a:p>
                  </a:txBody>
                  <a:tcPr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</a:rPr>
                        <a:t>0.5</a:t>
                      </a:r>
                    </a:p>
                  </a:txBody>
                  <a:tcPr anchor="ctr"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2.1</a:t>
                      </a:r>
                    </a:p>
                  </a:txBody>
                  <a:tcPr anchor="ctr"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1C3879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482253"/>
                  </a:ext>
                </a:extLst>
              </a:tr>
              <a:tr h="2602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Gene B</a:t>
                      </a:r>
                    </a:p>
                  </a:txBody>
                  <a:tcPr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  <a:solidFill>
                      <a:srgbClr val="C5D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</a:rPr>
                        <a:t>0.0</a:t>
                      </a:r>
                    </a:p>
                  </a:txBody>
                  <a:tcPr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</a:rPr>
                        <a:t>1.3</a:t>
                      </a:r>
                    </a:p>
                  </a:txBody>
                  <a:tcPr anchor="ctr"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</a:rPr>
                        <a:t>0.7</a:t>
                      </a:r>
                    </a:p>
                  </a:txBody>
                  <a:tcPr anchor="ctr"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737022"/>
                  </a:ext>
                </a:extLst>
              </a:tr>
              <a:tr h="2602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Gene C</a:t>
                      </a:r>
                    </a:p>
                  </a:txBody>
                  <a:tcPr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C5D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</a:rPr>
                        <a:t>3.1</a:t>
                      </a:r>
                    </a:p>
                  </a:txBody>
                  <a:tcPr anchor="ctr">
                    <a:lnL>
                      <a:solidFill>
                        <a:srgbClr val="1C3879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 anchor="ctr"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</a:rPr>
                        <a:t>1.5</a:t>
                      </a:r>
                    </a:p>
                  </a:txBody>
                  <a:tcPr anchor="ctr"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1C3879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374496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0109818A-E738-3FA3-5584-0C4514C05E34}"/>
              </a:ext>
            </a:extLst>
          </p:cNvPr>
          <p:cNvSpPr txBox="1"/>
          <p:nvPr/>
        </p:nvSpPr>
        <p:spPr>
          <a:xfrm>
            <a:off x="602179" y="5391168"/>
            <a:ext cx="177690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 err="1"/>
              <a:t>scRNA</a:t>
            </a:r>
            <a:r>
              <a:rPr lang="en-US" altLang="zh-CN" sz="1600" dirty="0"/>
              <a:t>-seq </a:t>
            </a:r>
            <a:r>
              <a:rPr lang="zh-CN" altLang="en-US" sz="1600" dirty="0"/>
              <a:t>表达矩阵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84454E1-35F6-3C15-5B17-889F2EA7C7AF}"/>
              </a:ext>
            </a:extLst>
          </p:cNvPr>
          <p:cNvSpPr/>
          <p:nvPr/>
        </p:nvSpPr>
        <p:spPr>
          <a:xfrm>
            <a:off x="267401" y="2157458"/>
            <a:ext cx="2453927" cy="3561068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B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E52BDEF-697A-614F-5221-84CEE7D75C0C}"/>
              </a:ext>
            </a:extLst>
          </p:cNvPr>
          <p:cNvSpPr txBox="1"/>
          <p:nvPr/>
        </p:nvSpPr>
        <p:spPr>
          <a:xfrm>
            <a:off x="905203" y="2043100"/>
            <a:ext cx="1158149" cy="246221"/>
          </a:xfrm>
          <a:prstGeom prst="rect">
            <a:avLst/>
          </a:prstGeom>
          <a:solidFill>
            <a:srgbClr val="003E87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输入数据</a:t>
            </a:r>
            <a:endParaRPr lang="en-US" altLang="zh-CN" sz="1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F96E0BD-9F59-94A9-27A5-8FD6177CCB61}"/>
              </a:ext>
            </a:extLst>
          </p:cNvPr>
          <p:cNvSpPr/>
          <p:nvPr/>
        </p:nvSpPr>
        <p:spPr>
          <a:xfrm>
            <a:off x="2310852" y="2825638"/>
            <a:ext cx="1038113" cy="31244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chemeClr val="accent1"/>
                </a:solidFill>
              </a:rPr>
              <a:t>MAGMA</a:t>
            </a:r>
            <a:endParaRPr lang="zh-CN" altLang="en-US" b="1" i="1" dirty="0">
              <a:solidFill>
                <a:schemeClr val="accent1"/>
              </a:solidFill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14612F1-9CAD-F558-82CA-157ED6D4DA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755" t="7157" r="21863" b="7316"/>
          <a:stretch>
            <a:fillRect/>
          </a:stretch>
        </p:blipFill>
        <p:spPr>
          <a:xfrm>
            <a:off x="3659636" y="2011016"/>
            <a:ext cx="878482" cy="1930422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D96D0D05-E01F-6053-F4FB-5150C840FE2C}"/>
              </a:ext>
            </a:extLst>
          </p:cNvPr>
          <p:cNvSpPr txBox="1"/>
          <p:nvPr/>
        </p:nvSpPr>
        <p:spPr>
          <a:xfrm>
            <a:off x="2819676" y="4304802"/>
            <a:ext cx="830991" cy="2541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/>
              <a:t>归一化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350" name="组合 1349">
            <a:extLst>
              <a:ext uri="{FF2B5EF4-FFF2-40B4-BE49-F238E27FC236}">
                <a16:creationId xmlns:a16="http://schemas.microsoft.com/office/drawing/2014/main" id="{2141912A-E46D-DBDE-85CD-B9A84507DFB4}"/>
              </a:ext>
            </a:extLst>
          </p:cNvPr>
          <p:cNvGrpSpPr/>
          <p:nvPr/>
        </p:nvGrpSpPr>
        <p:grpSpPr>
          <a:xfrm>
            <a:off x="4937831" y="2205848"/>
            <a:ext cx="2453927" cy="3471180"/>
            <a:chOff x="5098790" y="1923187"/>
            <a:chExt cx="2453927" cy="3471180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7CE6F9EC-94A7-DFD6-694D-A8B446520B42}"/>
                </a:ext>
              </a:extLst>
            </p:cNvPr>
            <p:cNvSpPr/>
            <p:nvPr/>
          </p:nvSpPr>
          <p:spPr>
            <a:xfrm>
              <a:off x="5098790" y="2173384"/>
              <a:ext cx="2453927" cy="3220983"/>
            </a:xfrm>
            <a:prstGeom prst="roundRect">
              <a:avLst>
                <a:gd name="adj" fmla="val 5160"/>
              </a:avLst>
            </a:prstGeom>
            <a:noFill/>
            <a:ln w="1905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9B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C44E5C0-96B8-D20E-E022-F87E76EC4DE7}"/>
                </a:ext>
              </a:extLst>
            </p:cNvPr>
            <p:cNvSpPr txBox="1"/>
            <p:nvPr/>
          </p:nvSpPr>
          <p:spPr>
            <a:xfrm>
              <a:off x="5769491" y="1923187"/>
              <a:ext cx="1158149" cy="492443"/>
            </a:xfrm>
            <a:prstGeom prst="rect">
              <a:avLst/>
            </a:prstGeom>
            <a:solidFill>
              <a:srgbClr val="003E87"/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细胞打分</a:t>
              </a:r>
              <a:endParaRPr lang="en-US" altLang="zh-CN" sz="1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lang="zh-CN" altLang="en-US" sz="16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（原始打分）</a:t>
              </a:r>
              <a:endParaRPr lang="en-US" altLang="zh-CN" sz="1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B0089373-2E45-4CC4-D890-3EA2D64BE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8872" y="4034106"/>
              <a:ext cx="2299384" cy="710207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6B8E454F-1F60-4260-B5F9-117128AA5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10284" y="2421517"/>
              <a:ext cx="2276561" cy="1595720"/>
            </a:xfrm>
            <a:prstGeom prst="rect">
              <a:avLst/>
            </a:prstGeom>
          </p:spPr>
        </p:pic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75C2197-86D1-2D59-67B2-A5E1B5EDD657}"/>
                </a:ext>
              </a:extLst>
            </p:cNvPr>
            <p:cNvSpPr txBox="1"/>
            <p:nvPr/>
          </p:nvSpPr>
          <p:spPr>
            <a:xfrm>
              <a:off x="5210284" y="4814349"/>
              <a:ext cx="2276561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计算每个细胞对性状基因集的原始得分</a:t>
              </a:r>
            </a:p>
          </p:txBody>
        </p:sp>
      </p:grp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8233FE9-2190-737E-9973-A4C84F1B2564}"/>
              </a:ext>
            </a:extLst>
          </p:cNvPr>
          <p:cNvSpPr/>
          <p:nvPr/>
        </p:nvSpPr>
        <p:spPr>
          <a:xfrm>
            <a:off x="7633307" y="2456045"/>
            <a:ext cx="1657730" cy="3220983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B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7CD8BD1-AF1A-32DD-66D4-F797BBFCB8E0}"/>
              </a:ext>
            </a:extLst>
          </p:cNvPr>
          <p:cNvSpPr txBox="1"/>
          <p:nvPr/>
        </p:nvSpPr>
        <p:spPr>
          <a:xfrm>
            <a:off x="7883097" y="2337282"/>
            <a:ext cx="1158149" cy="246221"/>
          </a:xfrm>
          <a:prstGeom prst="rect">
            <a:avLst/>
          </a:prstGeom>
          <a:solidFill>
            <a:srgbClr val="003E87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背景矫正</a:t>
            </a:r>
            <a:endParaRPr lang="en-US" altLang="zh-CN" sz="1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7B6877EA-A1FC-F486-ABB0-0722466F6728}"/>
              </a:ext>
            </a:extLst>
          </p:cNvPr>
          <p:cNvSpPr/>
          <p:nvPr/>
        </p:nvSpPr>
        <p:spPr>
          <a:xfrm>
            <a:off x="7775683" y="2795755"/>
            <a:ext cx="1390443" cy="450476"/>
          </a:xfrm>
          <a:prstGeom prst="round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目标基因得分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40A37818-419A-5F0A-3964-05D44946C282}"/>
              </a:ext>
            </a:extLst>
          </p:cNvPr>
          <p:cNvSpPr/>
          <p:nvPr/>
        </p:nvSpPr>
        <p:spPr>
          <a:xfrm>
            <a:off x="7775683" y="4000597"/>
            <a:ext cx="1390443" cy="547801"/>
          </a:xfrm>
          <a:prstGeom prst="round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背景基因得分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1000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组）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03AFA6AF-833F-821E-A6A7-A6722A733BE6}"/>
              </a:ext>
            </a:extLst>
          </p:cNvPr>
          <p:cNvCxnSpPr>
            <a:stCxn id="53" idx="2"/>
            <a:endCxn id="54" idx="0"/>
          </p:cNvCxnSpPr>
          <p:nvPr/>
        </p:nvCxnSpPr>
        <p:spPr>
          <a:xfrm>
            <a:off x="8470905" y="3246231"/>
            <a:ext cx="0" cy="7543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840F5332-C17D-DBC1-9B2B-19C2D4209D80}"/>
              </a:ext>
            </a:extLst>
          </p:cNvPr>
          <p:cNvSpPr txBox="1"/>
          <p:nvPr/>
        </p:nvSpPr>
        <p:spPr>
          <a:xfrm>
            <a:off x="8363554" y="3515692"/>
            <a:ext cx="83099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矫正</a:t>
            </a:r>
          </a:p>
        </p:txBody>
      </p:sp>
      <p:cxnSp>
        <p:nvCxnSpPr>
          <p:cNvPr id="1346" name="直接箭头连接符 1345">
            <a:extLst>
              <a:ext uri="{FF2B5EF4-FFF2-40B4-BE49-F238E27FC236}">
                <a16:creationId xmlns:a16="http://schemas.microsoft.com/office/drawing/2014/main" id="{60D71E14-7A1C-5275-FA38-8EA178DAF54E}"/>
              </a:ext>
            </a:extLst>
          </p:cNvPr>
          <p:cNvCxnSpPr>
            <a:stCxn id="8" idx="3"/>
            <a:endCxn id="22" idx="1"/>
          </p:cNvCxnSpPr>
          <p:nvPr/>
        </p:nvCxnSpPr>
        <p:spPr>
          <a:xfrm>
            <a:off x="2171612" y="2976228"/>
            <a:ext cx="139240" cy="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8" name="直接箭头连接符 1347">
            <a:extLst>
              <a:ext uri="{FF2B5EF4-FFF2-40B4-BE49-F238E27FC236}">
                <a16:creationId xmlns:a16="http://schemas.microsoft.com/office/drawing/2014/main" id="{E9292B00-1350-B355-BFC2-1D8D918E81E8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 flipV="1">
            <a:off x="3348965" y="2976227"/>
            <a:ext cx="310671" cy="5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连接符: 肘形 1353">
            <a:extLst>
              <a:ext uri="{FF2B5EF4-FFF2-40B4-BE49-F238E27FC236}">
                <a16:creationId xmlns:a16="http://schemas.microsoft.com/office/drawing/2014/main" id="{7DBFAB9A-0F01-7ED8-8EA4-312649F67397}"/>
              </a:ext>
            </a:extLst>
          </p:cNvPr>
          <p:cNvCxnSpPr>
            <a:endCxn id="38" idx="1"/>
          </p:cNvCxnSpPr>
          <p:nvPr/>
        </p:nvCxnSpPr>
        <p:spPr>
          <a:xfrm flipV="1">
            <a:off x="2647015" y="4066537"/>
            <a:ext cx="2290816" cy="868781"/>
          </a:xfrm>
          <a:prstGeom prst="bentConnector3">
            <a:avLst>
              <a:gd name="adj1" fmla="val 9226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连接符: 肘形 1356">
            <a:extLst>
              <a:ext uri="{FF2B5EF4-FFF2-40B4-BE49-F238E27FC236}">
                <a16:creationId xmlns:a16="http://schemas.microsoft.com/office/drawing/2014/main" id="{41A5CC3B-D7A7-482B-7270-23E3BBFFC09A}"/>
              </a:ext>
            </a:extLst>
          </p:cNvPr>
          <p:cNvCxnSpPr>
            <a:stCxn id="24" idx="3"/>
            <a:endCxn id="38" idx="1"/>
          </p:cNvCxnSpPr>
          <p:nvPr/>
        </p:nvCxnSpPr>
        <p:spPr>
          <a:xfrm>
            <a:off x="4538118" y="2976227"/>
            <a:ext cx="399713" cy="1090310"/>
          </a:xfrm>
          <a:prstGeom prst="bentConnector3">
            <a:avLst>
              <a:gd name="adj1" fmla="val 567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直接箭头连接符 1362">
            <a:extLst>
              <a:ext uri="{FF2B5EF4-FFF2-40B4-BE49-F238E27FC236}">
                <a16:creationId xmlns:a16="http://schemas.microsoft.com/office/drawing/2014/main" id="{21B1D177-ABCE-1ED0-A5DC-25E4AFE0EAF6}"/>
              </a:ext>
            </a:extLst>
          </p:cNvPr>
          <p:cNvCxnSpPr>
            <a:stCxn id="38" idx="3"/>
            <a:endCxn id="48" idx="1"/>
          </p:cNvCxnSpPr>
          <p:nvPr/>
        </p:nvCxnSpPr>
        <p:spPr>
          <a:xfrm>
            <a:off x="7391758" y="4066537"/>
            <a:ext cx="2415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4" name="文本框 1363">
            <a:extLst>
              <a:ext uri="{FF2B5EF4-FFF2-40B4-BE49-F238E27FC236}">
                <a16:creationId xmlns:a16="http://schemas.microsoft.com/office/drawing/2014/main" id="{9EA9B90F-54F8-07E5-0974-2B422A377AE5}"/>
              </a:ext>
            </a:extLst>
          </p:cNvPr>
          <p:cNvSpPr txBox="1"/>
          <p:nvPr/>
        </p:nvSpPr>
        <p:spPr>
          <a:xfrm>
            <a:off x="7752741" y="4881566"/>
            <a:ext cx="144180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排除了整体表达水平和表达方差影响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67" name="矩形: 圆角 1366">
            <a:extLst>
              <a:ext uri="{FF2B5EF4-FFF2-40B4-BE49-F238E27FC236}">
                <a16:creationId xmlns:a16="http://schemas.microsoft.com/office/drawing/2014/main" id="{4AF8F57B-6934-CAEC-FDC8-8DA102649C58}"/>
              </a:ext>
            </a:extLst>
          </p:cNvPr>
          <p:cNvSpPr/>
          <p:nvPr/>
        </p:nvSpPr>
        <p:spPr>
          <a:xfrm>
            <a:off x="157132" y="1868701"/>
            <a:ext cx="11877738" cy="3957891"/>
          </a:xfrm>
          <a:prstGeom prst="roundRect">
            <a:avLst>
              <a:gd name="adj" fmla="val 3704"/>
            </a:avLst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69" name="文本框 1368">
            <a:extLst>
              <a:ext uri="{FF2B5EF4-FFF2-40B4-BE49-F238E27FC236}">
                <a16:creationId xmlns:a16="http://schemas.microsoft.com/office/drawing/2014/main" id="{501BE22B-1C0C-9A77-D127-84EDDFD1DC0D}"/>
              </a:ext>
            </a:extLst>
          </p:cNvPr>
          <p:cNvSpPr txBox="1"/>
          <p:nvPr/>
        </p:nvSpPr>
        <p:spPr>
          <a:xfrm>
            <a:off x="4984631" y="1641684"/>
            <a:ext cx="1854988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scDRS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简要流程</a:t>
            </a:r>
            <a:endParaRPr lang="en-US" altLang="zh-CN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71" name="图片 1370">
            <a:extLst>
              <a:ext uri="{FF2B5EF4-FFF2-40B4-BE49-F238E27FC236}">
                <a16:creationId xmlns:a16="http://schemas.microsoft.com/office/drawing/2014/main" id="{9B84257F-4255-5F21-5401-5D14D6E0283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128" t="9864" r="8839" b="45026"/>
          <a:stretch>
            <a:fillRect/>
          </a:stretch>
        </p:blipFill>
        <p:spPr>
          <a:xfrm>
            <a:off x="9589121" y="3055817"/>
            <a:ext cx="2147664" cy="2621211"/>
          </a:xfrm>
          <a:prstGeom prst="rect">
            <a:avLst/>
          </a:prstGeom>
        </p:spPr>
      </p:pic>
      <p:sp>
        <p:nvSpPr>
          <p:cNvPr id="1372" name="矩形: 圆角 1371">
            <a:extLst>
              <a:ext uri="{FF2B5EF4-FFF2-40B4-BE49-F238E27FC236}">
                <a16:creationId xmlns:a16="http://schemas.microsoft.com/office/drawing/2014/main" id="{BBF28880-E6B8-EA19-991B-79DFDD6DC345}"/>
              </a:ext>
            </a:extLst>
          </p:cNvPr>
          <p:cNvSpPr/>
          <p:nvPr/>
        </p:nvSpPr>
        <p:spPr>
          <a:xfrm>
            <a:off x="9548283" y="2452069"/>
            <a:ext cx="2188501" cy="3220983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B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3" name="文本框 1372">
            <a:extLst>
              <a:ext uri="{FF2B5EF4-FFF2-40B4-BE49-F238E27FC236}">
                <a16:creationId xmlns:a16="http://schemas.microsoft.com/office/drawing/2014/main" id="{5C415F2B-305D-8625-9586-876D9C0BAFB9}"/>
              </a:ext>
            </a:extLst>
          </p:cNvPr>
          <p:cNvSpPr txBox="1"/>
          <p:nvPr/>
        </p:nvSpPr>
        <p:spPr>
          <a:xfrm>
            <a:off x="9880882" y="2223713"/>
            <a:ext cx="1564142" cy="492443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细胞相似性分数</a:t>
            </a:r>
            <a:endParaRPr lang="en-US" altLang="zh-CN" sz="1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ctr"/>
            <a:r>
              <a:rPr lang="en-US" altLang="zh-CN" sz="1600" b="1" dirty="0" err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Norm_score</a:t>
            </a:r>
            <a:endParaRPr lang="en-US" altLang="zh-CN" sz="1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374" name="箭头: 右 1373">
            <a:extLst>
              <a:ext uri="{FF2B5EF4-FFF2-40B4-BE49-F238E27FC236}">
                <a16:creationId xmlns:a16="http://schemas.microsoft.com/office/drawing/2014/main" id="{E9298E4D-5D53-3ECD-7DEC-A4B7393A2E86}"/>
              </a:ext>
            </a:extLst>
          </p:cNvPr>
          <p:cNvSpPr/>
          <p:nvPr/>
        </p:nvSpPr>
        <p:spPr>
          <a:xfrm>
            <a:off x="9291037" y="3973697"/>
            <a:ext cx="253946" cy="1970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5" name="矩形: 圆角 1374">
            <a:extLst>
              <a:ext uri="{FF2B5EF4-FFF2-40B4-BE49-F238E27FC236}">
                <a16:creationId xmlns:a16="http://schemas.microsoft.com/office/drawing/2014/main" id="{DD68F213-9CF8-ECBA-736D-F3CF15F04919}"/>
              </a:ext>
            </a:extLst>
          </p:cNvPr>
          <p:cNvSpPr/>
          <p:nvPr/>
        </p:nvSpPr>
        <p:spPr>
          <a:xfrm>
            <a:off x="5651684" y="6031491"/>
            <a:ext cx="5997389" cy="4822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改进点 </a:t>
            </a:r>
            <a:r>
              <a:rPr lang="en-US" altLang="zh-CN" b="1" i="1" dirty="0">
                <a:solidFill>
                  <a:schemeClr val="tx1"/>
                </a:solidFill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</a:rPr>
              <a:t>：</a:t>
            </a:r>
            <a:r>
              <a:rPr lang="en-US" altLang="zh-CN" b="1" i="1" dirty="0" err="1">
                <a:solidFill>
                  <a:schemeClr val="tx1"/>
                </a:solidFill>
              </a:rPr>
              <a:t>scDRS</a:t>
            </a:r>
            <a:r>
              <a:rPr lang="en-US" altLang="zh-CN" b="1" i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</a:rPr>
              <a:t>替代 </a:t>
            </a:r>
            <a:r>
              <a:rPr lang="en-US" altLang="zh-CN" b="1" i="1" dirty="0">
                <a:solidFill>
                  <a:schemeClr val="tx1"/>
                </a:solidFill>
              </a:rPr>
              <a:t>g-</a:t>
            </a:r>
            <a:r>
              <a:rPr lang="en-US" altLang="zh-CN" b="1" i="1" dirty="0" err="1">
                <a:solidFill>
                  <a:schemeClr val="tx1"/>
                </a:solidFill>
              </a:rPr>
              <a:t>chromVAR</a:t>
            </a:r>
            <a:r>
              <a:rPr lang="zh-CN" altLang="en-US" b="1" i="1" dirty="0">
                <a:solidFill>
                  <a:schemeClr val="tx1"/>
                </a:solidFill>
              </a:rPr>
              <a:t>，提升种子细胞准确性</a:t>
            </a:r>
          </a:p>
        </p:txBody>
      </p:sp>
      <p:sp>
        <p:nvSpPr>
          <p:cNvPr id="1377" name="箭头: 下 1376">
            <a:extLst>
              <a:ext uri="{FF2B5EF4-FFF2-40B4-BE49-F238E27FC236}">
                <a16:creationId xmlns:a16="http://schemas.microsoft.com/office/drawing/2014/main" id="{E979938D-E5F0-95FB-42BF-405B6A580A9C}"/>
              </a:ext>
            </a:extLst>
          </p:cNvPr>
          <p:cNvSpPr/>
          <p:nvPr/>
        </p:nvSpPr>
        <p:spPr>
          <a:xfrm>
            <a:off x="10280276" y="5673052"/>
            <a:ext cx="356348" cy="475577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9" name="矩形: 圆角 1378">
            <a:extLst>
              <a:ext uri="{FF2B5EF4-FFF2-40B4-BE49-F238E27FC236}">
                <a16:creationId xmlns:a16="http://schemas.microsoft.com/office/drawing/2014/main" id="{73907AB2-50B7-CB9D-5438-498992624996}"/>
              </a:ext>
            </a:extLst>
          </p:cNvPr>
          <p:cNvSpPr/>
          <p:nvPr/>
        </p:nvSpPr>
        <p:spPr>
          <a:xfrm>
            <a:off x="1160078" y="1206248"/>
            <a:ext cx="9871843" cy="4822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改进点 </a:t>
            </a:r>
            <a:r>
              <a:rPr lang="en-US" altLang="zh-CN" b="1" i="1" dirty="0">
                <a:solidFill>
                  <a:schemeClr val="tx1"/>
                </a:solidFill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</a:rPr>
              <a:t>：</a:t>
            </a:r>
            <a:r>
              <a:rPr lang="zh-CN" altLang="zh-CN" b="1" i="1" dirty="0">
                <a:solidFill>
                  <a:schemeClr val="tx1"/>
                </a:solidFill>
              </a:rPr>
              <a:t>使用</a:t>
            </a:r>
            <a:r>
              <a:rPr lang="en-US" altLang="zh-CN" b="1" i="1" dirty="0">
                <a:solidFill>
                  <a:schemeClr val="tx1"/>
                </a:solidFill>
              </a:rPr>
              <a:t>MAGMA</a:t>
            </a:r>
            <a:r>
              <a:rPr lang="zh-CN" altLang="zh-CN" b="1" i="1" dirty="0">
                <a:solidFill>
                  <a:schemeClr val="tx1"/>
                </a:solidFill>
              </a:rPr>
              <a:t>筛选出的性状相关基因集</a:t>
            </a:r>
            <a:r>
              <a:rPr lang="zh-CN" altLang="en-US" b="1" i="1" dirty="0">
                <a:solidFill>
                  <a:schemeClr val="tx1"/>
                </a:solidFill>
              </a:rPr>
              <a:t>构建</a:t>
            </a:r>
            <a:r>
              <a:rPr lang="en-US" altLang="zh-CN" b="1" i="1" dirty="0">
                <a:solidFill>
                  <a:schemeClr val="tx1"/>
                </a:solidFill>
              </a:rPr>
              <a:t>RNA</a:t>
            </a:r>
            <a:r>
              <a:rPr lang="zh-CN" altLang="en-US" b="1" i="1" dirty="0">
                <a:solidFill>
                  <a:schemeClr val="tx1"/>
                </a:solidFill>
              </a:rPr>
              <a:t>端低维表示，与</a:t>
            </a:r>
            <a:r>
              <a:rPr lang="en-US" altLang="zh-CN" b="1" i="1" dirty="0">
                <a:solidFill>
                  <a:schemeClr val="tx1"/>
                </a:solidFill>
              </a:rPr>
              <a:t>ATAC LSI</a:t>
            </a:r>
            <a:r>
              <a:rPr lang="zh-CN" altLang="en-US" b="1" i="1" dirty="0">
                <a:solidFill>
                  <a:schemeClr val="tx1"/>
                </a:solidFill>
              </a:rPr>
              <a:t>融合构成</a:t>
            </a:r>
            <a:r>
              <a:rPr lang="en-US" altLang="zh-CN" b="1" i="1" dirty="0" err="1">
                <a:solidFill>
                  <a:schemeClr val="tx1"/>
                </a:solidFill>
              </a:rPr>
              <a:t>knn</a:t>
            </a:r>
            <a:r>
              <a:rPr lang="zh-CN" altLang="en-US" b="1" i="1" dirty="0">
                <a:solidFill>
                  <a:schemeClr val="tx1"/>
                </a:solidFill>
              </a:rPr>
              <a:t>图</a:t>
            </a:r>
            <a:r>
              <a:rPr lang="zh-CN" altLang="zh-CN" b="1" i="1" dirty="0">
                <a:solidFill>
                  <a:schemeClr val="tx1"/>
                </a:solidFill>
              </a:rPr>
              <a:t> 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1380" name="箭头: 上 1379">
            <a:extLst>
              <a:ext uri="{FF2B5EF4-FFF2-40B4-BE49-F238E27FC236}">
                <a16:creationId xmlns:a16="http://schemas.microsoft.com/office/drawing/2014/main" id="{18A77AE6-C33C-803B-A508-FA18E1100F08}"/>
              </a:ext>
            </a:extLst>
          </p:cNvPr>
          <p:cNvSpPr/>
          <p:nvPr/>
        </p:nvSpPr>
        <p:spPr>
          <a:xfrm>
            <a:off x="3866029" y="1607342"/>
            <a:ext cx="322730" cy="401416"/>
          </a:xfrm>
          <a:prstGeom prst="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2" name="文本框 1381">
            <a:extLst>
              <a:ext uri="{FF2B5EF4-FFF2-40B4-BE49-F238E27FC236}">
                <a16:creationId xmlns:a16="http://schemas.microsoft.com/office/drawing/2014/main" id="{52028164-5671-EBCB-9FE8-A4DCDC1C01D2}"/>
              </a:ext>
            </a:extLst>
          </p:cNvPr>
          <p:cNvSpPr txBox="1"/>
          <p:nvPr/>
        </p:nvSpPr>
        <p:spPr>
          <a:xfrm>
            <a:off x="2829908" y="4529937"/>
            <a:ext cx="1134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log1p </a:t>
            </a:r>
            <a:r>
              <a:rPr lang="zh-CN" altLang="en-US" sz="1600" dirty="0"/>
              <a:t>转换</a:t>
            </a:r>
          </a:p>
        </p:txBody>
      </p:sp>
      <p:sp>
        <p:nvSpPr>
          <p:cNvPr id="1383" name="矩形 1382">
            <a:extLst>
              <a:ext uri="{FF2B5EF4-FFF2-40B4-BE49-F238E27FC236}">
                <a16:creationId xmlns:a16="http://schemas.microsoft.com/office/drawing/2014/main" id="{BA5F9620-0BC1-339E-29F0-1AEC33DA11F2}"/>
              </a:ext>
            </a:extLst>
          </p:cNvPr>
          <p:cNvSpPr/>
          <p:nvPr/>
        </p:nvSpPr>
        <p:spPr>
          <a:xfrm>
            <a:off x="7330135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多组学融合改进</a:t>
            </a:r>
          </a:p>
        </p:txBody>
      </p:sp>
    </p:spTree>
    <p:extLst>
      <p:ext uri="{BB962C8B-B14F-4D97-AF65-F5344CB8AC3E}">
        <p14:creationId xmlns:p14="http://schemas.microsoft.com/office/powerpoint/2010/main" val="51955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30CF-FEA6-D1F5-C7BD-9E4387E8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矩形: 圆角 1444">
            <a:extLst>
              <a:ext uri="{FF2B5EF4-FFF2-40B4-BE49-F238E27FC236}">
                <a16:creationId xmlns:a16="http://schemas.microsoft.com/office/drawing/2014/main" id="{65646603-54A8-02CC-68E8-0455249E3E7C}"/>
              </a:ext>
            </a:extLst>
          </p:cNvPr>
          <p:cNvSpPr/>
          <p:nvPr/>
        </p:nvSpPr>
        <p:spPr>
          <a:xfrm>
            <a:off x="4443230" y="860489"/>
            <a:ext cx="6929201" cy="4212338"/>
          </a:xfrm>
          <a:prstGeom prst="roundRect">
            <a:avLst>
              <a:gd name="adj" fmla="val 4610"/>
            </a:avLst>
          </a:prstGeom>
          <a:solidFill>
            <a:schemeClr val="accent5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FA575B-7BFB-9062-A449-5CFCEE62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669" y="6421873"/>
            <a:ext cx="2716835" cy="299602"/>
          </a:xfrm>
        </p:spPr>
        <p:txBody>
          <a:bodyPr/>
          <a:lstStyle/>
          <a:p>
            <a:fld id="{5E2EABFD-C142-48D2-8272-3C2D8BEF2F3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BC5B3D-A239-482C-5803-E37F1D4195F2}"/>
              </a:ext>
            </a:extLst>
          </p:cNvPr>
          <p:cNvSpPr txBox="1"/>
          <p:nvPr/>
        </p:nvSpPr>
        <p:spPr>
          <a:xfrm>
            <a:off x="27479" y="746862"/>
            <a:ext cx="43593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多组学融合改进实验：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04BE44-078E-3430-FEFF-AD2B02978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271ADC04-980C-B02F-5529-50AEDCB90193}"/>
              </a:ext>
            </a:extLst>
          </p:cNvPr>
          <p:cNvSpPr/>
          <p:nvPr/>
        </p:nvSpPr>
        <p:spPr>
          <a:xfrm>
            <a:off x="267402" y="1289364"/>
            <a:ext cx="3920353" cy="4994663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A726875-EAE5-268E-2EB9-825905EACFA4}"/>
              </a:ext>
            </a:extLst>
          </p:cNvPr>
          <p:cNvSpPr txBox="1"/>
          <p:nvPr/>
        </p:nvSpPr>
        <p:spPr>
          <a:xfrm>
            <a:off x="1524871" y="1204405"/>
            <a:ext cx="1289214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预处理阶段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7381F46-A374-7561-CACA-6210981DC51F}"/>
              </a:ext>
            </a:extLst>
          </p:cNvPr>
          <p:cNvSpPr txBox="1"/>
          <p:nvPr/>
        </p:nvSpPr>
        <p:spPr>
          <a:xfrm>
            <a:off x="446509" y="1936674"/>
            <a:ext cx="1071540" cy="396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zh-CN" altLang="en-US" sz="1400" b="1" dirty="0"/>
              <a:t>遗传变异信息</a:t>
            </a:r>
            <a:endParaRPr lang="zh-CN" altLang="en-US" sz="1400" dirty="0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27685412-89E1-B878-948A-D7E70F6EB635}"/>
              </a:ext>
            </a:extLst>
          </p:cNvPr>
          <p:cNvSpPr/>
          <p:nvPr/>
        </p:nvSpPr>
        <p:spPr>
          <a:xfrm>
            <a:off x="558138" y="2294108"/>
            <a:ext cx="629369" cy="438984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73FF4C1-2DF5-8120-0371-F06D17E844E8}"/>
              </a:ext>
            </a:extLst>
          </p:cNvPr>
          <p:cNvSpPr txBox="1"/>
          <p:nvPr/>
        </p:nvSpPr>
        <p:spPr>
          <a:xfrm>
            <a:off x="600282" y="2362251"/>
            <a:ext cx="538567" cy="367997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GWAS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D775BDC-7FC2-0D16-066D-B10BBBB0C728}"/>
              </a:ext>
            </a:extLst>
          </p:cNvPr>
          <p:cNvSpPr txBox="1"/>
          <p:nvPr/>
        </p:nvSpPr>
        <p:spPr>
          <a:xfrm>
            <a:off x="1656197" y="1510922"/>
            <a:ext cx="1026562" cy="34008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输入数据</a:t>
            </a:r>
          </a:p>
        </p:txBody>
      </p:sp>
      <p:sp>
        <p:nvSpPr>
          <p:cNvPr id="1280" name="文本框 1279">
            <a:extLst>
              <a:ext uri="{FF2B5EF4-FFF2-40B4-BE49-F238E27FC236}">
                <a16:creationId xmlns:a16="http://schemas.microsoft.com/office/drawing/2014/main" id="{CDDE5FB8-D596-A007-4E8B-CC47F8A41E98}"/>
              </a:ext>
            </a:extLst>
          </p:cNvPr>
          <p:cNvSpPr txBox="1"/>
          <p:nvPr/>
        </p:nvSpPr>
        <p:spPr>
          <a:xfrm>
            <a:off x="1612298" y="2034422"/>
            <a:ext cx="767846" cy="298251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zh-CN" sz="1400" b="1" dirty="0"/>
              <a:t>ATAC</a:t>
            </a:r>
            <a:r>
              <a:rPr lang="zh-CN" altLang="en-US" sz="1400" b="1" dirty="0"/>
              <a:t>数据</a:t>
            </a:r>
          </a:p>
        </p:txBody>
      </p:sp>
      <p:cxnSp>
        <p:nvCxnSpPr>
          <p:cNvPr id="1281" name="直接箭头连接符 1280">
            <a:extLst>
              <a:ext uri="{FF2B5EF4-FFF2-40B4-BE49-F238E27FC236}">
                <a16:creationId xmlns:a16="http://schemas.microsoft.com/office/drawing/2014/main" id="{A8989DD2-3EE3-9F03-072F-FAC5B0EEBA5E}"/>
              </a:ext>
            </a:extLst>
          </p:cNvPr>
          <p:cNvCxnSpPr>
            <a:cxnSpLocks/>
            <a:stCxn id="63" idx="2"/>
            <a:endCxn id="1280" idx="0"/>
          </p:cNvCxnSpPr>
          <p:nvPr/>
        </p:nvCxnSpPr>
        <p:spPr>
          <a:xfrm flipH="1">
            <a:off x="1996221" y="1851011"/>
            <a:ext cx="173257" cy="18341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2" name="直接箭头连接符 1281">
            <a:extLst>
              <a:ext uri="{FF2B5EF4-FFF2-40B4-BE49-F238E27FC236}">
                <a16:creationId xmlns:a16="http://schemas.microsoft.com/office/drawing/2014/main" id="{5329BF69-9ECF-AC19-C9AD-916B76FEF697}"/>
              </a:ext>
            </a:extLst>
          </p:cNvPr>
          <p:cNvCxnSpPr>
            <a:cxnSpLocks/>
            <a:stCxn id="63" idx="2"/>
            <a:endCxn id="58" idx="0"/>
          </p:cNvCxnSpPr>
          <p:nvPr/>
        </p:nvCxnSpPr>
        <p:spPr>
          <a:xfrm flipH="1">
            <a:off x="982279" y="1851011"/>
            <a:ext cx="1187199" cy="8566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1" name="组合 1310">
            <a:extLst>
              <a:ext uri="{FF2B5EF4-FFF2-40B4-BE49-F238E27FC236}">
                <a16:creationId xmlns:a16="http://schemas.microsoft.com/office/drawing/2014/main" id="{D9667DEA-AA7E-CE31-0BFD-F57ADFE7D562}"/>
              </a:ext>
            </a:extLst>
          </p:cNvPr>
          <p:cNvGrpSpPr/>
          <p:nvPr/>
        </p:nvGrpSpPr>
        <p:grpSpPr>
          <a:xfrm>
            <a:off x="449874" y="3024067"/>
            <a:ext cx="840650" cy="372525"/>
            <a:chOff x="502233" y="4353178"/>
            <a:chExt cx="1727047" cy="851413"/>
          </a:xfrm>
        </p:grpSpPr>
        <p:sp>
          <p:nvSpPr>
            <p:cNvPr id="1286" name="矩形: 圆角 1285">
              <a:extLst>
                <a:ext uri="{FF2B5EF4-FFF2-40B4-BE49-F238E27FC236}">
                  <a16:creationId xmlns:a16="http://schemas.microsoft.com/office/drawing/2014/main" id="{561D6D81-74AE-C23A-868A-1EE5F2BDF6B9}"/>
                </a:ext>
              </a:extLst>
            </p:cNvPr>
            <p:cNvSpPr/>
            <p:nvPr/>
          </p:nvSpPr>
          <p:spPr>
            <a:xfrm>
              <a:off x="502233" y="4353178"/>
              <a:ext cx="1727047" cy="851413"/>
            </a:xfrm>
            <a:prstGeom prst="roundRect">
              <a:avLst>
                <a:gd name="adj" fmla="val 3704"/>
              </a:avLst>
            </a:prstGeom>
            <a:solidFill>
              <a:schemeClr val="bg1">
                <a:lumMod val="95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87" name="文本框 1286">
              <a:extLst>
                <a:ext uri="{FF2B5EF4-FFF2-40B4-BE49-F238E27FC236}">
                  <a16:creationId xmlns:a16="http://schemas.microsoft.com/office/drawing/2014/main" id="{F599505E-2B80-2F4F-B47C-CB2B6EC50FB7}"/>
                </a:ext>
              </a:extLst>
            </p:cNvPr>
            <p:cNvSpPr txBox="1"/>
            <p:nvPr/>
          </p:nvSpPr>
          <p:spPr>
            <a:xfrm>
              <a:off x="596410" y="4424761"/>
              <a:ext cx="1574293" cy="677862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MAGMA</a:t>
              </a:r>
            </a:p>
          </p:txBody>
        </p:sp>
      </p:grpSp>
      <p:sp>
        <p:nvSpPr>
          <p:cNvPr id="1290" name="矩形: 圆角 1289">
            <a:extLst>
              <a:ext uri="{FF2B5EF4-FFF2-40B4-BE49-F238E27FC236}">
                <a16:creationId xmlns:a16="http://schemas.microsoft.com/office/drawing/2014/main" id="{AB96DF63-7EC8-2566-316D-9BE94E495CC3}"/>
              </a:ext>
            </a:extLst>
          </p:cNvPr>
          <p:cNvSpPr/>
          <p:nvPr/>
        </p:nvSpPr>
        <p:spPr>
          <a:xfrm>
            <a:off x="1540666" y="2275662"/>
            <a:ext cx="840650" cy="689591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1" name="文本框 1290">
            <a:extLst>
              <a:ext uri="{FF2B5EF4-FFF2-40B4-BE49-F238E27FC236}">
                <a16:creationId xmlns:a16="http://schemas.microsoft.com/office/drawing/2014/main" id="{7EE90CC8-E2D9-50F1-E3FD-2614DC985439}"/>
              </a:ext>
            </a:extLst>
          </p:cNvPr>
          <p:cNvSpPr txBox="1"/>
          <p:nvPr/>
        </p:nvSpPr>
        <p:spPr>
          <a:xfrm>
            <a:off x="1578620" y="2318154"/>
            <a:ext cx="767846" cy="595794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scATAC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-seq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特征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细胞矩阵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3" name="矩形: 圆角 1292">
            <a:extLst>
              <a:ext uri="{FF2B5EF4-FFF2-40B4-BE49-F238E27FC236}">
                <a16:creationId xmlns:a16="http://schemas.microsoft.com/office/drawing/2014/main" id="{D40EB60E-8841-E2A8-787B-3536189BE9FE}"/>
              </a:ext>
            </a:extLst>
          </p:cNvPr>
          <p:cNvSpPr/>
          <p:nvPr/>
        </p:nvSpPr>
        <p:spPr>
          <a:xfrm>
            <a:off x="1540668" y="3256998"/>
            <a:ext cx="755280" cy="444825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4" name="文本框 1293">
            <a:extLst>
              <a:ext uri="{FF2B5EF4-FFF2-40B4-BE49-F238E27FC236}">
                <a16:creationId xmlns:a16="http://schemas.microsoft.com/office/drawing/2014/main" id="{32EB045D-D40A-563C-D5C5-291D7E5C7434}"/>
              </a:ext>
            </a:extLst>
          </p:cNvPr>
          <p:cNvSpPr txBox="1"/>
          <p:nvPr/>
        </p:nvSpPr>
        <p:spPr>
          <a:xfrm>
            <a:off x="1556528" y="3328149"/>
            <a:ext cx="688476" cy="30282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TF-IDF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转换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5" name="矩形: 圆角 1294">
            <a:extLst>
              <a:ext uri="{FF2B5EF4-FFF2-40B4-BE49-F238E27FC236}">
                <a16:creationId xmlns:a16="http://schemas.microsoft.com/office/drawing/2014/main" id="{A9429806-B2A8-EBBA-DBF8-D3173DC53C31}"/>
              </a:ext>
            </a:extLst>
          </p:cNvPr>
          <p:cNvSpPr/>
          <p:nvPr/>
        </p:nvSpPr>
        <p:spPr>
          <a:xfrm>
            <a:off x="1475758" y="3982669"/>
            <a:ext cx="992302" cy="439698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6" name="文本框 1295">
            <a:extLst>
              <a:ext uri="{FF2B5EF4-FFF2-40B4-BE49-F238E27FC236}">
                <a16:creationId xmlns:a16="http://schemas.microsoft.com/office/drawing/2014/main" id="{BE29EB9A-1A0C-7B72-9500-EDE953F3A243}"/>
              </a:ext>
            </a:extLst>
          </p:cNvPr>
          <p:cNvSpPr txBox="1"/>
          <p:nvPr/>
        </p:nvSpPr>
        <p:spPr>
          <a:xfrm>
            <a:off x="1552134" y="4049707"/>
            <a:ext cx="815239" cy="315498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SVD / LSI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降维表示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02" name="直接箭头连接符 1301">
            <a:extLst>
              <a:ext uri="{FF2B5EF4-FFF2-40B4-BE49-F238E27FC236}">
                <a16:creationId xmlns:a16="http://schemas.microsoft.com/office/drawing/2014/main" id="{79C9580C-2A37-26E9-BF6A-F1FEDF0FDF07}"/>
              </a:ext>
            </a:extLst>
          </p:cNvPr>
          <p:cNvCxnSpPr>
            <a:cxnSpLocks/>
          </p:cNvCxnSpPr>
          <p:nvPr/>
        </p:nvCxnSpPr>
        <p:spPr>
          <a:xfrm>
            <a:off x="869565" y="2765194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3" name="直接箭头连接符 1302">
            <a:extLst>
              <a:ext uri="{FF2B5EF4-FFF2-40B4-BE49-F238E27FC236}">
                <a16:creationId xmlns:a16="http://schemas.microsoft.com/office/drawing/2014/main" id="{A3ED4FAC-7E42-C1DE-E924-0041AA80C0B2}"/>
              </a:ext>
            </a:extLst>
          </p:cNvPr>
          <p:cNvCxnSpPr>
            <a:cxnSpLocks/>
          </p:cNvCxnSpPr>
          <p:nvPr/>
        </p:nvCxnSpPr>
        <p:spPr>
          <a:xfrm flipH="1">
            <a:off x="1996221" y="2989483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直接箭头连接符 1303">
            <a:extLst>
              <a:ext uri="{FF2B5EF4-FFF2-40B4-BE49-F238E27FC236}">
                <a16:creationId xmlns:a16="http://schemas.microsoft.com/office/drawing/2014/main" id="{5B7048F5-2F3A-E3A4-1347-15B1550F07BE}"/>
              </a:ext>
            </a:extLst>
          </p:cNvPr>
          <p:cNvCxnSpPr>
            <a:cxnSpLocks/>
          </p:cNvCxnSpPr>
          <p:nvPr/>
        </p:nvCxnSpPr>
        <p:spPr>
          <a:xfrm flipH="1">
            <a:off x="1996221" y="3736321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2" name="直接箭头连接符 1311">
            <a:extLst>
              <a:ext uri="{FF2B5EF4-FFF2-40B4-BE49-F238E27FC236}">
                <a16:creationId xmlns:a16="http://schemas.microsoft.com/office/drawing/2014/main" id="{F3642B5B-0E1B-A05B-A2B2-7C72597896C3}"/>
              </a:ext>
            </a:extLst>
          </p:cNvPr>
          <p:cNvCxnSpPr>
            <a:cxnSpLocks/>
          </p:cNvCxnSpPr>
          <p:nvPr/>
        </p:nvCxnSpPr>
        <p:spPr>
          <a:xfrm>
            <a:off x="869565" y="3402133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8" name="矩形: 圆角 1367">
            <a:extLst>
              <a:ext uri="{FF2B5EF4-FFF2-40B4-BE49-F238E27FC236}">
                <a16:creationId xmlns:a16="http://schemas.microsoft.com/office/drawing/2014/main" id="{C4BEF42B-100D-D01E-6571-4321C900FA64}"/>
              </a:ext>
            </a:extLst>
          </p:cNvPr>
          <p:cNvSpPr/>
          <p:nvPr/>
        </p:nvSpPr>
        <p:spPr>
          <a:xfrm>
            <a:off x="4567906" y="961856"/>
            <a:ext cx="3253143" cy="3388170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9" name="文本框 1368">
            <a:extLst>
              <a:ext uri="{FF2B5EF4-FFF2-40B4-BE49-F238E27FC236}">
                <a16:creationId xmlns:a16="http://schemas.microsoft.com/office/drawing/2014/main" id="{0C9A27AD-9B57-8556-A62A-DF9DE1A35D33}"/>
              </a:ext>
            </a:extLst>
          </p:cNvPr>
          <p:cNvSpPr txBox="1"/>
          <p:nvPr/>
        </p:nvSpPr>
        <p:spPr>
          <a:xfrm>
            <a:off x="5230864" y="858425"/>
            <a:ext cx="1707679" cy="246221"/>
          </a:xfrm>
          <a:prstGeom prst="rect">
            <a:avLst/>
          </a:prstGeom>
          <a:solidFill>
            <a:srgbClr val="EBF3FA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筛选种子细胞</a:t>
            </a:r>
          </a:p>
        </p:txBody>
      </p:sp>
      <p:grpSp>
        <p:nvGrpSpPr>
          <p:cNvPr id="1407" name="组合 1406">
            <a:extLst>
              <a:ext uri="{FF2B5EF4-FFF2-40B4-BE49-F238E27FC236}">
                <a16:creationId xmlns:a16="http://schemas.microsoft.com/office/drawing/2014/main" id="{D8F996F4-4779-F470-A1D9-543E2B5057A2}"/>
              </a:ext>
            </a:extLst>
          </p:cNvPr>
          <p:cNvGrpSpPr/>
          <p:nvPr/>
        </p:nvGrpSpPr>
        <p:grpSpPr>
          <a:xfrm>
            <a:off x="243390" y="3650661"/>
            <a:ext cx="1249168" cy="308233"/>
            <a:chOff x="483659" y="5568636"/>
            <a:chExt cx="2417140" cy="787714"/>
          </a:xfrm>
        </p:grpSpPr>
        <p:sp>
          <p:nvSpPr>
            <p:cNvPr id="1408" name="矩形 1407">
              <a:extLst>
                <a:ext uri="{FF2B5EF4-FFF2-40B4-BE49-F238E27FC236}">
                  <a16:creationId xmlns:a16="http://schemas.microsoft.com/office/drawing/2014/main" id="{765E00F6-869C-6CDA-A70F-C7620618F211}"/>
                </a:ext>
              </a:extLst>
            </p:cNvPr>
            <p:cNvSpPr/>
            <p:nvPr/>
          </p:nvSpPr>
          <p:spPr>
            <a:xfrm>
              <a:off x="521747" y="5568636"/>
              <a:ext cx="2379051" cy="7877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9" name="文本框 1408">
              <a:extLst>
                <a:ext uri="{FF2B5EF4-FFF2-40B4-BE49-F238E27FC236}">
                  <a16:creationId xmlns:a16="http://schemas.microsoft.com/office/drawing/2014/main" id="{1803D405-8A16-6DE0-5823-30F2C3F85D9E}"/>
                </a:ext>
              </a:extLst>
            </p:cNvPr>
            <p:cNvSpPr txBox="1"/>
            <p:nvPr/>
          </p:nvSpPr>
          <p:spPr>
            <a:xfrm>
              <a:off x="483659" y="5611391"/>
              <a:ext cx="2417140" cy="310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相关基因集 </a:t>
              </a: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18" name="组合 1417">
            <a:extLst>
              <a:ext uri="{FF2B5EF4-FFF2-40B4-BE49-F238E27FC236}">
                <a16:creationId xmlns:a16="http://schemas.microsoft.com/office/drawing/2014/main" id="{211C92F9-01E2-C6CD-86A6-49489DB3109F}"/>
              </a:ext>
            </a:extLst>
          </p:cNvPr>
          <p:cNvGrpSpPr/>
          <p:nvPr/>
        </p:nvGrpSpPr>
        <p:grpSpPr>
          <a:xfrm>
            <a:off x="4773324" y="1619309"/>
            <a:ext cx="2812515" cy="830229"/>
            <a:chOff x="509614" y="2062413"/>
            <a:chExt cx="1727047" cy="1299158"/>
          </a:xfrm>
        </p:grpSpPr>
        <p:sp>
          <p:nvSpPr>
            <p:cNvPr id="1419" name="矩形: 圆角 1418">
              <a:extLst>
                <a:ext uri="{FF2B5EF4-FFF2-40B4-BE49-F238E27FC236}">
                  <a16:creationId xmlns:a16="http://schemas.microsoft.com/office/drawing/2014/main" id="{FB6819BC-7F5C-7964-D7E6-764830737C76}"/>
                </a:ext>
              </a:extLst>
            </p:cNvPr>
            <p:cNvSpPr/>
            <p:nvPr/>
          </p:nvSpPr>
          <p:spPr>
            <a:xfrm>
              <a:off x="509614" y="2062413"/>
              <a:ext cx="1727047" cy="1299158"/>
            </a:xfrm>
            <a:prstGeom prst="roundRect">
              <a:avLst>
                <a:gd name="adj" fmla="val 370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20" name="文本框 1419">
              <a:extLst>
                <a:ext uri="{FF2B5EF4-FFF2-40B4-BE49-F238E27FC236}">
                  <a16:creationId xmlns:a16="http://schemas.microsoft.com/office/drawing/2014/main" id="{5E677ED0-B161-A50F-F8D5-FC379433A5AA}"/>
                </a:ext>
              </a:extLst>
            </p:cNvPr>
            <p:cNvSpPr txBox="1"/>
            <p:nvPr/>
          </p:nvSpPr>
          <p:spPr>
            <a:xfrm>
              <a:off x="585991" y="2169586"/>
              <a:ext cx="1574292" cy="381704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使用 </a:t>
              </a:r>
              <a:r>
                <a:rPr lang="en-US" altLang="zh-CN" sz="1200" dirty="0" err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scDRS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计算 </a:t>
              </a:r>
              <a:r>
                <a:rPr lang="en-US" altLang="zh-CN" sz="1200" dirty="0" err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norm_score</a:t>
              </a:r>
              <a:endPara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1" name="文本框 1420">
              <a:extLst>
                <a:ext uri="{FF2B5EF4-FFF2-40B4-BE49-F238E27FC236}">
                  <a16:creationId xmlns:a16="http://schemas.microsoft.com/office/drawing/2014/main" id="{FCD9C24C-A862-53D5-BA51-0F71CFC83887}"/>
                </a:ext>
              </a:extLst>
            </p:cNvPr>
            <p:cNvSpPr txBox="1"/>
            <p:nvPr/>
          </p:nvSpPr>
          <p:spPr>
            <a:xfrm>
              <a:off x="594372" y="2603318"/>
              <a:ext cx="1574291" cy="594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Z-score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越高，说明该细胞与目标性状的初始相关性越强。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30" name="组合 1429">
            <a:extLst>
              <a:ext uri="{FF2B5EF4-FFF2-40B4-BE49-F238E27FC236}">
                <a16:creationId xmlns:a16="http://schemas.microsoft.com/office/drawing/2014/main" id="{1B5E733B-1BCF-A413-8744-25420FFC5861}"/>
              </a:ext>
            </a:extLst>
          </p:cNvPr>
          <p:cNvGrpSpPr/>
          <p:nvPr/>
        </p:nvGrpSpPr>
        <p:grpSpPr>
          <a:xfrm>
            <a:off x="4816329" y="3501692"/>
            <a:ext cx="2812515" cy="770072"/>
            <a:chOff x="491586" y="1953739"/>
            <a:chExt cx="1727047" cy="1299158"/>
          </a:xfrm>
        </p:grpSpPr>
        <p:sp>
          <p:nvSpPr>
            <p:cNvPr id="1431" name="矩形: 圆角 1430">
              <a:extLst>
                <a:ext uri="{FF2B5EF4-FFF2-40B4-BE49-F238E27FC236}">
                  <a16:creationId xmlns:a16="http://schemas.microsoft.com/office/drawing/2014/main" id="{E8E87139-EA6F-EA02-F491-16FFC6AA79A6}"/>
                </a:ext>
              </a:extLst>
            </p:cNvPr>
            <p:cNvSpPr/>
            <p:nvPr/>
          </p:nvSpPr>
          <p:spPr>
            <a:xfrm>
              <a:off x="491586" y="1953739"/>
              <a:ext cx="1727047" cy="1299158"/>
            </a:xfrm>
            <a:prstGeom prst="roundRect">
              <a:avLst>
                <a:gd name="adj" fmla="val 370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2" name="文本框 1431">
              <a:extLst>
                <a:ext uri="{FF2B5EF4-FFF2-40B4-BE49-F238E27FC236}">
                  <a16:creationId xmlns:a16="http://schemas.microsoft.com/office/drawing/2014/main" id="{7F7186DE-92BE-1B86-87C9-E15DDE3B76A1}"/>
                </a:ext>
              </a:extLst>
            </p:cNvPr>
            <p:cNvSpPr txBox="1"/>
            <p:nvPr/>
          </p:nvSpPr>
          <p:spPr>
            <a:xfrm>
              <a:off x="585991" y="2169586"/>
              <a:ext cx="1574292" cy="381704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选择种子细胞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seed cells</a:t>
              </a:r>
            </a:p>
          </p:txBody>
        </p:sp>
        <p:sp>
          <p:nvSpPr>
            <p:cNvPr id="1433" name="文本框 1432">
              <a:extLst>
                <a:ext uri="{FF2B5EF4-FFF2-40B4-BE49-F238E27FC236}">
                  <a16:creationId xmlns:a16="http://schemas.microsoft.com/office/drawing/2014/main" id="{B1E140D4-A44B-3016-69C2-34FA6F6D40FC}"/>
                </a:ext>
              </a:extLst>
            </p:cNvPr>
            <p:cNvSpPr txBox="1"/>
            <p:nvPr/>
          </p:nvSpPr>
          <p:spPr>
            <a:xfrm>
              <a:off x="594372" y="2603318"/>
              <a:ext cx="1574291" cy="594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选择</a:t>
              </a:r>
              <a:r>
                <a:rPr lang="en-US" altLang="zh-CN" sz="1200" dirty="0" err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norm_score</a:t>
              </a:r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分数最高的</a:t>
              </a:r>
              <a:r>
                <a:rPr lang="en-US" altLang="zh-CN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top1%</a:t>
              </a:r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作为种子细胞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34" name="矩形: 圆角 1433">
            <a:extLst>
              <a:ext uri="{FF2B5EF4-FFF2-40B4-BE49-F238E27FC236}">
                <a16:creationId xmlns:a16="http://schemas.microsoft.com/office/drawing/2014/main" id="{5E469E31-46DD-667C-1ED1-C9E27EA31A5E}"/>
              </a:ext>
            </a:extLst>
          </p:cNvPr>
          <p:cNvSpPr/>
          <p:nvPr/>
        </p:nvSpPr>
        <p:spPr>
          <a:xfrm>
            <a:off x="7982954" y="974959"/>
            <a:ext cx="3253143" cy="3972706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5" name="文本框 1434">
            <a:extLst>
              <a:ext uri="{FF2B5EF4-FFF2-40B4-BE49-F238E27FC236}">
                <a16:creationId xmlns:a16="http://schemas.microsoft.com/office/drawing/2014/main" id="{311895EE-38EE-2EFD-9483-7666E6EB6B55}"/>
              </a:ext>
            </a:extLst>
          </p:cNvPr>
          <p:cNvSpPr txBox="1"/>
          <p:nvPr/>
        </p:nvSpPr>
        <p:spPr>
          <a:xfrm>
            <a:off x="8554833" y="864913"/>
            <a:ext cx="2131222" cy="246221"/>
          </a:xfrm>
          <a:prstGeom prst="rect">
            <a:avLst/>
          </a:prstGeom>
          <a:solidFill>
            <a:srgbClr val="EBF3FA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构建细胞相似性网络</a:t>
            </a:r>
          </a:p>
        </p:txBody>
      </p:sp>
      <p:grpSp>
        <p:nvGrpSpPr>
          <p:cNvPr id="1437" name="组合 1436">
            <a:extLst>
              <a:ext uri="{FF2B5EF4-FFF2-40B4-BE49-F238E27FC236}">
                <a16:creationId xmlns:a16="http://schemas.microsoft.com/office/drawing/2014/main" id="{B55FB36C-5F35-5CD9-421D-78C3B461502B}"/>
              </a:ext>
            </a:extLst>
          </p:cNvPr>
          <p:cNvGrpSpPr/>
          <p:nvPr/>
        </p:nvGrpSpPr>
        <p:grpSpPr>
          <a:xfrm>
            <a:off x="8203268" y="1815838"/>
            <a:ext cx="2812515" cy="652549"/>
            <a:chOff x="509614" y="2062414"/>
            <a:chExt cx="1727047" cy="892987"/>
          </a:xfrm>
        </p:grpSpPr>
        <p:sp>
          <p:nvSpPr>
            <p:cNvPr id="1438" name="矩形: 圆角 1437">
              <a:extLst>
                <a:ext uri="{FF2B5EF4-FFF2-40B4-BE49-F238E27FC236}">
                  <a16:creationId xmlns:a16="http://schemas.microsoft.com/office/drawing/2014/main" id="{E448D683-2812-35CF-6F2D-E3122D9F6C65}"/>
                </a:ext>
              </a:extLst>
            </p:cNvPr>
            <p:cNvSpPr/>
            <p:nvPr/>
          </p:nvSpPr>
          <p:spPr>
            <a:xfrm>
              <a:off x="509614" y="2062414"/>
              <a:ext cx="1727047" cy="892535"/>
            </a:xfrm>
            <a:prstGeom prst="roundRect">
              <a:avLst>
                <a:gd name="adj" fmla="val 3704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9" name="文本框 1438">
              <a:extLst>
                <a:ext uri="{FF2B5EF4-FFF2-40B4-BE49-F238E27FC236}">
                  <a16:creationId xmlns:a16="http://schemas.microsoft.com/office/drawing/2014/main" id="{3796C002-E65C-2D7C-3120-23DF0239A914}"/>
                </a:ext>
              </a:extLst>
            </p:cNvPr>
            <p:cNvSpPr txBox="1"/>
            <p:nvPr/>
          </p:nvSpPr>
          <p:spPr>
            <a:xfrm>
              <a:off x="585991" y="2169586"/>
              <a:ext cx="1574292" cy="381704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嵌入矩阵标准化</a:t>
              </a:r>
              <a:endPara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0" name="文本框 1439">
              <a:extLst>
                <a:ext uri="{FF2B5EF4-FFF2-40B4-BE49-F238E27FC236}">
                  <a16:creationId xmlns:a16="http://schemas.microsoft.com/office/drawing/2014/main" id="{E21E0CC0-E7BB-E361-DB13-ACCA6FF19091}"/>
                </a:ext>
              </a:extLst>
            </p:cNvPr>
            <p:cNvSpPr txBox="1"/>
            <p:nvPr/>
          </p:nvSpPr>
          <p:spPr>
            <a:xfrm>
              <a:off x="594372" y="2603319"/>
              <a:ext cx="1574291" cy="3520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dirty="0">
                  <a:solidFill>
                    <a:srgbClr val="C00000"/>
                  </a:solidFill>
                </a:rPr>
                <a:t>统一 </a:t>
              </a:r>
              <a:r>
                <a:rPr lang="en-US" altLang="zh-CN" sz="1200" dirty="0">
                  <a:solidFill>
                    <a:srgbClr val="C00000"/>
                  </a:solidFill>
                </a:rPr>
                <a:t>ATAC </a:t>
              </a:r>
              <a:r>
                <a:rPr lang="zh-CN" altLang="en-US" sz="1200" dirty="0">
                  <a:solidFill>
                    <a:srgbClr val="C00000"/>
                  </a:solidFill>
                </a:rPr>
                <a:t>与 </a:t>
              </a:r>
              <a:r>
                <a:rPr lang="en-US" altLang="zh-CN" sz="1200" dirty="0">
                  <a:solidFill>
                    <a:srgbClr val="C00000"/>
                  </a:solidFill>
                </a:rPr>
                <a:t>RNA </a:t>
              </a:r>
              <a:r>
                <a:rPr lang="zh-CN" altLang="en-US" sz="1200" dirty="0">
                  <a:solidFill>
                    <a:srgbClr val="C00000"/>
                  </a:solidFill>
                </a:rPr>
                <a:t>表示的数值尺度。</a:t>
              </a:r>
              <a:endPara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41" name="组合 1440">
            <a:extLst>
              <a:ext uri="{FF2B5EF4-FFF2-40B4-BE49-F238E27FC236}">
                <a16:creationId xmlns:a16="http://schemas.microsoft.com/office/drawing/2014/main" id="{B4CDA5BE-B22E-2FC0-5E4F-853FFD8BC142}"/>
              </a:ext>
            </a:extLst>
          </p:cNvPr>
          <p:cNvGrpSpPr/>
          <p:nvPr/>
        </p:nvGrpSpPr>
        <p:grpSpPr>
          <a:xfrm>
            <a:off x="8203267" y="2675773"/>
            <a:ext cx="2812515" cy="953862"/>
            <a:chOff x="509614" y="2062413"/>
            <a:chExt cx="1727047" cy="1299158"/>
          </a:xfrm>
        </p:grpSpPr>
        <p:sp>
          <p:nvSpPr>
            <p:cNvPr id="1442" name="矩形: 圆角 1441">
              <a:extLst>
                <a:ext uri="{FF2B5EF4-FFF2-40B4-BE49-F238E27FC236}">
                  <a16:creationId xmlns:a16="http://schemas.microsoft.com/office/drawing/2014/main" id="{93149A7A-E283-9747-6A06-5AFD70C182E9}"/>
                </a:ext>
              </a:extLst>
            </p:cNvPr>
            <p:cNvSpPr/>
            <p:nvPr/>
          </p:nvSpPr>
          <p:spPr>
            <a:xfrm>
              <a:off x="509614" y="2062413"/>
              <a:ext cx="1727047" cy="1299158"/>
            </a:xfrm>
            <a:prstGeom prst="roundRect">
              <a:avLst>
                <a:gd name="adj" fmla="val 3704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3" name="文本框 1442">
              <a:extLst>
                <a:ext uri="{FF2B5EF4-FFF2-40B4-BE49-F238E27FC236}">
                  <a16:creationId xmlns:a16="http://schemas.microsoft.com/office/drawing/2014/main" id="{9A1C3985-5DE2-447B-1FBD-520F1F79A3A1}"/>
                </a:ext>
              </a:extLst>
            </p:cNvPr>
            <p:cNvSpPr txBox="1"/>
            <p:nvPr/>
          </p:nvSpPr>
          <p:spPr>
            <a:xfrm>
              <a:off x="585991" y="2169586"/>
              <a:ext cx="1574292" cy="335352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加权拼接融合</a:t>
              </a:r>
              <a:endPara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4" name="文本框 1443">
              <a:extLst>
                <a:ext uri="{FF2B5EF4-FFF2-40B4-BE49-F238E27FC236}">
                  <a16:creationId xmlns:a16="http://schemas.microsoft.com/office/drawing/2014/main" id="{253C063F-8CB1-6FEE-8D81-94B8F263F48B}"/>
                </a:ext>
              </a:extLst>
            </p:cNvPr>
            <p:cNvSpPr txBox="1"/>
            <p:nvPr/>
          </p:nvSpPr>
          <p:spPr>
            <a:xfrm>
              <a:off x="594372" y="2603318"/>
              <a:ext cx="1574291" cy="5949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46" name="箭头: 右 1445">
            <a:extLst>
              <a:ext uri="{FF2B5EF4-FFF2-40B4-BE49-F238E27FC236}">
                <a16:creationId xmlns:a16="http://schemas.microsoft.com/office/drawing/2014/main" id="{2042662C-D476-B6D2-FEA7-0B3D0A45CA49}"/>
              </a:ext>
            </a:extLst>
          </p:cNvPr>
          <p:cNvSpPr/>
          <p:nvPr/>
        </p:nvSpPr>
        <p:spPr>
          <a:xfrm>
            <a:off x="4115495" y="2034423"/>
            <a:ext cx="542670" cy="599109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47" name="图片 1446">
            <a:extLst>
              <a:ext uri="{FF2B5EF4-FFF2-40B4-BE49-F238E27FC236}">
                <a16:creationId xmlns:a16="http://schemas.microsoft.com/office/drawing/2014/main" id="{57814A09-9536-D808-89A8-97C00D02829D}"/>
              </a:ext>
            </a:extLst>
          </p:cNvPr>
          <p:cNvPicPr>
            <a:picLocks/>
          </p:cNvPicPr>
          <p:nvPr/>
        </p:nvPicPr>
        <p:blipFill>
          <a:blip r:embed="rId4"/>
          <a:srcRect b="21765"/>
          <a:stretch>
            <a:fillRect/>
          </a:stretch>
        </p:blipFill>
        <p:spPr>
          <a:xfrm>
            <a:off x="5164139" y="2378008"/>
            <a:ext cx="2067545" cy="996182"/>
          </a:xfrm>
          <a:prstGeom prst="rect">
            <a:avLst/>
          </a:prstGeom>
        </p:spPr>
      </p:pic>
      <p:cxnSp>
        <p:nvCxnSpPr>
          <p:cNvPr id="1453" name="直接箭头连接符 1452">
            <a:extLst>
              <a:ext uri="{FF2B5EF4-FFF2-40B4-BE49-F238E27FC236}">
                <a16:creationId xmlns:a16="http://schemas.microsoft.com/office/drawing/2014/main" id="{1D20A65A-79B9-25AE-335F-BB7F3C148CCD}"/>
              </a:ext>
            </a:extLst>
          </p:cNvPr>
          <p:cNvCxnSpPr>
            <a:cxnSpLocks/>
            <a:endCxn id="1419" idx="0"/>
          </p:cNvCxnSpPr>
          <p:nvPr/>
        </p:nvCxnSpPr>
        <p:spPr>
          <a:xfrm>
            <a:off x="6173644" y="1425266"/>
            <a:ext cx="5938" cy="19404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直接箭头连接符 1461">
            <a:extLst>
              <a:ext uri="{FF2B5EF4-FFF2-40B4-BE49-F238E27FC236}">
                <a16:creationId xmlns:a16="http://schemas.microsoft.com/office/drawing/2014/main" id="{AF15419D-EA3D-BA50-C05D-DD3E54FD7D3D}"/>
              </a:ext>
            </a:extLst>
          </p:cNvPr>
          <p:cNvCxnSpPr>
            <a:cxnSpLocks/>
            <a:endCxn id="1439" idx="0"/>
          </p:cNvCxnSpPr>
          <p:nvPr/>
        </p:nvCxnSpPr>
        <p:spPr>
          <a:xfrm flipH="1">
            <a:off x="9609525" y="1685037"/>
            <a:ext cx="1" cy="209115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6" name="直接箭头连接符 1465">
            <a:extLst>
              <a:ext uri="{FF2B5EF4-FFF2-40B4-BE49-F238E27FC236}">
                <a16:creationId xmlns:a16="http://schemas.microsoft.com/office/drawing/2014/main" id="{C71B6749-B099-6DB9-299E-086807189D4B}"/>
              </a:ext>
            </a:extLst>
          </p:cNvPr>
          <p:cNvCxnSpPr>
            <a:cxnSpLocks/>
            <a:stCxn id="1438" idx="2"/>
            <a:endCxn id="1442" idx="0"/>
          </p:cNvCxnSpPr>
          <p:nvPr/>
        </p:nvCxnSpPr>
        <p:spPr>
          <a:xfrm flipH="1">
            <a:off x="9609525" y="2468057"/>
            <a:ext cx="1" cy="207716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9" name="直接箭头连接符 1468">
            <a:extLst>
              <a:ext uri="{FF2B5EF4-FFF2-40B4-BE49-F238E27FC236}">
                <a16:creationId xmlns:a16="http://schemas.microsoft.com/office/drawing/2014/main" id="{91F0DB9E-97F1-3ECE-559A-CFE481E8B91E}"/>
              </a:ext>
            </a:extLst>
          </p:cNvPr>
          <p:cNvCxnSpPr>
            <a:cxnSpLocks/>
            <a:stCxn id="1447" idx="2"/>
            <a:endCxn id="1432" idx="0"/>
          </p:cNvCxnSpPr>
          <p:nvPr/>
        </p:nvCxnSpPr>
        <p:spPr>
          <a:xfrm>
            <a:off x="6197912" y="3374190"/>
            <a:ext cx="54033" cy="255445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2" name="矩形: 圆角 1471">
            <a:extLst>
              <a:ext uri="{FF2B5EF4-FFF2-40B4-BE49-F238E27FC236}">
                <a16:creationId xmlns:a16="http://schemas.microsoft.com/office/drawing/2014/main" id="{2E4DD0C9-9E2C-5DC0-4CBD-4ABB8BC49DE9}"/>
              </a:ext>
            </a:extLst>
          </p:cNvPr>
          <p:cNvSpPr/>
          <p:nvPr/>
        </p:nvSpPr>
        <p:spPr>
          <a:xfrm>
            <a:off x="4443231" y="5159767"/>
            <a:ext cx="4593193" cy="1399465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3" name="文本框 1472">
            <a:extLst>
              <a:ext uri="{FF2B5EF4-FFF2-40B4-BE49-F238E27FC236}">
                <a16:creationId xmlns:a16="http://schemas.microsoft.com/office/drawing/2014/main" id="{8991091F-365B-12C5-CF22-6B704F574837}"/>
              </a:ext>
            </a:extLst>
          </p:cNvPr>
          <p:cNvSpPr txBox="1"/>
          <p:nvPr/>
        </p:nvSpPr>
        <p:spPr>
          <a:xfrm>
            <a:off x="5820792" y="5199087"/>
            <a:ext cx="1517112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网络传播</a:t>
            </a:r>
          </a:p>
        </p:txBody>
      </p:sp>
      <p:sp>
        <p:nvSpPr>
          <p:cNvPr id="1482" name="箭头: 左右 1481">
            <a:extLst>
              <a:ext uri="{FF2B5EF4-FFF2-40B4-BE49-F238E27FC236}">
                <a16:creationId xmlns:a16="http://schemas.microsoft.com/office/drawing/2014/main" id="{6587AD73-4B9C-378D-F981-DF9D07279762}"/>
              </a:ext>
            </a:extLst>
          </p:cNvPr>
          <p:cNvSpPr/>
          <p:nvPr/>
        </p:nvSpPr>
        <p:spPr>
          <a:xfrm>
            <a:off x="6267418" y="5559919"/>
            <a:ext cx="730852" cy="238352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84" name="图片 1483">
            <a:extLst>
              <a:ext uri="{FF2B5EF4-FFF2-40B4-BE49-F238E27FC236}">
                <a16:creationId xmlns:a16="http://schemas.microsoft.com/office/drawing/2014/main" id="{7FDD96E3-B14A-17C1-68B5-27C6E6EE97E2}"/>
              </a:ext>
            </a:extLst>
          </p:cNvPr>
          <p:cNvPicPr>
            <a:picLocks/>
          </p:cNvPicPr>
          <p:nvPr/>
        </p:nvPicPr>
        <p:blipFill>
          <a:blip r:embed="rId5"/>
          <a:srcRect t="2546" b="11634"/>
          <a:stretch>
            <a:fillRect/>
          </a:stretch>
        </p:blipFill>
        <p:spPr>
          <a:xfrm>
            <a:off x="4587285" y="5485869"/>
            <a:ext cx="2077481" cy="798157"/>
          </a:xfrm>
          <a:prstGeom prst="rect">
            <a:avLst/>
          </a:prstGeom>
        </p:spPr>
      </p:pic>
      <p:pic>
        <p:nvPicPr>
          <p:cNvPr id="1485" name="图片 1484">
            <a:extLst>
              <a:ext uri="{FF2B5EF4-FFF2-40B4-BE49-F238E27FC236}">
                <a16:creationId xmlns:a16="http://schemas.microsoft.com/office/drawing/2014/main" id="{E5991539-CD8D-257A-10E1-F218AD2E5F98}"/>
              </a:ext>
            </a:extLst>
          </p:cNvPr>
          <p:cNvPicPr>
            <a:picLocks/>
          </p:cNvPicPr>
          <p:nvPr/>
        </p:nvPicPr>
        <p:blipFill>
          <a:blip r:embed="rId6"/>
          <a:srcRect l="2252" t="3228"/>
          <a:stretch>
            <a:fillRect/>
          </a:stretch>
        </p:blipFill>
        <p:spPr>
          <a:xfrm>
            <a:off x="6751498" y="5453763"/>
            <a:ext cx="2131614" cy="1018529"/>
          </a:xfrm>
          <a:prstGeom prst="rect">
            <a:avLst/>
          </a:prstGeom>
        </p:spPr>
      </p:pic>
      <p:sp>
        <p:nvSpPr>
          <p:cNvPr id="1486" name="箭头: 右 1485">
            <a:extLst>
              <a:ext uri="{FF2B5EF4-FFF2-40B4-BE49-F238E27FC236}">
                <a16:creationId xmlns:a16="http://schemas.microsoft.com/office/drawing/2014/main" id="{7A769008-3E70-0884-F727-A5B82B518941}"/>
              </a:ext>
            </a:extLst>
          </p:cNvPr>
          <p:cNvSpPr/>
          <p:nvPr/>
        </p:nvSpPr>
        <p:spPr>
          <a:xfrm>
            <a:off x="6579348" y="5786123"/>
            <a:ext cx="218235" cy="2086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FC9DEE2A-59D4-49D2-A1E8-E86ADDC12162}"/>
              </a:ext>
            </a:extLst>
          </p:cNvPr>
          <p:cNvSpPr txBox="1">
            <a:spLocks/>
          </p:cNvSpPr>
          <p:nvPr/>
        </p:nvSpPr>
        <p:spPr>
          <a:xfrm>
            <a:off x="9291669" y="6421873"/>
            <a:ext cx="2716835" cy="299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1494" name="矩形: 圆角 1493">
            <a:extLst>
              <a:ext uri="{FF2B5EF4-FFF2-40B4-BE49-F238E27FC236}">
                <a16:creationId xmlns:a16="http://schemas.microsoft.com/office/drawing/2014/main" id="{2D8DDE95-58FA-C7F5-5C41-CA7D124AD34B}"/>
              </a:ext>
            </a:extLst>
          </p:cNvPr>
          <p:cNvSpPr/>
          <p:nvPr/>
        </p:nvSpPr>
        <p:spPr>
          <a:xfrm>
            <a:off x="9242688" y="5385099"/>
            <a:ext cx="2678606" cy="704569"/>
          </a:xfrm>
          <a:prstGeom prst="roundRect">
            <a:avLst>
              <a:gd name="adj" fmla="val 1681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9" name="文本框 1488">
            <a:extLst>
              <a:ext uri="{FF2B5EF4-FFF2-40B4-BE49-F238E27FC236}">
                <a16:creationId xmlns:a16="http://schemas.microsoft.com/office/drawing/2014/main" id="{6D3286B7-3382-A52A-983B-09A1840D11DD}"/>
              </a:ext>
            </a:extLst>
          </p:cNvPr>
          <p:cNvSpPr txBox="1"/>
          <p:nvPr/>
        </p:nvSpPr>
        <p:spPr>
          <a:xfrm>
            <a:off x="9291669" y="5458170"/>
            <a:ext cx="2509263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输出性状相关性评分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(TRS)</a:t>
            </a:r>
          </a:p>
        </p:txBody>
      </p:sp>
      <p:sp>
        <p:nvSpPr>
          <p:cNvPr id="1495" name="箭头: 右 1494">
            <a:extLst>
              <a:ext uri="{FF2B5EF4-FFF2-40B4-BE49-F238E27FC236}">
                <a16:creationId xmlns:a16="http://schemas.microsoft.com/office/drawing/2014/main" id="{2FFD3B49-C113-963A-9F4D-E36DC19BC8AB}"/>
              </a:ext>
            </a:extLst>
          </p:cNvPr>
          <p:cNvSpPr/>
          <p:nvPr/>
        </p:nvSpPr>
        <p:spPr>
          <a:xfrm>
            <a:off x="8960560" y="5497758"/>
            <a:ext cx="398113" cy="333085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99" name="直接箭头连接符 1498">
            <a:extLst>
              <a:ext uri="{FF2B5EF4-FFF2-40B4-BE49-F238E27FC236}">
                <a16:creationId xmlns:a16="http://schemas.microsoft.com/office/drawing/2014/main" id="{D75C468D-F9E9-1BAA-4FFD-C62DDB767152}"/>
              </a:ext>
            </a:extLst>
          </p:cNvPr>
          <p:cNvCxnSpPr>
            <a:cxnSpLocks/>
            <a:stCxn id="1368" idx="2"/>
            <a:endCxn id="1472" idx="0"/>
          </p:cNvCxnSpPr>
          <p:nvPr/>
        </p:nvCxnSpPr>
        <p:spPr>
          <a:xfrm>
            <a:off x="6194478" y="4350026"/>
            <a:ext cx="545350" cy="8097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03" name="直接箭头连接符 1502">
            <a:extLst>
              <a:ext uri="{FF2B5EF4-FFF2-40B4-BE49-F238E27FC236}">
                <a16:creationId xmlns:a16="http://schemas.microsoft.com/office/drawing/2014/main" id="{4C623A05-4A61-AB53-B83C-3C64678F7A41}"/>
              </a:ext>
            </a:extLst>
          </p:cNvPr>
          <p:cNvCxnSpPr>
            <a:cxnSpLocks/>
            <a:stCxn id="1434" idx="2"/>
            <a:endCxn id="1472" idx="0"/>
          </p:cNvCxnSpPr>
          <p:nvPr/>
        </p:nvCxnSpPr>
        <p:spPr>
          <a:xfrm flipH="1">
            <a:off x="6739828" y="4947665"/>
            <a:ext cx="2869698" cy="2121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504" name="组合 1503">
            <a:extLst>
              <a:ext uri="{FF2B5EF4-FFF2-40B4-BE49-F238E27FC236}">
                <a16:creationId xmlns:a16="http://schemas.microsoft.com/office/drawing/2014/main" id="{96E9B35A-8CE4-27B0-41A8-B616BE24B5A6}"/>
              </a:ext>
            </a:extLst>
          </p:cNvPr>
          <p:cNvGrpSpPr/>
          <p:nvPr/>
        </p:nvGrpSpPr>
        <p:grpSpPr>
          <a:xfrm>
            <a:off x="1465106" y="4678761"/>
            <a:ext cx="981971" cy="548113"/>
            <a:chOff x="521747" y="5568636"/>
            <a:chExt cx="2379052" cy="787714"/>
          </a:xfrm>
        </p:grpSpPr>
        <p:sp>
          <p:nvSpPr>
            <p:cNvPr id="1505" name="矩形 1504">
              <a:extLst>
                <a:ext uri="{FF2B5EF4-FFF2-40B4-BE49-F238E27FC236}">
                  <a16:creationId xmlns:a16="http://schemas.microsoft.com/office/drawing/2014/main" id="{999D5CA8-123E-AD89-4B0A-28FEC64C58D4}"/>
                </a:ext>
              </a:extLst>
            </p:cNvPr>
            <p:cNvSpPr/>
            <p:nvPr/>
          </p:nvSpPr>
          <p:spPr>
            <a:xfrm>
              <a:off x="521747" y="5568636"/>
              <a:ext cx="2379051" cy="7877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6" name="文本框 1505">
              <a:extLst>
                <a:ext uri="{FF2B5EF4-FFF2-40B4-BE49-F238E27FC236}">
                  <a16:creationId xmlns:a16="http://schemas.microsoft.com/office/drawing/2014/main" id="{4A8EA906-A211-9B51-9B5A-98114DA7647D}"/>
                </a:ext>
              </a:extLst>
            </p:cNvPr>
            <p:cNvSpPr txBox="1"/>
            <p:nvPr/>
          </p:nvSpPr>
          <p:spPr>
            <a:xfrm>
              <a:off x="585993" y="5611390"/>
              <a:ext cx="23148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LSI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细胞嵌入矩阵</a:t>
              </a:r>
            </a:p>
          </p:txBody>
        </p:sp>
      </p:grpSp>
      <p:cxnSp>
        <p:nvCxnSpPr>
          <p:cNvPr id="1508" name="直接箭头连接符 1507">
            <a:extLst>
              <a:ext uri="{FF2B5EF4-FFF2-40B4-BE49-F238E27FC236}">
                <a16:creationId xmlns:a16="http://schemas.microsoft.com/office/drawing/2014/main" id="{BC62A6FA-2DCA-1841-A108-4614BEA3C8B9}"/>
              </a:ext>
            </a:extLst>
          </p:cNvPr>
          <p:cNvCxnSpPr>
            <a:cxnSpLocks/>
          </p:cNvCxnSpPr>
          <p:nvPr/>
        </p:nvCxnSpPr>
        <p:spPr>
          <a:xfrm>
            <a:off x="2001633" y="4439154"/>
            <a:ext cx="0" cy="21881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9" name="组合 1508">
            <a:extLst>
              <a:ext uri="{FF2B5EF4-FFF2-40B4-BE49-F238E27FC236}">
                <a16:creationId xmlns:a16="http://schemas.microsoft.com/office/drawing/2014/main" id="{FF4E7400-EF81-4994-4A66-ACA99DA001B2}"/>
              </a:ext>
            </a:extLst>
          </p:cNvPr>
          <p:cNvGrpSpPr/>
          <p:nvPr/>
        </p:nvGrpSpPr>
        <p:grpSpPr>
          <a:xfrm>
            <a:off x="4574185" y="1117971"/>
            <a:ext cx="3198918" cy="356898"/>
            <a:chOff x="483659" y="5568636"/>
            <a:chExt cx="2417140" cy="787714"/>
          </a:xfrm>
        </p:grpSpPr>
        <p:sp>
          <p:nvSpPr>
            <p:cNvPr id="1510" name="矩形 1509">
              <a:extLst>
                <a:ext uri="{FF2B5EF4-FFF2-40B4-BE49-F238E27FC236}">
                  <a16:creationId xmlns:a16="http://schemas.microsoft.com/office/drawing/2014/main" id="{997656EE-A46D-0CA7-DB28-626503EBA568}"/>
                </a:ext>
              </a:extLst>
            </p:cNvPr>
            <p:cNvSpPr/>
            <p:nvPr/>
          </p:nvSpPr>
          <p:spPr>
            <a:xfrm>
              <a:off x="521747" y="5568636"/>
              <a:ext cx="2379051" cy="7877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1" name="文本框 1510">
              <a:extLst>
                <a:ext uri="{FF2B5EF4-FFF2-40B4-BE49-F238E27FC236}">
                  <a16:creationId xmlns:a16="http://schemas.microsoft.com/office/drawing/2014/main" id="{E289206B-6A18-84D0-4DA3-B541E2CF91BE}"/>
                </a:ext>
              </a:extLst>
            </p:cNvPr>
            <p:cNvSpPr txBox="1"/>
            <p:nvPr/>
          </p:nvSpPr>
          <p:spPr>
            <a:xfrm>
              <a:off x="483659" y="5611390"/>
              <a:ext cx="24171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候选因果变异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–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开放染色质峰重叠结果</a:t>
              </a:r>
            </a:p>
          </p:txBody>
        </p:sp>
      </p:grpSp>
      <p:grpSp>
        <p:nvGrpSpPr>
          <p:cNvPr id="1512" name="组合 1511">
            <a:extLst>
              <a:ext uri="{FF2B5EF4-FFF2-40B4-BE49-F238E27FC236}">
                <a16:creationId xmlns:a16="http://schemas.microsoft.com/office/drawing/2014/main" id="{7EBBAF37-1ADA-4A9D-1850-2C626AD9F8C8}"/>
              </a:ext>
            </a:extLst>
          </p:cNvPr>
          <p:cNvGrpSpPr/>
          <p:nvPr/>
        </p:nvGrpSpPr>
        <p:grpSpPr>
          <a:xfrm>
            <a:off x="8224186" y="1147664"/>
            <a:ext cx="2856187" cy="551476"/>
            <a:chOff x="531067" y="5664494"/>
            <a:chExt cx="2379051" cy="805508"/>
          </a:xfrm>
        </p:grpSpPr>
        <p:sp>
          <p:nvSpPr>
            <p:cNvPr id="1513" name="矩形 1512">
              <a:extLst>
                <a:ext uri="{FF2B5EF4-FFF2-40B4-BE49-F238E27FC236}">
                  <a16:creationId xmlns:a16="http://schemas.microsoft.com/office/drawing/2014/main" id="{E7259BFD-0A45-52EE-A51D-E682C0E379C1}"/>
                </a:ext>
              </a:extLst>
            </p:cNvPr>
            <p:cNvSpPr/>
            <p:nvPr/>
          </p:nvSpPr>
          <p:spPr>
            <a:xfrm>
              <a:off x="531067" y="5664494"/>
              <a:ext cx="2379051" cy="7877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4" name="文本框 1513">
              <a:extLst>
                <a:ext uri="{FF2B5EF4-FFF2-40B4-BE49-F238E27FC236}">
                  <a16:creationId xmlns:a16="http://schemas.microsoft.com/office/drawing/2014/main" id="{2EF9E210-D9AF-BC54-EB0E-FBA087B0261F}"/>
                </a:ext>
              </a:extLst>
            </p:cNvPr>
            <p:cNvSpPr txBox="1"/>
            <p:nvPr/>
          </p:nvSpPr>
          <p:spPr>
            <a:xfrm>
              <a:off x="553871" y="5705766"/>
              <a:ext cx="2314805" cy="76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ATAC LSI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嵌入矩阵 </a:t>
              </a: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 RNA 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性状相关嵌入矩阵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508C0651-BCA3-B7A6-7623-C3B3C935E3E8}"/>
              </a:ext>
            </a:extLst>
          </p:cNvPr>
          <p:cNvSpPr txBox="1"/>
          <p:nvPr/>
        </p:nvSpPr>
        <p:spPr>
          <a:xfrm rot="16200000">
            <a:off x="4758510" y="2766244"/>
            <a:ext cx="933522" cy="269215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2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norm_score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49AAE7B-076A-966F-3449-94C7088AA08D}"/>
              </a:ext>
            </a:extLst>
          </p:cNvPr>
          <p:cNvSpPr/>
          <p:nvPr/>
        </p:nvSpPr>
        <p:spPr>
          <a:xfrm>
            <a:off x="2502568" y="2250733"/>
            <a:ext cx="1578077" cy="599109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4BD3BEB-4DFF-482D-02EE-FD9EFF5ADB0E}"/>
              </a:ext>
            </a:extLst>
          </p:cNvPr>
          <p:cNvSpPr txBox="1"/>
          <p:nvPr/>
        </p:nvSpPr>
        <p:spPr>
          <a:xfrm>
            <a:off x="2533503" y="2293224"/>
            <a:ext cx="1527508" cy="271278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scRNA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-seq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表达矩阵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7312BD6-FEAA-932B-F3D2-55734BD7C75E}"/>
              </a:ext>
            </a:extLst>
          </p:cNvPr>
          <p:cNvCxnSpPr>
            <a:cxnSpLocks/>
          </p:cNvCxnSpPr>
          <p:nvPr/>
        </p:nvCxnSpPr>
        <p:spPr>
          <a:xfrm flipH="1">
            <a:off x="3310564" y="2874661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6723F4A-A173-A6A2-6471-5A9886BA8E41}"/>
              </a:ext>
            </a:extLst>
          </p:cNvPr>
          <p:cNvCxnSpPr>
            <a:cxnSpLocks/>
          </p:cNvCxnSpPr>
          <p:nvPr/>
        </p:nvCxnSpPr>
        <p:spPr>
          <a:xfrm flipH="1">
            <a:off x="3310564" y="5134748"/>
            <a:ext cx="0" cy="26525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E62344F-EEF2-9B15-A73D-6E78F7B4F8E0}"/>
              </a:ext>
            </a:extLst>
          </p:cNvPr>
          <p:cNvCxnSpPr>
            <a:cxnSpLocks/>
          </p:cNvCxnSpPr>
          <p:nvPr/>
        </p:nvCxnSpPr>
        <p:spPr>
          <a:xfrm>
            <a:off x="3310564" y="4131213"/>
            <a:ext cx="0" cy="21881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1B56C31-6B94-786B-393A-F38539B46D4E}"/>
              </a:ext>
            </a:extLst>
          </p:cNvPr>
          <p:cNvCxnSpPr>
            <a:cxnSpLocks/>
            <a:stCxn id="63" idx="2"/>
            <a:endCxn id="40" idx="0"/>
          </p:cNvCxnSpPr>
          <p:nvPr/>
        </p:nvCxnSpPr>
        <p:spPr>
          <a:xfrm>
            <a:off x="2169478" y="1851011"/>
            <a:ext cx="1020109" cy="7114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5B2AA374-BB7D-5BB8-CC71-7185D82C903E}"/>
              </a:ext>
            </a:extLst>
          </p:cNvPr>
          <p:cNvSpPr txBox="1"/>
          <p:nvPr/>
        </p:nvSpPr>
        <p:spPr>
          <a:xfrm>
            <a:off x="2805664" y="1922154"/>
            <a:ext cx="767846" cy="396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C00000"/>
                </a:solidFill>
              </a:rPr>
              <a:t>RNA</a:t>
            </a:r>
            <a:r>
              <a:rPr lang="zh-CN" altLang="en-US" sz="1400" b="1" dirty="0">
                <a:solidFill>
                  <a:srgbClr val="C00000"/>
                </a:solidFill>
              </a:rPr>
              <a:t>数据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B7B1B91-ADDD-F80A-3BB7-1DD1F7039A0C}"/>
              </a:ext>
            </a:extLst>
          </p:cNvPr>
          <p:cNvSpPr txBox="1"/>
          <p:nvPr/>
        </p:nvSpPr>
        <p:spPr>
          <a:xfrm>
            <a:off x="2571425" y="2616051"/>
            <a:ext cx="1439033" cy="209085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</a:rPr>
              <a:t>归一化 </a:t>
            </a:r>
            <a:r>
              <a:rPr lang="en-US" altLang="zh-CN" sz="1200" dirty="0">
                <a:solidFill>
                  <a:srgbClr val="C00000"/>
                </a:solidFill>
              </a:rPr>
              <a:t>/ log </a:t>
            </a:r>
            <a:r>
              <a:rPr lang="zh-CN" altLang="en-US" sz="1200" dirty="0">
                <a:solidFill>
                  <a:srgbClr val="C00000"/>
                </a:solidFill>
              </a:rPr>
              <a:t>转换</a:t>
            </a:r>
            <a:endParaRPr lang="zh-CN" altLang="en-US" sz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705F695-737E-2A16-75DC-3C2C45A50E89}"/>
              </a:ext>
            </a:extLst>
          </p:cNvPr>
          <p:cNvSpPr/>
          <p:nvPr/>
        </p:nvSpPr>
        <p:spPr>
          <a:xfrm>
            <a:off x="2498711" y="3139821"/>
            <a:ext cx="1578077" cy="991392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80B84F0-E4DB-A151-B918-C8C2411242C3}"/>
              </a:ext>
            </a:extLst>
          </p:cNvPr>
          <p:cNvSpPr txBox="1"/>
          <p:nvPr/>
        </p:nvSpPr>
        <p:spPr>
          <a:xfrm>
            <a:off x="2529646" y="3182312"/>
            <a:ext cx="1527508" cy="271278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映射性状相关基因集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8CB5DB8-9C24-8092-DBF1-4E64EC0211BE}"/>
              </a:ext>
            </a:extLst>
          </p:cNvPr>
          <p:cNvSpPr txBox="1"/>
          <p:nvPr/>
        </p:nvSpPr>
        <p:spPr>
          <a:xfrm>
            <a:off x="2558654" y="3505139"/>
            <a:ext cx="1407336" cy="54285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</a:rPr>
              <a:t>根据 </a:t>
            </a:r>
            <a:r>
              <a:rPr lang="en-US" altLang="zh-CN" sz="1200" dirty="0">
                <a:solidFill>
                  <a:srgbClr val="C00000"/>
                </a:solidFill>
              </a:rPr>
              <a:t>MAGMA </a:t>
            </a:r>
            <a:r>
              <a:rPr lang="zh-CN" altLang="en-US" sz="1200" dirty="0">
                <a:solidFill>
                  <a:srgbClr val="C00000"/>
                </a:solidFill>
              </a:rPr>
              <a:t>基因集保留目标性状相关基因。</a:t>
            </a:r>
            <a:endParaRPr lang="zh-CN" altLang="en-US" sz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630FFF7-28AC-6169-CDDA-54AFC63FA556}"/>
              </a:ext>
            </a:extLst>
          </p:cNvPr>
          <p:cNvSpPr/>
          <p:nvPr/>
        </p:nvSpPr>
        <p:spPr>
          <a:xfrm>
            <a:off x="2524627" y="4329426"/>
            <a:ext cx="1578077" cy="793903"/>
          </a:xfrm>
          <a:prstGeom prst="roundRect">
            <a:avLst>
              <a:gd name="adj" fmla="val 3704"/>
            </a:avLst>
          </a:prstGeom>
          <a:solidFill>
            <a:schemeClr val="bg1">
              <a:lumMod val="95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F179976-360D-236B-A389-DA0A6114AF49}"/>
              </a:ext>
            </a:extLst>
          </p:cNvPr>
          <p:cNvSpPr txBox="1"/>
          <p:nvPr/>
        </p:nvSpPr>
        <p:spPr>
          <a:xfrm>
            <a:off x="2555562" y="4371917"/>
            <a:ext cx="1527508" cy="271278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PCA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降维表示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44" name="文本框 1343">
            <a:extLst>
              <a:ext uri="{FF2B5EF4-FFF2-40B4-BE49-F238E27FC236}">
                <a16:creationId xmlns:a16="http://schemas.microsoft.com/office/drawing/2014/main" id="{6A8C5EBE-A89E-F144-2F4B-C02639B83CBF}"/>
              </a:ext>
            </a:extLst>
          </p:cNvPr>
          <p:cNvSpPr txBox="1"/>
          <p:nvPr/>
        </p:nvSpPr>
        <p:spPr>
          <a:xfrm>
            <a:off x="2584570" y="4694744"/>
            <a:ext cx="1407336" cy="428585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</a:rPr>
              <a:t>提取 </a:t>
            </a:r>
            <a:r>
              <a:rPr lang="en-US" altLang="zh-CN" sz="1200" dirty="0">
                <a:solidFill>
                  <a:srgbClr val="C00000"/>
                </a:solidFill>
              </a:rPr>
              <a:t>RNA </a:t>
            </a:r>
            <a:r>
              <a:rPr lang="zh-CN" altLang="en-US" sz="1200" dirty="0">
                <a:solidFill>
                  <a:srgbClr val="C00000"/>
                </a:solidFill>
              </a:rPr>
              <a:t>端性状相关低维特征</a:t>
            </a:r>
            <a:endParaRPr lang="zh-CN" altLang="en-US" sz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345" name="组合 1344">
            <a:extLst>
              <a:ext uri="{FF2B5EF4-FFF2-40B4-BE49-F238E27FC236}">
                <a16:creationId xmlns:a16="http://schemas.microsoft.com/office/drawing/2014/main" id="{37EA5328-0E4D-2619-1D9C-330AECBDDA2A}"/>
              </a:ext>
            </a:extLst>
          </p:cNvPr>
          <p:cNvGrpSpPr/>
          <p:nvPr/>
        </p:nvGrpSpPr>
        <p:grpSpPr>
          <a:xfrm>
            <a:off x="2702074" y="5413465"/>
            <a:ext cx="1216979" cy="552969"/>
            <a:chOff x="521747" y="5568636"/>
            <a:chExt cx="2379052" cy="794693"/>
          </a:xfrm>
        </p:grpSpPr>
        <p:sp>
          <p:nvSpPr>
            <p:cNvPr id="1346" name="矩形 1345">
              <a:extLst>
                <a:ext uri="{FF2B5EF4-FFF2-40B4-BE49-F238E27FC236}">
                  <a16:creationId xmlns:a16="http://schemas.microsoft.com/office/drawing/2014/main" id="{08778C37-9B84-24EF-5CA4-DA019177F093}"/>
                </a:ext>
              </a:extLst>
            </p:cNvPr>
            <p:cNvSpPr/>
            <p:nvPr/>
          </p:nvSpPr>
          <p:spPr>
            <a:xfrm>
              <a:off x="521747" y="5568636"/>
              <a:ext cx="2379051" cy="7877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7" name="文本框 1346">
              <a:extLst>
                <a:ext uri="{FF2B5EF4-FFF2-40B4-BE49-F238E27FC236}">
                  <a16:creationId xmlns:a16="http://schemas.microsoft.com/office/drawing/2014/main" id="{4B3EB972-3F8D-6C20-2833-17083E94D87A}"/>
                </a:ext>
              </a:extLst>
            </p:cNvPr>
            <p:cNvSpPr txBox="1"/>
            <p:nvPr/>
          </p:nvSpPr>
          <p:spPr>
            <a:xfrm>
              <a:off x="585992" y="5611389"/>
              <a:ext cx="2314807" cy="751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RNA 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性状相关嵌入矩阵</a:t>
              </a:r>
            </a:p>
          </p:txBody>
        </p:sp>
      </p:grpSp>
      <p:pic>
        <p:nvPicPr>
          <p:cNvPr id="1353" name="图片 1352">
            <a:extLst>
              <a:ext uri="{FF2B5EF4-FFF2-40B4-BE49-F238E27FC236}">
                <a16:creationId xmlns:a16="http://schemas.microsoft.com/office/drawing/2014/main" id="{438623A7-DB09-127D-E7A2-D60EBAB29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0472" y="3028441"/>
            <a:ext cx="2579290" cy="345749"/>
          </a:xfrm>
          <a:prstGeom prst="rect">
            <a:avLst/>
          </a:prstGeom>
        </p:spPr>
      </p:pic>
      <p:sp>
        <p:nvSpPr>
          <p:cNvPr id="1354" name="文本框 1353">
            <a:extLst>
              <a:ext uri="{FF2B5EF4-FFF2-40B4-BE49-F238E27FC236}">
                <a16:creationId xmlns:a16="http://schemas.microsoft.com/office/drawing/2014/main" id="{B3463A6D-E0D9-2D23-40E4-8B1B7242C106}"/>
              </a:ext>
            </a:extLst>
          </p:cNvPr>
          <p:cNvSpPr txBox="1"/>
          <p:nvPr/>
        </p:nvSpPr>
        <p:spPr>
          <a:xfrm>
            <a:off x="8343806" y="3360018"/>
            <a:ext cx="2563750" cy="257283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</a:rPr>
              <a:t>W=0.7/w=1.0</a:t>
            </a:r>
          </a:p>
        </p:txBody>
      </p:sp>
      <p:grpSp>
        <p:nvGrpSpPr>
          <p:cNvPr id="1356" name="组合 1355">
            <a:extLst>
              <a:ext uri="{FF2B5EF4-FFF2-40B4-BE49-F238E27FC236}">
                <a16:creationId xmlns:a16="http://schemas.microsoft.com/office/drawing/2014/main" id="{B0E276AE-1CB3-E73D-4D5F-8A9E7FAE8ED4}"/>
              </a:ext>
            </a:extLst>
          </p:cNvPr>
          <p:cNvGrpSpPr/>
          <p:nvPr/>
        </p:nvGrpSpPr>
        <p:grpSpPr>
          <a:xfrm>
            <a:off x="8214186" y="3764187"/>
            <a:ext cx="2812515" cy="652549"/>
            <a:chOff x="509614" y="2062414"/>
            <a:chExt cx="1727047" cy="892987"/>
          </a:xfrm>
        </p:grpSpPr>
        <p:sp>
          <p:nvSpPr>
            <p:cNvPr id="1357" name="矩形: 圆角 1356">
              <a:extLst>
                <a:ext uri="{FF2B5EF4-FFF2-40B4-BE49-F238E27FC236}">
                  <a16:creationId xmlns:a16="http://schemas.microsoft.com/office/drawing/2014/main" id="{8BD0E866-F9EB-D8F1-C501-1E3F1B3F309A}"/>
                </a:ext>
              </a:extLst>
            </p:cNvPr>
            <p:cNvSpPr/>
            <p:nvPr/>
          </p:nvSpPr>
          <p:spPr>
            <a:xfrm>
              <a:off x="509614" y="2062414"/>
              <a:ext cx="1727047" cy="892535"/>
            </a:xfrm>
            <a:prstGeom prst="roundRect">
              <a:avLst>
                <a:gd name="adj" fmla="val 3704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58" name="文本框 1357">
              <a:extLst>
                <a:ext uri="{FF2B5EF4-FFF2-40B4-BE49-F238E27FC236}">
                  <a16:creationId xmlns:a16="http://schemas.microsoft.com/office/drawing/2014/main" id="{808B1A2C-665C-B807-9EF4-22111988CCF6}"/>
                </a:ext>
              </a:extLst>
            </p:cNvPr>
            <p:cNvSpPr txBox="1"/>
            <p:nvPr/>
          </p:nvSpPr>
          <p:spPr>
            <a:xfrm>
              <a:off x="585991" y="2169586"/>
              <a:ext cx="1574292" cy="381704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计算融合空间细胞间距离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59" name="文本框 1358">
              <a:extLst>
                <a:ext uri="{FF2B5EF4-FFF2-40B4-BE49-F238E27FC236}">
                  <a16:creationId xmlns:a16="http://schemas.microsoft.com/office/drawing/2014/main" id="{3DE651D8-FC49-CE04-1193-F83046571F90}"/>
                </a:ext>
              </a:extLst>
            </p:cNvPr>
            <p:cNvSpPr txBox="1"/>
            <p:nvPr/>
          </p:nvSpPr>
          <p:spPr>
            <a:xfrm>
              <a:off x="594372" y="2603319"/>
              <a:ext cx="1574291" cy="3520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dirty="0"/>
                <a:t>距离越近说明两个细胞状态越相似</a:t>
              </a:r>
              <a:endParaRPr lang="en-US" altLang="zh-CN" sz="1200" dirty="0"/>
            </a:p>
          </p:txBody>
        </p:sp>
      </p:grpSp>
      <p:cxnSp>
        <p:nvCxnSpPr>
          <p:cNvPr id="1360" name="直接箭头连接符 1359">
            <a:extLst>
              <a:ext uri="{FF2B5EF4-FFF2-40B4-BE49-F238E27FC236}">
                <a16:creationId xmlns:a16="http://schemas.microsoft.com/office/drawing/2014/main" id="{BC9A3021-CEA8-7E16-91D1-A5C9C6DA80F3}"/>
              </a:ext>
            </a:extLst>
          </p:cNvPr>
          <p:cNvCxnSpPr>
            <a:cxnSpLocks/>
          </p:cNvCxnSpPr>
          <p:nvPr/>
        </p:nvCxnSpPr>
        <p:spPr>
          <a:xfrm flipH="1">
            <a:off x="9590117" y="3634585"/>
            <a:ext cx="1" cy="207716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6" name="组合 1365">
            <a:extLst>
              <a:ext uri="{FF2B5EF4-FFF2-40B4-BE49-F238E27FC236}">
                <a16:creationId xmlns:a16="http://schemas.microsoft.com/office/drawing/2014/main" id="{3378954D-31F5-7914-81BB-297E4AA743EB}"/>
              </a:ext>
            </a:extLst>
          </p:cNvPr>
          <p:cNvGrpSpPr/>
          <p:nvPr/>
        </p:nvGrpSpPr>
        <p:grpSpPr>
          <a:xfrm>
            <a:off x="8251730" y="4542390"/>
            <a:ext cx="2812515" cy="365955"/>
            <a:chOff x="509614" y="2062414"/>
            <a:chExt cx="1727047" cy="892535"/>
          </a:xfrm>
        </p:grpSpPr>
        <p:sp>
          <p:nvSpPr>
            <p:cNvPr id="1367" name="矩形: 圆角 1366">
              <a:extLst>
                <a:ext uri="{FF2B5EF4-FFF2-40B4-BE49-F238E27FC236}">
                  <a16:creationId xmlns:a16="http://schemas.microsoft.com/office/drawing/2014/main" id="{411DC18D-11EE-04E9-1BF0-3D2262CF713D}"/>
                </a:ext>
              </a:extLst>
            </p:cNvPr>
            <p:cNvSpPr/>
            <p:nvPr/>
          </p:nvSpPr>
          <p:spPr>
            <a:xfrm>
              <a:off x="509614" y="2062414"/>
              <a:ext cx="1727047" cy="892535"/>
            </a:xfrm>
            <a:prstGeom prst="roundRect">
              <a:avLst>
                <a:gd name="adj" fmla="val 3704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81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endParaRPr lang="en-US" altLang="zh-CN" sz="16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70" name="文本框 1369">
              <a:extLst>
                <a:ext uri="{FF2B5EF4-FFF2-40B4-BE49-F238E27FC236}">
                  <a16:creationId xmlns:a16="http://schemas.microsoft.com/office/drawing/2014/main" id="{C77B849A-7ED1-D753-9B83-B7786465C04A}"/>
                </a:ext>
              </a:extLst>
            </p:cNvPr>
            <p:cNvSpPr txBox="1"/>
            <p:nvPr/>
          </p:nvSpPr>
          <p:spPr>
            <a:xfrm>
              <a:off x="585991" y="2169585"/>
              <a:ext cx="1574292" cy="669223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txBody>
            <a:bodyPr wrap="square" lIns="0" tIns="0" rIns="0" bIns="0" rtlCol="0" anchor="ctr" anchorCtr="1">
              <a:no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构建 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M-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kNN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融合细胞相似性图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72" name="直接箭头连接符 1371">
            <a:extLst>
              <a:ext uri="{FF2B5EF4-FFF2-40B4-BE49-F238E27FC236}">
                <a16:creationId xmlns:a16="http://schemas.microsoft.com/office/drawing/2014/main" id="{35C45F0E-91BB-4D8F-2981-0C3DAC9169C4}"/>
              </a:ext>
            </a:extLst>
          </p:cNvPr>
          <p:cNvCxnSpPr>
            <a:cxnSpLocks/>
          </p:cNvCxnSpPr>
          <p:nvPr/>
        </p:nvCxnSpPr>
        <p:spPr>
          <a:xfrm flipH="1">
            <a:off x="9627661" y="4412787"/>
            <a:ext cx="1" cy="207716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3" name="矩形 1372">
            <a:extLst>
              <a:ext uri="{FF2B5EF4-FFF2-40B4-BE49-F238E27FC236}">
                <a16:creationId xmlns:a16="http://schemas.microsoft.com/office/drawing/2014/main" id="{F66ADF2D-F94B-E21A-EA97-D145B05342B1}"/>
              </a:ext>
            </a:extLst>
          </p:cNvPr>
          <p:cNvSpPr/>
          <p:nvPr/>
        </p:nvSpPr>
        <p:spPr>
          <a:xfrm>
            <a:off x="7330135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多组学融合改进</a:t>
            </a:r>
          </a:p>
        </p:txBody>
      </p:sp>
    </p:spTree>
    <p:extLst>
      <p:ext uri="{BB962C8B-B14F-4D97-AF65-F5344CB8AC3E}">
        <p14:creationId xmlns:p14="http://schemas.microsoft.com/office/powerpoint/2010/main" val="305931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8AB2-8010-CCAB-40EE-D47F748F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855D92-3F63-2DC1-9D6D-6ADBE235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9EDD71-AB3E-93A9-B9B1-3D330760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7CBB407E-C4FC-F748-F236-6AF8A6F86BFC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1345" name="文本框 1344">
            <a:extLst>
              <a:ext uri="{FF2B5EF4-FFF2-40B4-BE49-F238E27FC236}">
                <a16:creationId xmlns:a16="http://schemas.microsoft.com/office/drawing/2014/main" id="{A59A9D69-D0C7-D106-1877-010005570F0F}"/>
              </a:ext>
            </a:extLst>
          </p:cNvPr>
          <p:cNvSpPr txBox="1"/>
          <p:nvPr/>
        </p:nvSpPr>
        <p:spPr>
          <a:xfrm>
            <a:off x="267401" y="727714"/>
            <a:ext cx="97389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多组学融合改进实验：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结果示例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单性状：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MONO</a:t>
            </a:r>
            <a:endParaRPr lang="zh-CN" altLang="en-US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D2EF293-890F-E562-A565-E38AD6452D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66" y="1496199"/>
            <a:ext cx="11611361" cy="386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FC4F29E-E451-11AD-3A13-A0D4A5C0C8CE}"/>
              </a:ext>
            </a:extLst>
          </p:cNvPr>
          <p:cNvSpPr txBox="1"/>
          <p:nvPr/>
        </p:nvSpPr>
        <p:spPr>
          <a:xfrm>
            <a:off x="4229419" y="5489744"/>
            <a:ext cx="3733162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zh-CN" dirty="0"/>
              <a:t>靶细胞类型</a:t>
            </a:r>
            <a:r>
              <a:rPr lang="en-US" altLang="zh-CN" dirty="0"/>
              <a:t>:CD14⁺/CD16⁺ </a:t>
            </a:r>
            <a:r>
              <a:rPr lang="zh-CN" altLang="zh-CN" dirty="0"/>
              <a:t>单核细胞</a:t>
            </a:r>
            <a:endParaRPr lang="zh-CN" altLang="en-US" sz="1600" b="1" dirty="0">
              <a:latin typeface="Calibri" panose="020F050202020403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DC7530-FD97-8CDF-5F27-716AFF197167}"/>
              </a:ext>
            </a:extLst>
          </p:cNvPr>
          <p:cNvSpPr/>
          <p:nvPr/>
        </p:nvSpPr>
        <p:spPr>
          <a:xfrm>
            <a:off x="3254188" y="3039035"/>
            <a:ext cx="880783" cy="2218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004FBA-07B3-0AA3-0637-70584C5526A3}"/>
              </a:ext>
            </a:extLst>
          </p:cNvPr>
          <p:cNvSpPr/>
          <p:nvPr/>
        </p:nvSpPr>
        <p:spPr>
          <a:xfrm>
            <a:off x="238266" y="3084979"/>
            <a:ext cx="998863" cy="20854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1910A-82B1-5369-1D32-54F59F09F2F7}"/>
              </a:ext>
            </a:extLst>
          </p:cNvPr>
          <p:cNvSpPr/>
          <p:nvPr/>
        </p:nvSpPr>
        <p:spPr>
          <a:xfrm>
            <a:off x="5064747" y="3084979"/>
            <a:ext cx="998863" cy="20854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BB9024-FCF7-EA56-FB06-1A11F2E0F88A}"/>
              </a:ext>
            </a:extLst>
          </p:cNvPr>
          <p:cNvSpPr/>
          <p:nvPr/>
        </p:nvSpPr>
        <p:spPr>
          <a:xfrm>
            <a:off x="8398390" y="3084978"/>
            <a:ext cx="998863" cy="20854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A279EF-0F9F-56A6-7385-436A9FA95C38}"/>
              </a:ext>
            </a:extLst>
          </p:cNvPr>
          <p:cNvSpPr/>
          <p:nvPr/>
        </p:nvSpPr>
        <p:spPr>
          <a:xfrm>
            <a:off x="7330135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多组学融合改进</a:t>
            </a:r>
          </a:p>
        </p:txBody>
      </p:sp>
    </p:spTree>
    <p:extLst>
      <p:ext uri="{BB962C8B-B14F-4D97-AF65-F5344CB8AC3E}">
        <p14:creationId xmlns:p14="http://schemas.microsoft.com/office/powerpoint/2010/main" val="200604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13035-991B-AABC-57EA-53209532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A681BB-689F-0DED-77C9-12E293003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B3C42B-4D17-7785-33A0-B0985942A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41DAA7A8-D3C3-A00D-36A7-1D1BB3A46EBF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1345" name="文本框 1344">
            <a:extLst>
              <a:ext uri="{FF2B5EF4-FFF2-40B4-BE49-F238E27FC236}">
                <a16:creationId xmlns:a16="http://schemas.microsoft.com/office/drawing/2014/main" id="{738C01E5-0F60-3030-970B-3F764B78B174}"/>
              </a:ext>
            </a:extLst>
          </p:cNvPr>
          <p:cNvSpPr txBox="1"/>
          <p:nvPr/>
        </p:nvSpPr>
        <p:spPr>
          <a:xfrm>
            <a:off x="267401" y="727714"/>
            <a:ext cx="97389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多组学融合改进实验：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结果示例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单性状：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PLT</a:t>
            </a:r>
            <a:endParaRPr lang="zh-CN" altLang="en-US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02BA854-7D86-BFD6-8C1C-19B015A1E1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66" y="1496199"/>
            <a:ext cx="11611361" cy="386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32E1493-E656-E607-2BFD-F3ED813501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73" y="1512926"/>
            <a:ext cx="11607710" cy="386560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16DB788-7806-49C5-3FDC-B125AF721EBA}"/>
              </a:ext>
            </a:extLst>
          </p:cNvPr>
          <p:cNvSpPr txBox="1"/>
          <p:nvPr/>
        </p:nvSpPr>
        <p:spPr>
          <a:xfrm>
            <a:off x="4229419" y="5489744"/>
            <a:ext cx="3733162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zh-CN" dirty="0"/>
              <a:t>靶细胞类型</a:t>
            </a:r>
            <a:r>
              <a:rPr lang="en-US" altLang="zh-CN" dirty="0"/>
              <a:t>:</a:t>
            </a:r>
            <a:r>
              <a:rPr lang="en-US" altLang="zh-CN" kern="100" dirty="0"/>
              <a:t>MK/E </a:t>
            </a:r>
            <a:r>
              <a:rPr lang="zh-CN" altLang="zh-CN" kern="100" dirty="0"/>
              <a:t>祖细胞及红系谱系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0DAF2E-3C5A-F79F-358F-F53B6A701B44}"/>
              </a:ext>
            </a:extLst>
          </p:cNvPr>
          <p:cNvSpPr/>
          <p:nvPr/>
        </p:nvSpPr>
        <p:spPr>
          <a:xfrm>
            <a:off x="4303159" y="3270915"/>
            <a:ext cx="880783" cy="158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82FD3B-C571-6B4F-3364-70ECF6CC7AAB}"/>
              </a:ext>
            </a:extLst>
          </p:cNvPr>
          <p:cNvSpPr/>
          <p:nvPr/>
        </p:nvSpPr>
        <p:spPr>
          <a:xfrm>
            <a:off x="918377" y="2588558"/>
            <a:ext cx="1179364" cy="537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58FF79-0F84-CA54-7414-62D538ED13DF}"/>
              </a:ext>
            </a:extLst>
          </p:cNvPr>
          <p:cNvSpPr/>
          <p:nvPr/>
        </p:nvSpPr>
        <p:spPr>
          <a:xfrm>
            <a:off x="5794320" y="2588558"/>
            <a:ext cx="1179364" cy="537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D9A4AF-FCC9-EAB6-6EB8-4F0AEC621FCA}"/>
              </a:ext>
            </a:extLst>
          </p:cNvPr>
          <p:cNvSpPr/>
          <p:nvPr/>
        </p:nvSpPr>
        <p:spPr>
          <a:xfrm>
            <a:off x="9058330" y="2588557"/>
            <a:ext cx="1179364" cy="5378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9312DB-2ACD-C6F6-E735-E45B8E55137A}"/>
              </a:ext>
            </a:extLst>
          </p:cNvPr>
          <p:cNvSpPr/>
          <p:nvPr/>
        </p:nvSpPr>
        <p:spPr>
          <a:xfrm>
            <a:off x="3348636" y="3759825"/>
            <a:ext cx="880783" cy="15808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EA904B-E10B-2BA4-3381-268DF64F63B6}"/>
              </a:ext>
            </a:extLst>
          </p:cNvPr>
          <p:cNvSpPr/>
          <p:nvPr/>
        </p:nvSpPr>
        <p:spPr>
          <a:xfrm>
            <a:off x="423581" y="3270915"/>
            <a:ext cx="880784" cy="130108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0F4AF8-0141-9C80-7EB2-02870EE77373}"/>
              </a:ext>
            </a:extLst>
          </p:cNvPr>
          <p:cNvSpPr/>
          <p:nvPr/>
        </p:nvSpPr>
        <p:spPr>
          <a:xfrm>
            <a:off x="5215216" y="3270915"/>
            <a:ext cx="880784" cy="130108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718ECE-AE9E-4948-9B25-70223BABB2A3}"/>
              </a:ext>
            </a:extLst>
          </p:cNvPr>
          <p:cNvSpPr/>
          <p:nvPr/>
        </p:nvSpPr>
        <p:spPr>
          <a:xfrm>
            <a:off x="8532421" y="3270915"/>
            <a:ext cx="880784" cy="130108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4059968-98E3-34E3-9AFC-CB054D2C53A3}"/>
              </a:ext>
            </a:extLst>
          </p:cNvPr>
          <p:cNvSpPr/>
          <p:nvPr/>
        </p:nvSpPr>
        <p:spPr>
          <a:xfrm>
            <a:off x="1073522" y="1862418"/>
            <a:ext cx="880784" cy="951593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9FD550-6761-4D97-3314-679A3D6027B1}"/>
              </a:ext>
            </a:extLst>
          </p:cNvPr>
          <p:cNvSpPr/>
          <p:nvPr/>
        </p:nvSpPr>
        <p:spPr>
          <a:xfrm>
            <a:off x="5925653" y="1866894"/>
            <a:ext cx="880784" cy="951593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9C32D7-EF4B-652A-FE9B-2C42A6E2D2F6}"/>
              </a:ext>
            </a:extLst>
          </p:cNvPr>
          <p:cNvSpPr/>
          <p:nvPr/>
        </p:nvSpPr>
        <p:spPr>
          <a:xfrm>
            <a:off x="9177599" y="1871372"/>
            <a:ext cx="880784" cy="951593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AABA53-6777-25D0-2EE1-4E320588FC0C}"/>
              </a:ext>
            </a:extLst>
          </p:cNvPr>
          <p:cNvSpPr/>
          <p:nvPr/>
        </p:nvSpPr>
        <p:spPr>
          <a:xfrm>
            <a:off x="7330135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多组学融合改进</a:t>
            </a:r>
          </a:p>
        </p:txBody>
      </p:sp>
    </p:spTree>
    <p:extLst>
      <p:ext uri="{BB962C8B-B14F-4D97-AF65-F5344CB8AC3E}">
        <p14:creationId xmlns:p14="http://schemas.microsoft.com/office/powerpoint/2010/main" val="182897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C953-4850-B73F-6EC7-C9D7520E1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7C2C5B-CF0F-CCD2-E8F4-B86A9AAD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57643B9-B208-7805-DEF8-45AC83B12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F14A7153-AC09-4658-2664-E3558FEB5A0A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1345" name="文本框 1344">
            <a:extLst>
              <a:ext uri="{FF2B5EF4-FFF2-40B4-BE49-F238E27FC236}">
                <a16:creationId xmlns:a16="http://schemas.microsoft.com/office/drawing/2014/main" id="{BAB5EB3F-0B95-35B0-1BD6-01BF386B8EB5}"/>
              </a:ext>
            </a:extLst>
          </p:cNvPr>
          <p:cNvSpPr txBox="1"/>
          <p:nvPr/>
        </p:nvSpPr>
        <p:spPr>
          <a:xfrm>
            <a:off x="267401" y="727714"/>
            <a:ext cx="97389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多组学融合改进实验：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结果示例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单性状：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LYM</a:t>
            </a:r>
            <a:endParaRPr lang="zh-CN" altLang="en-US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B45F4C-3E94-3B6A-131E-06F2BF44E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66" y="1496199"/>
            <a:ext cx="11611361" cy="386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D5736EA-E5B1-7A36-7FBF-FBA89B6B60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07" y="1438835"/>
            <a:ext cx="11779933" cy="392296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5B7F2C6-132D-D2D9-5F8C-31DC7B8DBB09}"/>
              </a:ext>
            </a:extLst>
          </p:cNvPr>
          <p:cNvSpPr/>
          <p:nvPr/>
        </p:nvSpPr>
        <p:spPr>
          <a:xfrm>
            <a:off x="4128347" y="3116273"/>
            <a:ext cx="880783" cy="158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1C2687-58F0-C106-91E0-FE87D697AD91}"/>
              </a:ext>
            </a:extLst>
          </p:cNvPr>
          <p:cNvSpPr/>
          <p:nvPr/>
        </p:nvSpPr>
        <p:spPr>
          <a:xfrm>
            <a:off x="4128346" y="3321275"/>
            <a:ext cx="880783" cy="158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3627FB-09D6-2C81-F3D0-A3555C1314EF}"/>
              </a:ext>
            </a:extLst>
          </p:cNvPr>
          <p:cNvSpPr/>
          <p:nvPr/>
        </p:nvSpPr>
        <p:spPr>
          <a:xfrm>
            <a:off x="1680883" y="2729753"/>
            <a:ext cx="1472452" cy="25078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3D2879-F03B-691E-67B7-FF4898F3A81F}"/>
              </a:ext>
            </a:extLst>
          </p:cNvPr>
          <p:cNvSpPr/>
          <p:nvPr/>
        </p:nvSpPr>
        <p:spPr>
          <a:xfrm>
            <a:off x="6584850" y="2712730"/>
            <a:ext cx="1472452" cy="25078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BFD0FD-6F8C-CBB0-EE2A-FEC0231FFBA0}"/>
              </a:ext>
            </a:extLst>
          </p:cNvPr>
          <p:cNvSpPr/>
          <p:nvPr/>
        </p:nvSpPr>
        <p:spPr>
          <a:xfrm>
            <a:off x="9927043" y="2729753"/>
            <a:ext cx="1472452" cy="25078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4B3292-25D6-5DB5-0EE3-7B821C0BF361}"/>
              </a:ext>
            </a:extLst>
          </p:cNvPr>
          <p:cNvSpPr txBox="1"/>
          <p:nvPr/>
        </p:nvSpPr>
        <p:spPr>
          <a:xfrm>
            <a:off x="3642071" y="5535483"/>
            <a:ext cx="4907857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zh-CN" dirty="0"/>
              <a:t>靶细胞类型</a:t>
            </a:r>
            <a:r>
              <a:rPr lang="en-US" altLang="zh-CN" dirty="0"/>
              <a:t>:</a:t>
            </a:r>
            <a:r>
              <a:rPr lang="zh-CN" altLang="en-US" dirty="0"/>
              <a:t>淋巴细胞</a:t>
            </a:r>
            <a:r>
              <a:rPr lang="en-US" altLang="zh-CN" dirty="0"/>
              <a:t>Lymphocyte</a:t>
            </a:r>
            <a:r>
              <a:rPr lang="zh-CN" altLang="en-US" dirty="0"/>
              <a:t>、</a:t>
            </a:r>
            <a:r>
              <a:rPr lang="en-US" altLang="zh-CN" dirty="0"/>
              <a:t>B </a:t>
            </a:r>
            <a:r>
              <a:rPr lang="zh-CN" altLang="zh-CN" dirty="0"/>
              <a:t>细胞系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7C2602-3DCD-C968-622A-0940AAF610FD}"/>
              </a:ext>
            </a:extLst>
          </p:cNvPr>
          <p:cNvSpPr/>
          <p:nvPr/>
        </p:nvSpPr>
        <p:spPr>
          <a:xfrm>
            <a:off x="7330135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多组学融合改进</a:t>
            </a:r>
          </a:p>
        </p:txBody>
      </p:sp>
    </p:spTree>
    <p:extLst>
      <p:ext uri="{BB962C8B-B14F-4D97-AF65-F5344CB8AC3E}">
        <p14:creationId xmlns:p14="http://schemas.microsoft.com/office/powerpoint/2010/main" val="360426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C0E9-048C-5A2D-6B5B-AFDFD874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A00325-E6BF-9E8E-83A6-4A558351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A67095-16E4-AB1B-733E-FC848C497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1A2BFB1E-13ED-786D-EA33-A9EF40866662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19</a:t>
            </a:fld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5361FCC-58A5-3C88-3440-CA7F0962F4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8" y="1334847"/>
            <a:ext cx="11957103" cy="449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FAD787D-8120-66A2-110D-D370469C87B7}"/>
              </a:ext>
            </a:extLst>
          </p:cNvPr>
          <p:cNvSpPr txBox="1"/>
          <p:nvPr/>
        </p:nvSpPr>
        <p:spPr>
          <a:xfrm>
            <a:off x="267401" y="727714"/>
            <a:ext cx="97389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多组学融合改进实验：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结果示例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单性状：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MONO</a:t>
            </a:r>
            <a:endParaRPr lang="zh-CN" altLang="en-US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B0BA57C-EF3C-561C-4CE2-3C627BAE99BA}"/>
              </a:ext>
            </a:extLst>
          </p:cNvPr>
          <p:cNvSpPr txBox="1"/>
          <p:nvPr/>
        </p:nvSpPr>
        <p:spPr>
          <a:xfrm>
            <a:off x="2330650" y="5767879"/>
            <a:ext cx="7530697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dirty="0"/>
              <a:t>TRS</a:t>
            </a:r>
            <a:r>
              <a:rPr lang="zh-CN" altLang="zh-CN" dirty="0"/>
              <a:t>分布差异，用于比较靶细胞亚群与非靶细胞亚群之间的信号分离程度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C2CD48-D369-07B0-2ABA-67E93BDF2AD0}"/>
              </a:ext>
            </a:extLst>
          </p:cNvPr>
          <p:cNvSpPr/>
          <p:nvPr/>
        </p:nvSpPr>
        <p:spPr>
          <a:xfrm>
            <a:off x="7330135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多组学融合改进</a:t>
            </a:r>
          </a:p>
        </p:txBody>
      </p:sp>
    </p:spTree>
    <p:extLst>
      <p:ext uri="{BB962C8B-B14F-4D97-AF65-F5344CB8AC3E}">
        <p14:creationId xmlns:p14="http://schemas.microsoft.com/office/powerpoint/2010/main" val="142173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12BCE-AEE9-8648-6F50-54140555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D1F5D9-B712-6252-E215-14EA9BE2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3C478E-1B28-7B17-5FD0-3C971688F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079AF6AB-7989-D99B-6270-18D648069EF7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B98F95-827C-9E03-29A4-FBF9D0955659}"/>
              </a:ext>
            </a:extLst>
          </p:cNvPr>
          <p:cNvSpPr txBox="1"/>
          <p:nvPr/>
        </p:nvSpPr>
        <p:spPr>
          <a:xfrm>
            <a:off x="267401" y="727714"/>
            <a:ext cx="97389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多组学融合改进实验：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结果示例</a:t>
            </a:r>
            <a:r>
              <a:rPr lang="en-US" altLang="zh-CN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汇总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4FDC572-A15C-806D-5945-A6DD1A36C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918516"/>
              </p:ext>
            </p:extLst>
          </p:nvPr>
        </p:nvGraphicFramePr>
        <p:xfrm>
          <a:off x="443753" y="1485900"/>
          <a:ext cx="10966075" cy="36777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3179">
                  <a:extLst>
                    <a:ext uri="{9D8B030D-6E8A-4147-A177-3AD203B41FA5}">
                      <a16:colId xmlns:a16="http://schemas.microsoft.com/office/drawing/2014/main" val="1957608892"/>
                    </a:ext>
                  </a:extLst>
                </a:gridCol>
                <a:gridCol w="1562629">
                  <a:extLst>
                    <a:ext uri="{9D8B030D-6E8A-4147-A177-3AD203B41FA5}">
                      <a16:colId xmlns:a16="http://schemas.microsoft.com/office/drawing/2014/main" val="1927885799"/>
                    </a:ext>
                  </a:extLst>
                </a:gridCol>
                <a:gridCol w="1891686">
                  <a:extLst>
                    <a:ext uri="{9D8B030D-6E8A-4147-A177-3AD203B41FA5}">
                      <a16:colId xmlns:a16="http://schemas.microsoft.com/office/drawing/2014/main" val="3388769461"/>
                    </a:ext>
                  </a:extLst>
                </a:gridCol>
                <a:gridCol w="2111188">
                  <a:extLst>
                    <a:ext uri="{9D8B030D-6E8A-4147-A177-3AD203B41FA5}">
                      <a16:colId xmlns:a16="http://schemas.microsoft.com/office/drawing/2014/main" val="3204660013"/>
                    </a:ext>
                  </a:extLst>
                </a:gridCol>
                <a:gridCol w="2070847">
                  <a:extLst>
                    <a:ext uri="{9D8B030D-6E8A-4147-A177-3AD203B41FA5}">
                      <a16:colId xmlns:a16="http://schemas.microsoft.com/office/drawing/2014/main" val="3996025975"/>
                    </a:ext>
                  </a:extLst>
                </a:gridCol>
                <a:gridCol w="1956546">
                  <a:extLst>
                    <a:ext uri="{9D8B030D-6E8A-4147-A177-3AD203B41FA5}">
                      <a16:colId xmlns:a16="http://schemas.microsoft.com/office/drawing/2014/main" val="3971142284"/>
                    </a:ext>
                  </a:extLst>
                </a:gridCol>
              </a:tblGrid>
              <a:tr h="8745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>
                          <a:solidFill>
                            <a:srgbClr val="FFFFFF"/>
                          </a:solidFill>
                          <a:effectLst/>
                        </a:rPr>
                        <a:t>性状</a:t>
                      </a:r>
                      <a:endParaRPr lang="zh-CN" sz="1600" b="1" kern="10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1C3879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1C3879"/>
                      </a:solidFill>
                      <a:prstDash val="solid"/>
                    </a:lnT>
                    <a:lnB w="381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>
                          <a:solidFill>
                            <a:srgbClr val="FFFFFF"/>
                          </a:solidFill>
                          <a:effectLst/>
                        </a:rPr>
                        <a:t>评估靶</a:t>
                      </a:r>
                      <a:endParaRPr lang="zh-CN" sz="1600" b="1" kern="10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1C3879"/>
                      </a:solidFill>
                      <a:prstDash val="solid"/>
                    </a:lnT>
                    <a:lnB w="381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>
                          <a:solidFill>
                            <a:srgbClr val="FFFFFF"/>
                          </a:solidFill>
                          <a:effectLst/>
                        </a:rPr>
                        <a:t>ATAC-only </a:t>
                      </a:r>
                      <a:r>
                        <a:rPr lang="zh-CN" sz="1800" b="1" kern="100">
                          <a:solidFill>
                            <a:srgbClr val="FFFFFF"/>
                          </a:solidFill>
                          <a:effectLst/>
                        </a:rPr>
                        <a:t>基线</a:t>
                      </a:r>
                      <a:endParaRPr lang="zh-CN" sz="1600" b="1" kern="10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1C3879"/>
                      </a:solidFill>
                      <a:prstDash val="solid"/>
                    </a:lnT>
                    <a:lnB w="381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solidFill>
                            <a:srgbClr val="FFFFFF"/>
                          </a:solidFill>
                          <a:effectLst/>
                        </a:rPr>
                        <a:t>v2 </a:t>
                      </a:r>
                      <a:r>
                        <a:rPr lang="en-US" sz="1800" b="1" kern="100" dirty="0" err="1">
                          <a:solidFill>
                            <a:srgbClr val="FFFFFF"/>
                          </a:solidFill>
                          <a:effectLst/>
                        </a:rPr>
                        <a:t>atac_w</a:t>
                      </a:r>
                      <a:r>
                        <a:rPr lang="en-US" sz="1800" b="1" kern="100" dirty="0">
                          <a:solidFill>
                            <a:srgbClr val="FFFFFF"/>
                          </a:solidFill>
                          <a:effectLst/>
                        </a:rPr>
                        <a:t>=1.0</a:t>
                      </a: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 dirty="0">
                          <a:solidFill>
                            <a:srgbClr val="FFFFFF"/>
                          </a:solidFill>
                          <a:effectLst/>
                        </a:rPr>
                        <a:t>（无</a:t>
                      </a:r>
                      <a:r>
                        <a:rPr lang="en-US" sz="1800" b="1" kern="100" dirty="0">
                          <a:solidFill>
                            <a:srgbClr val="FFFFFF"/>
                          </a:solidFill>
                          <a:effectLst/>
                        </a:rPr>
                        <a:t> RNA</a:t>
                      </a:r>
                      <a:r>
                        <a:rPr lang="zh-CN" sz="1800" b="1" kern="100" dirty="0">
                          <a:solidFill>
                            <a:srgbClr val="FFFFFF"/>
                          </a:solidFill>
                          <a:effectLst/>
                        </a:rPr>
                        <a:t>）</a:t>
                      </a:r>
                      <a:endParaRPr lang="zh-CN" sz="1600" b="1" kern="1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1C3879"/>
                      </a:solidFill>
                      <a:prstDash val="solid"/>
                    </a:lnT>
                    <a:lnB w="381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solidFill>
                            <a:srgbClr val="FFFFFF"/>
                          </a:solidFill>
                          <a:effectLst/>
                        </a:rPr>
                        <a:t>v2 </a:t>
                      </a:r>
                      <a:r>
                        <a:rPr lang="en-US" sz="1800" b="1" kern="100" dirty="0" err="1">
                          <a:solidFill>
                            <a:srgbClr val="FFFFFF"/>
                          </a:solidFill>
                          <a:effectLst/>
                        </a:rPr>
                        <a:t>atac_w</a:t>
                      </a:r>
                      <a:r>
                        <a:rPr lang="en-US" sz="1800" b="1" kern="100" dirty="0">
                          <a:solidFill>
                            <a:srgbClr val="FFFFFF"/>
                          </a:solidFill>
                          <a:effectLst/>
                        </a:rPr>
                        <a:t>=0.7</a:t>
                      </a: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 dirty="0">
                          <a:solidFill>
                            <a:srgbClr val="FFFFFF"/>
                          </a:solidFill>
                          <a:effectLst/>
                        </a:rPr>
                        <a:t>（含</a:t>
                      </a:r>
                      <a:r>
                        <a:rPr lang="en-US" sz="1800" b="1" kern="100" dirty="0">
                          <a:solidFill>
                            <a:srgbClr val="FFFFFF"/>
                          </a:solidFill>
                          <a:effectLst/>
                        </a:rPr>
                        <a:t> RNA</a:t>
                      </a:r>
                      <a:r>
                        <a:rPr lang="zh-CN" sz="1800" b="1" kern="100" dirty="0">
                          <a:solidFill>
                            <a:srgbClr val="FFFFFF"/>
                          </a:solidFill>
                          <a:effectLst/>
                        </a:rPr>
                        <a:t>）</a:t>
                      </a:r>
                      <a:endParaRPr lang="zh-CN" sz="1600" b="1" kern="1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1C3879"/>
                      </a:solidFill>
                      <a:prstDash val="solid"/>
                    </a:lnT>
                    <a:lnB w="381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>
                          <a:solidFill>
                            <a:srgbClr val="FFFFFF"/>
                          </a:solidFill>
                          <a:effectLst/>
                        </a:rPr>
                        <a:t>相对基线提升</a:t>
                      </a:r>
                      <a:endParaRPr lang="zh-CN" sz="1600" b="1" kern="10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1C3879"/>
                      </a:solidFill>
                      <a:prstDash val="solid"/>
                    </a:lnR>
                    <a:lnT w="12700" cmpd="sng">
                      <a:solidFill>
                        <a:srgbClr val="1C3879"/>
                      </a:solidFill>
                      <a:prstDash val="solid"/>
                    </a:lnT>
                    <a:lnB w="381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1C38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718959"/>
                  </a:ext>
                </a:extLst>
              </a:tr>
              <a:tr h="8745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>
                          <a:solidFill>
                            <a:srgbClr val="000000"/>
                          </a:solidFill>
                          <a:effectLst/>
                        </a:rPr>
                        <a:t>MONO</a:t>
                      </a:r>
                      <a:endParaRPr lang="zh-CN" sz="16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1C3879"/>
                      </a:solidFill>
                      <a:prstDash val="solid"/>
                    </a:lnL>
                    <a:lnR w="12700" cmpd="sng">
                      <a:solidFill>
                        <a:srgbClr val="1C3879"/>
                      </a:solidFill>
                      <a:prstDash val="solid"/>
                    </a:lnR>
                    <a:lnT w="38100" cmpd="sng">
                      <a:solidFill>
                        <a:srgbClr val="1C3879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C5D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CD14⁺/CD16⁺ </a:t>
                      </a: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</a:rPr>
                        <a:t>单核细胞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1C3879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1C3879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0.532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1C3879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</a:rPr>
                        <a:t>0.973</a:t>
                      </a:r>
                      <a:endParaRPr lang="zh-C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1C3879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0.976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38100" cmpd="sng">
                      <a:solidFill>
                        <a:srgbClr val="1C3879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+0.444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1C3879"/>
                      </a:solidFill>
                      <a:prstDash val="solid"/>
                    </a:lnR>
                    <a:lnT w="38100" cmpd="sng">
                      <a:solidFill>
                        <a:srgbClr val="1C3879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96724"/>
                  </a:ext>
                </a:extLst>
              </a:tr>
              <a:tr h="8745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>
                          <a:solidFill>
                            <a:srgbClr val="000000"/>
                          </a:solidFill>
                          <a:effectLst/>
                        </a:rPr>
                        <a:t>PLT</a:t>
                      </a:r>
                      <a:endParaRPr lang="zh-CN" sz="16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1C3879"/>
                      </a:solidFill>
                      <a:prstDash val="solid"/>
                    </a:lnL>
                    <a:lnR w="12700" cmpd="sng">
                      <a:solidFill>
                        <a:srgbClr val="1C3879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C5D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MK/E </a:t>
                      </a: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</a:rPr>
                        <a:t>祖细胞及红系谱系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1C3879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</a:rPr>
                        <a:t>0.719</a:t>
                      </a:r>
                      <a:endParaRPr lang="zh-C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0.864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0.866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+0.147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1C3879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981332"/>
                  </a:ext>
                </a:extLst>
              </a:tr>
              <a:tr h="10540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>
                          <a:solidFill>
                            <a:srgbClr val="000000"/>
                          </a:solidFill>
                          <a:effectLst/>
                        </a:rPr>
                        <a:t>LYM</a:t>
                      </a:r>
                      <a:endParaRPr lang="zh-CN" sz="16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1C3879"/>
                      </a:solidFill>
                      <a:prstDash val="solid"/>
                    </a:lnL>
                    <a:lnR w="12700" cmpd="sng">
                      <a:solidFill>
                        <a:srgbClr val="1C3879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C5D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</a:rPr>
                        <a:t>全淋巴谱系（</a:t>
                      </a: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LYM_wide</a:t>
                      </a: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1C3879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</a:rPr>
                        <a:t>0.703</a:t>
                      </a:r>
                      <a:endParaRPr lang="zh-C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0.833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</a:rPr>
                        <a:t>0.857</a:t>
                      </a:r>
                      <a:endParaRPr lang="zh-C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</a:rPr>
                        <a:t>+0.154</a:t>
                      </a:r>
                      <a:endParaRPr lang="zh-C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3082" marR="53082" marT="0" marB="0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1C3879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1C387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86015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2C1EEDC-295A-19DB-A83B-B286E1102533}"/>
              </a:ext>
            </a:extLst>
          </p:cNvPr>
          <p:cNvSpPr txBox="1"/>
          <p:nvPr/>
        </p:nvSpPr>
        <p:spPr>
          <a:xfrm>
            <a:off x="4382900" y="5532384"/>
            <a:ext cx="3426199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三种方法的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AUROC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44CB62-82DE-90C1-64E1-2713C940DFAF}"/>
              </a:ext>
            </a:extLst>
          </p:cNvPr>
          <p:cNvSpPr/>
          <p:nvPr/>
        </p:nvSpPr>
        <p:spPr>
          <a:xfrm>
            <a:off x="7330135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多组学融合改进</a:t>
            </a:r>
          </a:p>
        </p:txBody>
      </p:sp>
    </p:spTree>
    <p:extLst>
      <p:ext uri="{BB962C8B-B14F-4D97-AF65-F5344CB8AC3E}">
        <p14:creationId xmlns:p14="http://schemas.microsoft.com/office/powerpoint/2010/main" val="1484290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681C-56CA-6B13-8CA1-8FD9E33F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E99435-04D6-A066-8297-1E48FDBF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18108A-7BA5-0C17-CA3D-4E8A78A01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67DFF5A4-732A-D8B6-A199-33FF1A21AAF9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34AC7C-EDF3-F0A7-3FC9-1F97776FD051}"/>
              </a:ext>
            </a:extLst>
          </p:cNvPr>
          <p:cNvSpPr txBox="1"/>
          <p:nvPr/>
        </p:nvSpPr>
        <p:spPr>
          <a:xfrm>
            <a:off x="267401" y="727714"/>
            <a:ext cx="97389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4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补充实验 模态退化压力测试：</a:t>
            </a:r>
            <a:endParaRPr lang="zh-CN" altLang="en-US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19DF9AB-18C0-42DC-D2D3-6F463F24F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65944"/>
              </p:ext>
            </p:extLst>
          </p:nvPr>
        </p:nvGraphicFramePr>
        <p:xfrm>
          <a:off x="6634750" y="853950"/>
          <a:ext cx="4372766" cy="17175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1980">
                  <a:extLst>
                    <a:ext uri="{9D8B030D-6E8A-4147-A177-3AD203B41FA5}">
                      <a16:colId xmlns:a16="http://schemas.microsoft.com/office/drawing/2014/main" val="2282949034"/>
                    </a:ext>
                  </a:extLst>
                </a:gridCol>
                <a:gridCol w="992005">
                  <a:extLst>
                    <a:ext uri="{9D8B030D-6E8A-4147-A177-3AD203B41FA5}">
                      <a16:colId xmlns:a16="http://schemas.microsoft.com/office/drawing/2014/main" val="796020685"/>
                    </a:ext>
                  </a:extLst>
                </a:gridCol>
                <a:gridCol w="1788781">
                  <a:extLst>
                    <a:ext uri="{9D8B030D-6E8A-4147-A177-3AD203B41FA5}">
                      <a16:colId xmlns:a16="http://schemas.microsoft.com/office/drawing/2014/main" val="4058561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b="1" kern="100">
                          <a:solidFill>
                            <a:srgbClr val="1E2022"/>
                          </a:solidFill>
                          <a:effectLst/>
                        </a:rPr>
                        <a:t>丢弃比例</a:t>
                      </a:r>
                      <a:r>
                        <a:rPr lang="en-US" sz="1400" b="1" kern="100">
                          <a:solidFill>
                            <a:srgbClr val="1E2022"/>
                          </a:solidFill>
                          <a:effectLst/>
                        </a:rPr>
                        <a:t> p_drop</a:t>
                      </a:r>
                      <a:endParaRPr lang="zh-CN" sz="1100" b="1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381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b="1" kern="100">
                          <a:solidFill>
                            <a:srgbClr val="1E2022"/>
                          </a:solidFill>
                          <a:effectLst/>
                        </a:rPr>
                        <a:t>保留比例</a:t>
                      </a:r>
                      <a:endParaRPr lang="zh-CN" sz="1100" b="1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381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b="1" kern="100">
                          <a:solidFill>
                            <a:srgbClr val="1E2022"/>
                          </a:solidFill>
                          <a:effectLst/>
                        </a:rPr>
                        <a:t>说明</a:t>
                      </a:r>
                      <a:endParaRPr lang="zh-CN" sz="1100" b="1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381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224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0.0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381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100%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381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solidFill>
                            <a:srgbClr val="1E2022"/>
                          </a:solidFill>
                          <a:effectLst/>
                        </a:rPr>
                        <a:t>原始数据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381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260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0.1</a:t>
                      </a:r>
                      <a:r>
                        <a:rPr lang="zh-CN" sz="1400" kern="100">
                          <a:solidFill>
                            <a:srgbClr val="1E2022"/>
                          </a:solidFill>
                          <a:effectLst/>
                        </a:rPr>
                        <a:t>–</a:t>
                      </a: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0.5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50%</a:t>
                      </a:r>
                      <a:r>
                        <a:rPr lang="zh-CN" sz="1400" kern="100">
                          <a:solidFill>
                            <a:srgbClr val="1E2022"/>
                          </a:solidFill>
                          <a:effectLst/>
                        </a:rPr>
                        <a:t>–</a:t>
                      </a: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90%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solidFill>
                            <a:srgbClr val="1E2022"/>
                          </a:solidFill>
                          <a:effectLst/>
                        </a:rPr>
                        <a:t>轻度至中度降级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15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0.6</a:t>
                      </a:r>
                      <a:r>
                        <a:rPr lang="zh-CN" sz="1400" kern="100">
                          <a:solidFill>
                            <a:srgbClr val="1E2022"/>
                          </a:solidFill>
                          <a:effectLst/>
                        </a:rPr>
                        <a:t>–</a:t>
                      </a: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0.7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30%</a:t>
                      </a:r>
                      <a:r>
                        <a:rPr lang="zh-CN" sz="1400" kern="100">
                          <a:solidFill>
                            <a:srgbClr val="1E2022"/>
                          </a:solidFill>
                          <a:effectLst/>
                        </a:rPr>
                        <a:t>–</a:t>
                      </a: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40%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>
                          <a:solidFill>
                            <a:srgbClr val="1E2022"/>
                          </a:solidFill>
                          <a:effectLst/>
                        </a:rPr>
                        <a:t>中重度降级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520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0.8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20%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solidFill>
                            <a:srgbClr val="1E2022"/>
                          </a:solidFill>
                          <a:effectLst/>
                        </a:rPr>
                        <a:t>接近低深度文库下限</a:t>
                      </a:r>
                      <a:endParaRPr lang="zh-CN" sz="1100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219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0.9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rgbClr val="1E2022"/>
                          </a:solidFill>
                          <a:effectLst/>
                        </a:rPr>
                        <a:t>10%</a:t>
                      </a:r>
                      <a:endParaRPr lang="zh-CN" sz="1100" kern="10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1E2022"/>
                      </a:solidFill>
                      <a:prstDash val="soli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mpd="sng">
                      <a:solidFill>
                        <a:srgbClr val="1E2022"/>
                      </a:solidFill>
                      <a:prstDash val="soli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solidFill>
                            <a:srgbClr val="1E2022"/>
                          </a:solidFill>
                          <a:effectLst/>
                        </a:rPr>
                        <a:t>极限降级</a:t>
                      </a:r>
                      <a:endParaRPr lang="zh-CN" sz="1100" kern="100" dirty="0">
                        <a:solidFill>
                          <a:srgbClr val="1E202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1E2022"/>
                      </a:solidFill>
                      <a:prstDash val="solid"/>
                    </a:lnR>
                    <a:lnT w="12700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33490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99DC640-2254-6F62-41FD-72289A329065}"/>
              </a:ext>
            </a:extLst>
          </p:cNvPr>
          <p:cNvSpPr txBox="1"/>
          <p:nvPr/>
        </p:nvSpPr>
        <p:spPr>
          <a:xfrm>
            <a:off x="196663" y="1533136"/>
            <a:ext cx="6148666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实验设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个档位，每档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个随机种子，共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180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个独立跑点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74BBB2E-C588-B7E1-DEB5-999A25B560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073" y="2639590"/>
            <a:ext cx="9977854" cy="38356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EA76399-F965-3086-E9DD-806F1E2BC841}"/>
              </a:ext>
            </a:extLst>
          </p:cNvPr>
          <p:cNvSpPr/>
          <p:nvPr/>
        </p:nvSpPr>
        <p:spPr>
          <a:xfrm>
            <a:off x="7330135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多组学融合改进</a:t>
            </a:r>
          </a:p>
        </p:txBody>
      </p:sp>
    </p:spTree>
    <p:extLst>
      <p:ext uri="{BB962C8B-B14F-4D97-AF65-F5344CB8AC3E}">
        <p14:creationId xmlns:p14="http://schemas.microsoft.com/office/powerpoint/2010/main" val="72431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5A10-1706-7BB2-4C7B-39F7834DD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E0D9C6-3C7A-E236-8CFD-341C8E19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ABFD-C142-48D2-8272-3C2D8BEF2F38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7ACB13-5B65-70DB-4CA4-90E6996DA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0163"/>
            <a:ext cx="1019230" cy="29639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2EBDCD7-A7D0-CC5D-D875-28E0DC042820}"/>
              </a:ext>
            </a:extLst>
          </p:cNvPr>
          <p:cNvSpPr/>
          <p:nvPr/>
        </p:nvSpPr>
        <p:spPr>
          <a:xfrm>
            <a:off x="9763537" y="0"/>
            <a:ext cx="2445542" cy="6643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总结与展望</a:t>
            </a:r>
          </a:p>
        </p:txBody>
      </p:sp>
      <p:sp>
        <p:nvSpPr>
          <p:cNvPr id="1487" name="灯片编号占位符 1">
            <a:extLst>
              <a:ext uri="{FF2B5EF4-FFF2-40B4-BE49-F238E27FC236}">
                <a16:creationId xmlns:a16="http://schemas.microsoft.com/office/drawing/2014/main" id="{64726037-00D7-4A40-D064-5ED5B9DA5A9C}"/>
              </a:ext>
            </a:extLst>
          </p:cNvPr>
          <p:cNvSpPr txBox="1">
            <a:spLocks/>
          </p:cNvSpPr>
          <p:nvPr/>
        </p:nvSpPr>
        <p:spPr>
          <a:xfrm>
            <a:off x="929166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b="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2EABFD-C142-48D2-8272-3C2D8BEF2F38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49" name="矩形: 圆顶角 48">
            <a:extLst>
              <a:ext uri="{FF2B5EF4-FFF2-40B4-BE49-F238E27FC236}">
                <a16:creationId xmlns:a16="http://schemas.microsoft.com/office/drawing/2014/main" id="{C19CFE65-CD25-BA5D-5CAB-9285E6EFCDCE}"/>
              </a:ext>
            </a:extLst>
          </p:cNvPr>
          <p:cNvSpPr/>
          <p:nvPr/>
        </p:nvSpPr>
        <p:spPr>
          <a:xfrm>
            <a:off x="6954824" y="773201"/>
            <a:ext cx="4578059" cy="4766983"/>
          </a:xfrm>
          <a:prstGeom prst="round2SameRect">
            <a:avLst>
              <a:gd name="adj1" fmla="val 4798"/>
              <a:gd name="adj2" fmla="val 0"/>
            </a:avLst>
          </a:prstGeom>
          <a:gradFill>
            <a:gsLst>
              <a:gs pos="18000">
                <a:schemeClr val="accent4"/>
              </a:gs>
              <a:gs pos="100000">
                <a:schemeClr val="accent5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728327A-60C4-8C23-9CF2-27E4CD82C341}"/>
              </a:ext>
            </a:extLst>
          </p:cNvPr>
          <p:cNvSpPr/>
          <p:nvPr/>
        </p:nvSpPr>
        <p:spPr>
          <a:xfrm>
            <a:off x="7092500" y="1455433"/>
            <a:ext cx="4302707" cy="39166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顶角 50">
            <a:extLst>
              <a:ext uri="{FF2B5EF4-FFF2-40B4-BE49-F238E27FC236}">
                <a16:creationId xmlns:a16="http://schemas.microsoft.com/office/drawing/2014/main" id="{DC6DFAB2-9382-7C89-9ECB-46714260517A}"/>
              </a:ext>
            </a:extLst>
          </p:cNvPr>
          <p:cNvSpPr/>
          <p:nvPr/>
        </p:nvSpPr>
        <p:spPr>
          <a:xfrm>
            <a:off x="733399" y="983092"/>
            <a:ext cx="4578059" cy="3758731"/>
          </a:xfrm>
          <a:prstGeom prst="round2SameRect">
            <a:avLst>
              <a:gd name="adj1" fmla="val 4798"/>
              <a:gd name="adj2" fmla="val 0"/>
            </a:avLst>
          </a:prstGeom>
          <a:gradFill>
            <a:gsLst>
              <a:gs pos="18000">
                <a:schemeClr val="accent1"/>
              </a:gs>
              <a:gs pos="100000">
                <a:schemeClr val="accent1">
                  <a:alpha val="79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2A73C5A-E55A-4B37-1C7D-FD8A5A2D064A}"/>
              </a:ext>
            </a:extLst>
          </p:cNvPr>
          <p:cNvSpPr/>
          <p:nvPr/>
        </p:nvSpPr>
        <p:spPr>
          <a:xfrm>
            <a:off x="871379" y="1716930"/>
            <a:ext cx="4302707" cy="28498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1910E7F-6551-1EA6-1F1B-0400DB4A2185}"/>
              </a:ext>
            </a:extLst>
          </p:cNvPr>
          <p:cNvSpPr txBox="1"/>
          <p:nvPr/>
        </p:nvSpPr>
        <p:spPr>
          <a:xfrm>
            <a:off x="1093816" y="1129927"/>
            <a:ext cx="1476477" cy="459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+mj-ea"/>
              </a:rPr>
              <a:t>总结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306C38F-7285-77FC-1104-45253DDF5AD5}"/>
              </a:ext>
            </a:extLst>
          </p:cNvPr>
          <p:cNvSpPr txBox="1"/>
          <p:nvPr/>
        </p:nvSpPr>
        <p:spPr>
          <a:xfrm>
            <a:off x="7239754" y="906829"/>
            <a:ext cx="1476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pitchFamily="34" charset="0"/>
                <a:ea typeface="+mj-ea"/>
              </a:rPr>
              <a:t>展望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EDB7EF-6641-CCF6-2943-88BB3E1DAB64}"/>
              </a:ext>
            </a:extLst>
          </p:cNvPr>
          <p:cNvSpPr txBox="1"/>
          <p:nvPr/>
        </p:nvSpPr>
        <p:spPr>
          <a:xfrm>
            <a:off x="1669625" y="1794696"/>
            <a:ext cx="2717090" cy="458715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lstStyle/>
          <a:p>
            <a:pPr algn="ctr" defTabSz="914400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HarmonyOS Sans SC" panose="00000500000000000000" pitchFamily="2" charset="-122"/>
              </a:rPr>
              <a:t>复现 </a:t>
            </a:r>
            <a:r>
              <a:rPr lang="en-US" altLang="zh-CN" sz="2000" b="1" dirty="0">
                <a:solidFill>
                  <a:schemeClr val="accent1"/>
                </a:solidFill>
                <a:latin typeface="Calibri" panose="020F0502020204030204" pitchFamily="34" charset="0"/>
                <a:ea typeface="HarmonyOS Sans SC" panose="00000500000000000000" pitchFamily="2" charset="-122"/>
              </a:rPr>
              <a:t>SCAVENGE </a:t>
            </a:r>
            <a:r>
              <a:rPr lang="zh-CN" alt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HarmonyOS Sans SC" panose="00000500000000000000" pitchFamily="2" charset="-122"/>
              </a:rPr>
              <a:t>全流程</a:t>
            </a:r>
            <a:endParaRPr lang="zh-CN" altLang="en-US" sz="2000" b="1" dirty="0">
              <a:solidFill>
                <a:schemeClr val="accent1"/>
              </a:solidFill>
              <a:latin typeface="Calibri" panose="020F0502020204030204" pitchFamily="34" charset="0"/>
              <a:ea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1480" name="文本框 1479">
            <a:extLst>
              <a:ext uri="{FF2B5EF4-FFF2-40B4-BE49-F238E27FC236}">
                <a16:creationId xmlns:a16="http://schemas.microsoft.com/office/drawing/2014/main" id="{CF61D9A2-F870-977B-E04A-DF9B1F2A9893}"/>
              </a:ext>
            </a:extLst>
          </p:cNvPr>
          <p:cNvSpPr txBox="1"/>
          <p:nvPr/>
        </p:nvSpPr>
        <p:spPr>
          <a:xfrm>
            <a:off x="7260622" y="1546107"/>
            <a:ext cx="1723549" cy="460767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chemeClr val="accent4"/>
                </a:solidFill>
                <a:latin typeface="Calibri" panose="020F0502020204030204" pitchFamily="34" charset="0"/>
                <a:ea typeface="HarmonyOS Sans SC" panose="00000500000000000000" pitchFamily="2" charset="-122"/>
              </a:rPr>
              <a:t>扩展应用场景</a:t>
            </a:r>
            <a:endParaRPr lang="zh-CN" altLang="en-US" sz="2000" b="1" dirty="0">
              <a:solidFill>
                <a:schemeClr val="accent4"/>
              </a:solidFill>
              <a:latin typeface="Calibri" panose="020F0502020204030204" pitchFamily="34" charset="0"/>
              <a:ea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1481" name="文本框 1480">
            <a:extLst>
              <a:ext uri="{FF2B5EF4-FFF2-40B4-BE49-F238E27FC236}">
                <a16:creationId xmlns:a16="http://schemas.microsoft.com/office/drawing/2014/main" id="{25332BA0-A48D-8ACE-F0BA-AE147A091BEE}"/>
              </a:ext>
            </a:extLst>
          </p:cNvPr>
          <p:cNvSpPr txBox="1"/>
          <p:nvPr/>
        </p:nvSpPr>
        <p:spPr>
          <a:xfrm>
            <a:off x="7260622" y="1962981"/>
            <a:ext cx="3500726" cy="6303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>
                <a:latin typeface="+mn-ea"/>
              </a:defRPr>
            </a:lvl1pPr>
          </a:lstStyle>
          <a:p>
            <a:r>
              <a:rPr lang="zh-CN" altLang="en-US" sz="1400" dirty="0"/>
              <a:t>后续可将方法应用到更多疾病、复杂性状和组织类型中，进一步验证其泛化能力。</a:t>
            </a:r>
            <a:endParaRPr lang="zh-CN" altLang="en-US" sz="1400" dirty="0">
              <a:latin typeface="Calibri" panose="020F0502020204030204" pitchFamily="34" charset="0"/>
              <a:sym typeface="HarmonyOS Sans SC" panose="00000500000000000000" pitchFamily="2" charset="-122"/>
            </a:endParaRPr>
          </a:p>
        </p:txBody>
      </p:sp>
      <p:sp>
        <p:nvSpPr>
          <p:cNvPr id="1482" name="文本框 1481">
            <a:extLst>
              <a:ext uri="{FF2B5EF4-FFF2-40B4-BE49-F238E27FC236}">
                <a16:creationId xmlns:a16="http://schemas.microsoft.com/office/drawing/2014/main" id="{C7746E16-7EB5-BCCD-46AD-FD8B8025385B}"/>
              </a:ext>
            </a:extLst>
          </p:cNvPr>
          <p:cNvSpPr txBox="1"/>
          <p:nvPr/>
        </p:nvSpPr>
        <p:spPr>
          <a:xfrm>
            <a:off x="7260622" y="2611432"/>
            <a:ext cx="1723549" cy="460767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lstStyle/>
          <a:p>
            <a:pPr lvl="0" defTabSz="914400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chemeClr val="accent4"/>
                </a:solidFill>
                <a:latin typeface="Calibri" panose="020F0502020204030204" pitchFamily="34" charset="0"/>
                <a:ea typeface="HarmonyOS Sans SC" panose="00000500000000000000" pitchFamily="2" charset="-122"/>
              </a:rPr>
              <a:t>优化融合策略</a:t>
            </a:r>
            <a:endParaRPr lang="zh-CN" altLang="en-US" sz="2000" b="1" dirty="0">
              <a:solidFill>
                <a:schemeClr val="accent4"/>
              </a:solidFill>
              <a:latin typeface="Calibri" panose="020F0502020204030204" pitchFamily="34" charset="0"/>
              <a:ea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1483" name="文本框 1482">
            <a:extLst>
              <a:ext uri="{FF2B5EF4-FFF2-40B4-BE49-F238E27FC236}">
                <a16:creationId xmlns:a16="http://schemas.microsoft.com/office/drawing/2014/main" id="{F0635F6B-BA3C-BF25-D4A7-3AEF9A60C92F}"/>
              </a:ext>
            </a:extLst>
          </p:cNvPr>
          <p:cNvSpPr txBox="1"/>
          <p:nvPr/>
        </p:nvSpPr>
        <p:spPr>
          <a:xfrm>
            <a:off x="7260623" y="3028307"/>
            <a:ext cx="3448857" cy="9103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>
                <a:latin typeface="+mn-ea"/>
              </a:defRPr>
            </a:lvl1pPr>
          </a:lstStyle>
          <a:p>
            <a:r>
              <a:rPr lang="zh-CN" altLang="en-US" sz="1400" dirty="0"/>
              <a:t>当前融合策略仍具有一定经验性，后续可探索自适应权重学习或更灵活的图学习模型，提高不同模态之间的信息整合能力。</a:t>
            </a:r>
            <a:endParaRPr lang="zh-CN" altLang="en-US" sz="1400" dirty="0">
              <a:latin typeface="Calibri" panose="020F0502020204030204" pitchFamily="34" charset="0"/>
              <a:sym typeface="HarmonyOS Sans SC" panose="00000500000000000000" pitchFamily="2" charset="-122"/>
            </a:endParaRPr>
          </a:p>
        </p:txBody>
      </p:sp>
      <p:sp>
        <p:nvSpPr>
          <p:cNvPr id="1484" name="文本框 1483">
            <a:extLst>
              <a:ext uri="{FF2B5EF4-FFF2-40B4-BE49-F238E27FC236}">
                <a16:creationId xmlns:a16="http://schemas.microsoft.com/office/drawing/2014/main" id="{F31F07D5-F6E5-C8CE-DE58-04F97754E113}"/>
              </a:ext>
            </a:extLst>
          </p:cNvPr>
          <p:cNvSpPr txBox="1"/>
          <p:nvPr/>
        </p:nvSpPr>
        <p:spPr>
          <a:xfrm>
            <a:off x="7260622" y="3942490"/>
            <a:ext cx="1723549" cy="458715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chemeClr val="accent4"/>
                </a:solidFill>
                <a:latin typeface="Calibri" panose="020F0502020204030204" pitchFamily="34" charset="0"/>
                <a:ea typeface="HarmonyOS Sans SC" panose="00000500000000000000" pitchFamily="2" charset="-122"/>
                <a:sym typeface="HarmonyOS Sans SC" panose="00000500000000000000" pitchFamily="2" charset="-122"/>
              </a:rPr>
              <a:t>降低数据依赖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Calibri" panose="020F0502020204030204" pitchFamily="34" charset="0"/>
              <a:ea typeface="HarmonyOS Sans SC" panose="00000500000000000000" pitchFamily="2" charset="-122"/>
              <a:cs typeface="+mn-cs"/>
              <a:sym typeface="HarmonyOS Sans SC" panose="00000500000000000000" pitchFamily="2" charset="-122"/>
            </a:endParaRPr>
          </a:p>
        </p:txBody>
      </p:sp>
      <p:sp>
        <p:nvSpPr>
          <p:cNvPr id="1485" name="文本框 1484">
            <a:extLst>
              <a:ext uri="{FF2B5EF4-FFF2-40B4-BE49-F238E27FC236}">
                <a16:creationId xmlns:a16="http://schemas.microsoft.com/office/drawing/2014/main" id="{44A7BACA-A940-CB56-3588-BEE575BF55D5}"/>
              </a:ext>
            </a:extLst>
          </p:cNvPr>
          <p:cNvSpPr txBox="1"/>
          <p:nvPr/>
        </p:nvSpPr>
        <p:spPr>
          <a:xfrm>
            <a:off x="7260622" y="4359364"/>
            <a:ext cx="3500726" cy="9103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>
                <a:latin typeface="+mn-ea"/>
              </a:defRPr>
            </a:lvl1pPr>
          </a:lstStyle>
          <a:p>
            <a:r>
              <a:rPr lang="zh-CN" altLang="en-US" sz="1400" dirty="0"/>
              <a:t>本文方法主要依赖配对 </a:t>
            </a:r>
            <a:r>
              <a:rPr lang="en-US" altLang="zh-CN" sz="1400" dirty="0"/>
              <a:t>RNA-ATAC </a:t>
            </a:r>
            <a:r>
              <a:rPr lang="zh-CN" altLang="en-US" sz="1400" dirty="0"/>
              <a:t>多组学数据，后续可尝试扩展到非配对多组学数据或缺失模态场景，提升方法适用范围。</a:t>
            </a:r>
            <a:endParaRPr lang="zh-CN" altLang="en-US" sz="1400" dirty="0">
              <a:latin typeface="Calibri" panose="020F0502020204030204" pitchFamily="34" charset="0"/>
              <a:sym typeface="HarmonyOS Sans SC" panose="00000500000000000000" pitchFamily="2" charset="-122"/>
            </a:endParaRPr>
          </a:p>
        </p:txBody>
      </p:sp>
      <p:cxnSp>
        <p:nvCxnSpPr>
          <p:cNvPr id="1490" name="直接连接符 1489">
            <a:extLst>
              <a:ext uri="{FF2B5EF4-FFF2-40B4-BE49-F238E27FC236}">
                <a16:creationId xmlns:a16="http://schemas.microsoft.com/office/drawing/2014/main" id="{DB5DC4E7-1B5C-E38C-711C-4EC3C0465EE2}"/>
              </a:ext>
            </a:extLst>
          </p:cNvPr>
          <p:cNvCxnSpPr>
            <a:cxnSpLocks/>
          </p:cNvCxnSpPr>
          <p:nvPr/>
        </p:nvCxnSpPr>
        <p:spPr>
          <a:xfrm>
            <a:off x="7353184" y="2601721"/>
            <a:ext cx="3152713" cy="0"/>
          </a:xfrm>
          <a:prstGeom prst="line">
            <a:avLst/>
          </a:prstGeom>
          <a:ln w="15875">
            <a:solidFill>
              <a:schemeClr val="tx2">
                <a:alpha val="7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1" name="直接连接符 1490">
            <a:extLst>
              <a:ext uri="{FF2B5EF4-FFF2-40B4-BE49-F238E27FC236}">
                <a16:creationId xmlns:a16="http://schemas.microsoft.com/office/drawing/2014/main" id="{5E761420-942B-AF47-7FD2-CF80B50E067F}"/>
              </a:ext>
            </a:extLst>
          </p:cNvPr>
          <p:cNvCxnSpPr>
            <a:cxnSpLocks/>
          </p:cNvCxnSpPr>
          <p:nvPr/>
        </p:nvCxnSpPr>
        <p:spPr>
          <a:xfrm>
            <a:off x="7353184" y="3926567"/>
            <a:ext cx="3152713" cy="0"/>
          </a:xfrm>
          <a:prstGeom prst="line">
            <a:avLst/>
          </a:prstGeom>
          <a:ln w="15875">
            <a:solidFill>
              <a:schemeClr val="tx2">
                <a:alpha val="7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2" name="组合 1491">
            <a:extLst>
              <a:ext uri="{FF2B5EF4-FFF2-40B4-BE49-F238E27FC236}">
                <a16:creationId xmlns:a16="http://schemas.microsoft.com/office/drawing/2014/main" id="{104387B4-3BCE-CD09-B0E8-56B99A191DDC}"/>
              </a:ext>
            </a:extLst>
          </p:cNvPr>
          <p:cNvGrpSpPr/>
          <p:nvPr/>
        </p:nvGrpSpPr>
        <p:grpSpPr>
          <a:xfrm>
            <a:off x="5800160" y="1628549"/>
            <a:ext cx="665962" cy="318005"/>
            <a:chOff x="5733193" y="1707031"/>
            <a:chExt cx="669295" cy="294480"/>
          </a:xfrm>
        </p:grpSpPr>
        <p:sp>
          <p:nvSpPr>
            <p:cNvPr id="1493" name="箭头: V 形 1492">
              <a:extLst>
                <a:ext uri="{FF2B5EF4-FFF2-40B4-BE49-F238E27FC236}">
                  <a16:creationId xmlns:a16="http://schemas.microsoft.com/office/drawing/2014/main" id="{F6037F65-8543-B86D-0C33-946E95B764B1}"/>
                </a:ext>
              </a:extLst>
            </p:cNvPr>
            <p:cNvSpPr/>
            <p:nvPr/>
          </p:nvSpPr>
          <p:spPr>
            <a:xfrm>
              <a:off x="6019549" y="1707031"/>
              <a:ext cx="382939" cy="294480"/>
            </a:xfrm>
            <a:prstGeom prst="chevron">
              <a:avLst>
                <a:gd name="adj" fmla="val 53484"/>
              </a:avLst>
            </a:prstGeom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>
                    <a:alpha val="98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/>
                <a:cs typeface="+mn-cs"/>
              </a:endParaRPr>
            </a:p>
          </p:txBody>
        </p:sp>
        <p:sp>
          <p:nvSpPr>
            <p:cNvPr id="1494" name="箭头: V 形 1493">
              <a:extLst>
                <a:ext uri="{FF2B5EF4-FFF2-40B4-BE49-F238E27FC236}">
                  <a16:creationId xmlns:a16="http://schemas.microsoft.com/office/drawing/2014/main" id="{7FAAA1C6-D1F6-6609-13C1-CF4210824577}"/>
                </a:ext>
              </a:extLst>
            </p:cNvPr>
            <p:cNvSpPr/>
            <p:nvPr/>
          </p:nvSpPr>
          <p:spPr>
            <a:xfrm>
              <a:off x="5733193" y="1707031"/>
              <a:ext cx="382939" cy="294480"/>
            </a:xfrm>
            <a:prstGeom prst="chevron">
              <a:avLst>
                <a:gd name="adj" fmla="val 53484"/>
              </a:avLst>
            </a:prstGeom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>
                    <a:alpha val="98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/>
                <a:cs typeface="+mn-cs"/>
              </a:endParaRPr>
            </a:p>
          </p:txBody>
        </p:sp>
      </p:grpSp>
      <p:sp>
        <p:nvSpPr>
          <p:cNvPr id="1499" name="文本框 1498">
            <a:extLst>
              <a:ext uri="{FF2B5EF4-FFF2-40B4-BE49-F238E27FC236}">
                <a16:creationId xmlns:a16="http://schemas.microsoft.com/office/drawing/2014/main" id="{59CA30CD-6E35-A5D8-54B4-7CE34C032757}"/>
              </a:ext>
            </a:extLst>
          </p:cNvPr>
          <p:cNvSpPr txBox="1"/>
          <p:nvPr/>
        </p:nvSpPr>
        <p:spPr>
          <a:xfrm>
            <a:off x="5887160" y="2119040"/>
            <a:ext cx="492443" cy="29978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000" dirty="0"/>
              <a:t>从方法验证走向应用拓展</a:t>
            </a:r>
          </a:p>
        </p:txBody>
      </p:sp>
      <p:sp>
        <p:nvSpPr>
          <p:cNvPr id="1501" name="文本框 1500">
            <a:extLst>
              <a:ext uri="{FF2B5EF4-FFF2-40B4-BE49-F238E27FC236}">
                <a16:creationId xmlns:a16="http://schemas.microsoft.com/office/drawing/2014/main" id="{02E4CCF9-2692-EB8F-2A34-077C7808709D}"/>
              </a:ext>
            </a:extLst>
          </p:cNvPr>
          <p:cNvSpPr txBox="1"/>
          <p:nvPr/>
        </p:nvSpPr>
        <p:spPr>
          <a:xfrm>
            <a:off x="1900224" y="2486926"/>
            <a:ext cx="2236510" cy="458715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lstStyle/>
          <a:p>
            <a:pPr algn="ctr" defTabSz="914400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HarmonyOS Sans SC" panose="00000500000000000000" pitchFamily="2" charset="-122"/>
              </a:rPr>
              <a:t>分析原方法局限性</a:t>
            </a:r>
            <a:endParaRPr lang="zh-CN" altLang="en-US" sz="2000" b="1" dirty="0">
              <a:solidFill>
                <a:schemeClr val="accent1"/>
              </a:solidFill>
              <a:latin typeface="Calibri" panose="020F0502020204030204" pitchFamily="34" charset="0"/>
              <a:ea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1502" name="文本框 1501">
            <a:extLst>
              <a:ext uri="{FF2B5EF4-FFF2-40B4-BE49-F238E27FC236}">
                <a16:creationId xmlns:a16="http://schemas.microsoft.com/office/drawing/2014/main" id="{23B1DD53-6F2F-69B9-D1C9-0745BA8470C6}"/>
              </a:ext>
            </a:extLst>
          </p:cNvPr>
          <p:cNvSpPr txBox="1"/>
          <p:nvPr/>
        </p:nvSpPr>
        <p:spPr>
          <a:xfrm>
            <a:off x="1525195" y="3179177"/>
            <a:ext cx="3005951" cy="460767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lstStyle/>
          <a:p>
            <a:pPr algn="ctr" defTabSz="914400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HarmonyOS Sans SC" panose="00000500000000000000" pitchFamily="2" charset="-122"/>
              </a:rPr>
              <a:t>提出多组学融合改进方案</a:t>
            </a:r>
            <a:endParaRPr lang="zh-CN" altLang="en-US" sz="2000" b="1" dirty="0">
              <a:solidFill>
                <a:schemeClr val="accent1"/>
              </a:solidFill>
              <a:latin typeface="Calibri" panose="020F0502020204030204" pitchFamily="34" charset="0"/>
              <a:ea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1503" name="文本框 1502">
            <a:extLst>
              <a:ext uri="{FF2B5EF4-FFF2-40B4-BE49-F238E27FC236}">
                <a16:creationId xmlns:a16="http://schemas.microsoft.com/office/drawing/2014/main" id="{B71D1C05-08DE-9C5E-8EF1-9B4534FA7631}"/>
              </a:ext>
            </a:extLst>
          </p:cNvPr>
          <p:cNvSpPr txBox="1"/>
          <p:nvPr/>
        </p:nvSpPr>
        <p:spPr>
          <a:xfrm>
            <a:off x="1525195" y="3871407"/>
            <a:ext cx="3005951" cy="460767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lstStyle/>
          <a:p>
            <a:pPr algn="ctr" defTabSz="914400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HarmonyOS Sans SC" panose="00000500000000000000" pitchFamily="2" charset="-122"/>
              </a:rPr>
              <a:t>验证方法有效性与稳定性</a:t>
            </a:r>
            <a:endParaRPr lang="zh-CN" altLang="en-US" sz="2000" b="1" dirty="0">
              <a:solidFill>
                <a:schemeClr val="accent1"/>
              </a:solidFill>
              <a:latin typeface="Calibri" panose="020F0502020204030204" pitchFamily="34" charset="0"/>
              <a:ea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1508" name="文本框 1507">
            <a:extLst>
              <a:ext uri="{FF2B5EF4-FFF2-40B4-BE49-F238E27FC236}">
                <a16:creationId xmlns:a16="http://schemas.microsoft.com/office/drawing/2014/main" id="{60A40C71-CF1F-EF07-BBE4-0621B56FE10F}"/>
              </a:ext>
            </a:extLst>
          </p:cNvPr>
          <p:cNvSpPr txBox="1"/>
          <p:nvPr/>
        </p:nvSpPr>
        <p:spPr>
          <a:xfrm>
            <a:off x="1275229" y="5664018"/>
            <a:ext cx="9641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	</a:t>
            </a:r>
            <a:r>
              <a:rPr lang="zh-CN" altLang="en-US" b="1" dirty="0"/>
              <a:t>融合 </a:t>
            </a:r>
            <a:r>
              <a:rPr lang="en-US" altLang="zh-CN" b="1" dirty="0"/>
              <a:t>RNA </a:t>
            </a:r>
            <a:r>
              <a:rPr lang="zh-CN" altLang="en-US" b="1" dirty="0"/>
              <a:t>与 </a:t>
            </a:r>
            <a:r>
              <a:rPr lang="en-US" altLang="zh-CN" b="1" dirty="0"/>
              <a:t>ATAC </a:t>
            </a:r>
            <a:r>
              <a:rPr lang="zh-CN" altLang="en-US" b="1" dirty="0"/>
              <a:t>信息有助于更准确、稳健地识别性状相关细胞类型，为复杂疾病机制解析、精准医疗研究和潜在治疗靶点发现提供参考。</a:t>
            </a:r>
          </a:p>
        </p:txBody>
      </p:sp>
    </p:spTree>
    <p:extLst>
      <p:ext uri="{BB962C8B-B14F-4D97-AF65-F5344CB8AC3E}">
        <p14:creationId xmlns:p14="http://schemas.microsoft.com/office/powerpoint/2010/main" val="265501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7BBEBBC-BA13-DAB6-6131-75025867AC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3455" y="353281"/>
            <a:ext cx="6151437" cy="615143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1008" y="2391912"/>
            <a:ext cx="5134992" cy="71998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敬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请各位老师批评指正</a:t>
            </a: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 rot="10800000">
            <a:off x="2496042" y="1305082"/>
            <a:ext cx="8258441" cy="4597885"/>
          </a:xfrm>
          <a:custGeom>
            <a:avLst/>
            <a:gdLst>
              <a:gd name="connsiteX0" fmla="*/ 6762786 w 6826313"/>
              <a:gd name="connsiteY0" fmla="*/ 1876457 h 4508626"/>
              <a:gd name="connsiteX1" fmla="*/ 6826313 w 6826313"/>
              <a:gd name="connsiteY1" fmla="*/ 1876457 h 4508626"/>
              <a:gd name="connsiteX2" fmla="*/ 6826313 w 6826313"/>
              <a:gd name="connsiteY2" fmla="*/ 2139756 h 4508626"/>
              <a:gd name="connsiteX3" fmla="*/ 6762786 w 6826313"/>
              <a:gd name="connsiteY3" fmla="*/ 2139756 h 4508626"/>
              <a:gd name="connsiteX4" fmla="*/ 0 w 6826313"/>
              <a:gd name="connsiteY4" fmla="*/ 0 h 4508626"/>
              <a:gd name="connsiteX5" fmla="*/ 6826313 w 6826313"/>
              <a:gd name="connsiteY5" fmla="*/ 0 h 4508626"/>
              <a:gd name="connsiteX6" fmla="*/ 6826313 w 6826313"/>
              <a:gd name="connsiteY6" fmla="*/ 959382 h 4508626"/>
              <a:gd name="connsiteX7" fmla="*/ 6762786 w 6826313"/>
              <a:gd name="connsiteY7" fmla="*/ 959382 h 4508626"/>
              <a:gd name="connsiteX8" fmla="*/ 6762786 w 6826313"/>
              <a:gd name="connsiteY8" fmla="*/ 63527 h 4508626"/>
              <a:gd name="connsiteX9" fmla="*/ 63527 w 6826313"/>
              <a:gd name="connsiteY9" fmla="*/ 63527 h 4508626"/>
              <a:gd name="connsiteX10" fmla="*/ 63527 w 6826313"/>
              <a:gd name="connsiteY10" fmla="*/ 4445099 h 4508626"/>
              <a:gd name="connsiteX11" fmla="*/ 6762786 w 6826313"/>
              <a:gd name="connsiteY11" fmla="*/ 4445099 h 4508626"/>
              <a:gd name="connsiteX12" fmla="*/ 6762786 w 6826313"/>
              <a:gd name="connsiteY12" fmla="*/ 3756057 h 4508626"/>
              <a:gd name="connsiteX13" fmla="*/ 6826313 w 6826313"/>
              <a:gd name="connsiteY13" fmla="*/ 3756057 h 4508626"/>
              <a:gd name="connsiteX14" fmla="*/ 6826313 w 6826313"/>
              <a:gd name="connsiteY14" fmla="*/ 4508626 h 4508626"/>
              <a:gd name="connsiteX15" fmla="*/ 0 w 6826313"/>
              <a:gd name="connsiteY15" fmla="*/ 4508626 h 4508626"/>
              <a:gd name="connsiteX0-1" fmla="*/ 6762786 w 6826313"/>
              <a:gd name="connsiteY0-2" fmla="*/ 1876457 h 4508626"/>
              <a:gd name="connsiteX1-3" fmla="*/ 6826313 w 6826313"/>
              <a:gd name="connsiteY1-4" fmla="*/ 1876457 h 4508626"/>
              <a:gd name="connsiteX2-5" fmla="*/ 6826313 w 6826313"/>
              <a:gd name="connsiteY2-6" fmla="*/ 2476058 h 4508626"/>
              <a:gd name="connsiteX3-7" fmla="*/ 6762786 w 6826313"/>
              <a:gd name="connsiteY3-8" fmla="*/ 2139756 h 4508626"/>
              <a:gd name="connsiteX4-9" fmla="*/ 6762786 w 6826313"/>
              <a:gd name="connsiteY4-10" fmla="*/ 1876457 h 4508626"/>
              <a:gd name="connsiteX5-11" fmla="*/ 0 w 6826313"/>
              <a:gd name="connsiteY5-12" fmla="*/ 0 h 4508626"/>
              <a:gd name="connsiteX6-13" fmla="*/ 6826313 w 6826313"/>
              <a:gd name="connsiteY6-14" fmla="*/ 0 h 4508626"/>
              <a:gd name="connsiteX7-15" fmla="*/ 6826313 w 6826313"/>
              <a:gd name="connsiteY7-16" fmla="*/ 959382 h 4508626"/>
              <a:gd name="connsiteX8-17" fmla="*/ 6762786 w 6826313"/>
              <a:gd name="connsiteY8-18" fmla="*/ 959382 h 4508626"/>
              <a:gd name="connsiteX9-19" fmla="*/ 6762786 w 6826313"/>
              <a:gd name="connsiteY9-20" fmla="*/ 63527 h 4508626"/>
              <a:gd name="connsiteX10-21" fmla="*/ 63527 w 6826313"/>
              <a:gd name="connsiteY10-22" fmla="*/ 63527 h 4508626"/>
              <a:gd name="connsiteX11-23" fmla="*/ 63527 w 6826313"/>
              <a:gd name="connsiteY11-24" fmla="*/ 4445099 h 4508626"/>
              <a:gd name="connsiteX12-25" fmla="*/ 6762786 w 6826313"/>
              <a:gd name="connsiteY12-26" fmla="*/ 4445099 h 4508626"/>
              <a:gd name="connsiteX13-27" fmla="*/ 6762786 w 6826313"/>
              <a:gd name="connsiteY13-28" fmla="*/ 3756057 h 4508626"/>
              <a:gd name="connsiteX14-29" fmla="*/ 6826313 w 6826313"/>
              <a:gd name="connsiteY14-30" fmla="*/ 3756057 h 4508626"/>
              <a:gd name="connsiteX15-31" fmla="*/ 6826313 w 6826313"/>
              <a:gd name="connsiteY15-32" fmla="*/ 4508626 h 4508626"/>
              <a:gd name="connsiteX16" fmla="*/ 0 w 6826313"/>
              <a:gd name="connsiteY16" fmla="*/ 4508626 h 4508626"/>
              <a:gd name="connsiteX17" fmla="*/ 0 w 6826313"/>
              <a:gd name="connsiteY17" fmla="*/ 0 h 4508626"/>
              <a:gd name="connsiteX0-33" fmla="*/ 6762786 w 6826313"/>
              <a:gd name="connsiteY0-34" fmla="*/ 1876457 h 4508626"/>
              <a:gd name="connsiteX1-35" fmla="*/ 6826313 w 6826313"/>
              <a:gd name="connsiteY1-36" fmla="*/ 1876457 h 4508626"/>
              <a:gd name="connsiteX2-37" fmla="*/ 6826313 w 6826313"/>
              <a:gd name="connsiteY2-38" fmla="*/ 2476058 h 4508626"/>
              <a:gd name="connsiteX3-39" fmla="*/ 6762786 w 6826313"/>
              <a:gd name="connsiteY3-40" fmla="*/ 2455298 h 4508626"/>
              <a:gd name="connsiteX4-41" fmla="*/ 6762786 w 6826313"/>
              <a:gd name="connsiteY4-42" fmla="*/ 1876457 h 4508626"/>
              <a:gd name="connsiteX5-43" fmla="*/ 0 w 6826313"/>
              <a:gd name="connsiteY5-44" fmla="*/ 0 h 4508626"/>
              <a:gd name="connsiteX6-45" fmla="*/ 6826313 w 6826313"/>
              <a:gd name="connsiteY6-46" fmla="*/ 0 h 4508626"/>
              <a:gd name="connsiteX7-47" fmla="*/ 6826313 w 6826313"/>
              <a:gd name="connsiteY7-48" fmla="*/ 959382 h 4508626"/>
              <a:gd name="connsiteX8-49" fmla="*/ 6762786 w 6826313"/>
              <a:gd name="connsiteY8-50" fmla="*/ 959382 h 4508626"/>
              <a:gd name="connsiteX9-51" fmla="*/ 6762786 w 6826313"/>
              <a:gd name="connsiteY9-52" fmla="*/ 63527 h 4508626"/>
              <a:gd name="connsiteX10-53" fmla="*/ 63527 w 6826313"/>
              <a:gd name="connsiteY10-54" fmla="*/ 63527 h 4508626"/>
              <a:gd name="connsiteX11-55" fmla="*/ 63527 w 6826313"/>
              <a:gd name="connsiteY11-56" fmla="*/ 4445099 h 4508626"/>
              <a:gd name="connsiteX12-57" fmla="*/ 6762786 w 6826313"/>
              <a:gd name="connsiteY12-58" fmla="*/ 4445099 h 4508626"/>
              <a:gd name="connsiteX13-59" fmla="*/ 6762786 w 6826313"/>
              <a:gd name="connsiteY13-60" fmla="*/ 3756057 h 4508626"/>
              <a:gd name="connsiteX14-61" fmla="*/ 6826313 w 6826313"/>
              <a:gd name="connsiteY14-62" fmla="*/ 3756057 h 4508626"/>
              <a:gd name="connsiteX15-63" fmla="*/ 6826313 w 6826313"/>
              <a:gd name="connsiteY15-64" fmla="*/ 4508626 h 4508626"/>
              <a:gd name="connsiteX16-65" fmla="*/ 0 w 6826313"/>
              <a:gd name="connsiteY16-66" fmla="*/ 4508626 h 4508626"/>
              <a:gd name="connsiteX17-67" fmla="*/ 0 w 6826313"/>
              <a:gd name="connsiteY17-68" fmla="*/ 0 h 4508626"/>
              <a:gd name="connsiteX0-69" fmla="*/ 6762786 w 6826313"/>
              <a:gd name="connsiteY0-70" fmla="*/ 1876457 h 4508626"/>
              <a:gd name="connsiteX1-71" fmla="*/ 6826313 w 6826313"/>
              <a:gd name="connsiteY1-72" fmla="*/ 1876457 h 4508626"/>
              <a:gd name="connsiteX2-73" fmla="*/ 6826313 w 6826313"/>
              <a:gd name="connsiteY2-74" fmla="*/ 2476058 h 4508626"/>
              <a:gd name="connsiteX3-75" fmla="*/ 6762786 w 6826313"/>
              <a:gd name="connsiteY3-76" fmla="*/ 2476058 h 4508626"/>
              <a:gd name="connsiteX4-77" fmla="*/ 6762786 w 6826313"/>
              <a:gd name="connsiteY4-78" fmla="*/ 1876457 h 4508626"/>
              <a:gd name="connsiteX5-79" fmla="*/ 0 w 6826313"/>
              <a:gd name="connsiteY5-80" fmla="*/ 0 h 4508626"/>
              <a:gd name="connsiteX6-81" fmla="*/ 6826313 w 6826313"/>
              <a:gd name="connsiteY6-82" fmla="*/ 0 h 4508626"/>
              <a:gd name="connsiteX7-83" fmla="*/ 6826313 w 6826313"/>
              <a:gd name="connsiteY7-84" fmla="*/ 959382 h 4508626"/>
              <a:gd name="connsiteX8-85" fmla="*/ 6762786 w 6826313"/>
              <a:gd name="connsiteY8-86" fmla="*/ 959382 h 4508626"/>
              <a:gd name="connsiteX9-87" fmla="*/ 6762786 w 6826313"/>
              <a:gd name="connsiteY9-88" fmla="*/ 63527 h 4508626"/>
              <a:gd name="connsiteX10-89" fmla="*/ 63527 w 6826313"/>
              <a:gd name="connsiteY10-90" fmla="*/ 63527 h 4508626"/>
              <a:gd name="connsiteX11-91" fmla="*/ 63527 w 6826313"/>
              <a:gd name="connsiteY11-92" fmla="*/ 4445099 h 4508626"/>
              <a:gd name="connsiteX12-93" fmla="*/ 6762786 w 6826313"/>
              <a:gd name="connsiteY12-94" fmla="*/ 4445099 h 4508626"/>
              <a:gd name="connsiteX13-95" fmla="*/ 6762786 w 6826313"/>
              <a:gd name="connsiteY13-96" fmla="*/ 3756057 h 4508626"/>
              <a:gd name="connsiteX14-97" fmla="*/ 6826313 w 6826313"/>
              <a:gd name="connsiteY14-98" fmla="*/ 3756057 h 4508626"/>
              <a:gd name="connsiteX15-99" fmla="*/ 6826313 w 6826313"/>
              <a:gd name="connsiteY15-100" fmla="*/ 4508626 h 4508626"/>
              <a:gd name="connsiteX16-101" fmla="*/ 0 w 6826313"/>
              <a:gd name="connsiteY16-102" fmla="*/ 4508626 h 4508626"/>
              <a:gd name="connsiteX17-103" fmla="*/ 0 w 6826313"/>
              <a:gd name="connsiteY17-104" fmla="*/ 0 h 4508626"/>
              <a:gd name="connsiteX0-105" fmla="*/ 6762786 w 6826313"/>
              <a:gd name="connsiteY0-106" fmla="*/ 1876457 h 4508626"/>
              <a:gd name="connsiteX1-107" fmla="*/ 6826313 w 6826313"/>
              <a:gd name="connsiteY1-108" fmla="*/ 1876457 h 4508626"/>
              <a:gd name="connsiteX2-109" fmla="*/ 6826313 w 6826313"/>
              <a:gd name="connsiteY2-110" fmla="*/ 2476058 h 4508626"/>
              <a:gd name="connsiteX3-111" fmla="*/ 6762786 w 6826313"/>
              <a:gd name="connsiteY3-112" fmla="*/ 2476058 h 4508626"/>
              <a:gd name="connsiteX4-113" fmla="*/ 6762786 w 6826313"/>
              <a:gd name="connsiteY4-114" fmla="*/ 1876457 h 4508626"/>
              <a:gd name="connsiteX5-115" fmla="*/ 0 w 6826313"/>
              <a:gd name="connsiteY5-116" fmla="*/ 0 h 4508626"/>
              <a:gd name="connsiteX6-117" fmla="*/ 6826313 w 6826313"/>
              <a:gd name="connsiteY6-118" fmla="*/ 0 h 4508626"/>
              <a:gd name="connsiteX7-119" fmla="*/ 6826313 w 6826313"/>
              <a:gd name="connsiteY7-120" fmla="*/ 959382 h 4508626"/>
              <a:gd name="connsiteX8-121" fmla="*/ 6762786 w 6826313"/>
              <a:gd name="connsiteY8-122" fmla="*/ 959382 h 4508626"/>
              <a:gd name="connsiteX9-123" fmla="*/ 6762786 w 6826313"/>
              <a:gd name="connsiteY9-124" fmla="*/ 63527 h 4508626"/>
              <a:gd name="connsiteX10-125" fmla="*/ 63527 w 6826313"/>
              <a:gd name="connsiteY10-126" fmla="*/ 63527 h 4508626"/>
              <a:gd name="connsiteX11-127" fmla="*/ 63527 w 6826313"/>
              <a:gd name="connsiteY11-128" fmla="*/ 4445099 h 4508626"/>
              <a:gd name="connsiteX12-129" fmla="*/ 6762786 w 6826313"/>
              <a:gd name="connsiteY12-130" fmla="*/ 4445099 h 4508626"/>
              <a:gd name="connsiteX13-131" fmla="*/ 6762786 w 6826313"/>
              <a:gd name="connsiteY13-132" fmla="*/ 3403147 h 4508626"/>
              <a:gd name="connsiteX14-133" fmla="*/ 6826313 w 6826313"/>
              <a:gd name="connsiteY14-134" fmla="*/ 3756057 h 4508626"/>
              <a:gd name="connsiteX15-135" fmla="*/ 6826313 w 6826313"/>
              <a:gd name="connsiteY15-136" fmla="*/ 4508626 h 4508626"/>
              <a:gd name="connsiteX16-137" fmla="*/ 0 w 6826313"/>
              <a:gd name="connsiteY16-138" fmla="*/ 4508626 h 4508626"/>
              <a:gd name="connsiteX17-139" fmla="*/ 0 w 6826313"/>
              <a:gd name="connsiteY17-140" fmla="*/ 0 h 4508626"/>
              <a:gd name="connsiteX0-141" fmla="*/ 6762786 w 6829816"/>
              <a:gd name="connsiteY0-142" fmla="*/ 1876457 h 4508626"/>
              <a:gd name="connsiteX1-143" fmla="*/ 6826313 w 6829816"/>
              <a:gd name="connsiteY1-144" fmla="*/ 1876457 h 4508626"/>
              <a:gd name="connsiteX2-145" fmla="*/ 6826313 w 6829816"/>
              <a:gd name="connsiteY2-146" fmla="*/ 2476058 h 4508626"/>
              <a:gd name="connsiteX3-147" fmla="*/ 6762786 w 6829816"/>
              <a:gd name="connsiteY3-148" fmla="*/ 2476058 h 4508626"/>
              <a:gd name="connsiteX4-149" fmla="*/ 6762786 w 6829816"/>
              <a:gd name="connsiteY4-150" fmla="*/ 1876457 h 4508626"/>
              <a:gd name="connsiteX5-151" fmla="*/ 0 w 6829816"/>
              <a:gd name="connsiteY5-152" fmla="*/ 0 h 4508626"/>
              <a:gd name="connsiteX6-153" fmla="*/ 6826313 w 6829816"/>
              <a:gd name="connsiteY6-154" fmla="*/ 0 h 4508626"/>
              <a:gd name="connsiteX7-155" fmla="*/ 6826313 w 6829816"/>
              <a:gd name="connsiteY7-156" fmla="*/ 959382 h 4508626"/>
              <a:gd name="connsiteX8-157" fmla="*/ 6762786 w 6829816"/>
              <a:gd name="connsiteY8-158" fmla="*/ 959382 h 4508626"/>
              <a:gd name="connsiteX9-159" fmla="*/ 6762786 w 6829816"/>
              <a:gd name="connsiteY9-160" fmla="*/ 63527 h 4508626"/>
              <a:gd name="connsiteX10-161" fmla="*/ 63527 w 6829816"/>
              <a:gd name="connsiteY10-162" fmla="*/ 63527 h 4508626"/>
              <a:gd name="connsiteX11-163" fmla="*/ 63527 w 6829816"/>
              <a:gd name="connsiteY11-164" fmla="*/ 4445099 h 4508626"/>
              <a:gd name="connsiteX12-165" fmla="*/ 6762786 w 6829816"/>
              <a:gd name="connsiteY12-166" fmla="*/ 4445099 h 4508626"/>
              <a:gd name="connsiteX13-167" fmla="*/ 6762786 w 6829816"/>
              <a:gd name="connsiteY13-168" fmla="*/ 3403147 h 4508626"/>
              <a:gd name="connsiteX14-169" fmla="*/ 6829816 w 6829816"/>
              <a:gd name="connsiteY14-170" fmla="*/ 3415603 h 4508626"/>
              <a:gd name="connsiteX15-171" fmla="*/ 6826313 w 6829816"/>
              <a:gd name="connsiteY15-172" fmla="*/ 4508626 h 4508626"/>
              <a:gd name="connsiteX16-173" fmla="*/ 0 w 6829816"/>
              <a:gd name="connsiteY16-174" fmla="*/ 4508626 h 4508626"/>
              <a:gd name="connsiteX17-175" fmla="*/ 0 w 6829816"/>
              <a:gd name="connsiteY17-176" fmla="*/ 0 h 4508626"/>
              <a:gd name="connsiteX0-177" fmla="*/ 6762786 w 6833319"/>
              <a:gd name="connsiteY0-178" fmla="*/ 1876457 h 4508626"/>
              <a:gd name="connsiteX1-179" fmla="*/ 6826313 w 6833319"/>
              <a:gd name="connsiteY1-180" fmla="*/ 1876457 h 4508626"/>
              <a:gd name="connsiteX2-181" fmla="*/ 6826313 w 6833319"/>
              <a:gd name="connsiteY2-182" fmla="*/ 2476058 h 4508626"/>
              <a:gd name="connsiteX3-183" fmla="*/ 6762786 w 6833319"/>
              <a:gd name="connsiteY3-184" fmla="*/ 2476058 h 4508626"/>
              <a:gd name="connsiteX4-185" fmla="*/ 6762786 w 6833319"/>
              <a:gd name="connsiteY4-186" fmla="*/ 1876457 h 4508626"/>
              <a:gd name="connsiteX5-187" fmla="*/ 0 w 6833319"/>
              <a:gd name="connsiteY5-188" fmla="*/ 0 h 4508626"/>
              <a:gd name="connsiteX6-189" fmla="*/ 6826313 w 6833319"/>
              <a:gd name="connsiteY6-190" fmla="*/ 0 h 4508626"/>
              <a:gd name="connsiteX7-191" fmla="*/ 6826313 w 6833319"/>
              <a:gd name="connsiteY7-192" fmla="*/ 959382 h 4508626"/>
              <a:gd name="connsiteX8-193" fmla="*/ 6762786 w 6833319"/>
              <a:gd name="connsiteY8-194" fmla="*/ 959382 h 4508626"/>
              <a:gd name="connsiteX9-195" fmla="*/ 6762786 w 6833319"/>
              <a:gd name="connsiteY9-196" fmla="*/ 63527 h 4508626"/>
              <a:gd name="connsiteX10-197" fmla="*/ 63527 w 6833319"/>
              <a:gd name="connsiteY10-198" fmla="*/ 63527 h 4508626"/>
              <a:gd name="connsiteX11-199" fmla="*/ 63527 w 6833319"/>
              <a:gd name="connsiteY11-200" fmla="*/ 4445099 h 4508626"/>
              <a:gd name="connsiteX12-201" fmla="*/ 6762786 w 6833319"/>
              <a:gd name="connsiteY12-202" fmla="*/ 4445099 h 4508626"/>
              <a:gd name="connsiteX13-203" fmla="*/ 6762786 w 6833319"/>
              <a:gd name="connsiteY13-204" fmla="*/ 3403147 h 4508626"/>
              <a:gd name="connsiteX14-205" fmla="*/ 6833319 w 6833319"/>
              <a:gd name="connsiteY14-206" fmla="*/ 3394844 h 4508626"/>
              <a:gd name="connsiteX15-207" fmla="*/ 6826313 w 6833319"/>
              <a:gd name="connsiteY15-208" fmla="*/ 4508626 h 4508626"/>
              <a:gd name="connsiteX16-209" fmla="*/ 0 w 6833319"/>
              <a:gd name="connsiteY16-210" fmla="*/ 4508626 h 4508626"/>
              <a:gd name="connsiteX17-211" fmla="*/ 0 w 6833319"/>
              <a:gd name="connsiteY17-212" fmla="*/ 0 h 45086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  <a:cxn ang="0">
                <a:pos x="connsiteX17-67" y="connsiteY17-68"/>
              </a:cxn>
            </a:cxnLst>
            <a:rect l="l" t="t" r="r" b="b"/>
            <a:pathLst>
              <a:path w="6833319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76058"/>
                </a:lnTo>
                <a:lnTo>
                  <a:pt x="6762786" y="2476058"/>
                </a:ln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403147"/>
                </a:lnTo>
                <a:lnTo>
                  <a:pt x="6833319" y="3394844"/>
                </a:lnTo>
                <a:cubicBezTo>
                  <a:pt x="6832151" y="3759185"/>
                  <a:pt x="6827481" y="4144285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32784" y="3877729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谢 谢</a:t>
            </a:r>
          </a:p>
        </p:txBody>
      </p:sp>
      <p:sp>
        <p:nvSpPr>
          <p:cNvPr id="4" name="任意多边形: 形状 3"/>
          <p:cNvSpPr/>
          <p:nvPr/>
        </p:nvSpPr>
        <p:spPr>
          <a:xfrm rot="10800000">
            <a:off x="3262047" y="1130497"/>
            <a:ext cx="8258441" cy="4597885"/>
          </a:xfrm>
          <a:custGeom>
            <a:avLst/>
            <a:gdLst>
              <a:gd name="connsiteX0" fmla="*/ 6762786 w 6826313"/>
              <a:gd name="connsiteY0" fmla="*/ 1876457 h 4508626"/>
              <a:gd name="connsiteX1" fmla="*/ 6826313 w 6826313"/>
              <a:gd name="connsiteY1" fmla="*/ 1876457 h 4508626"/>
              <a:gd name="connsiteX2" fmla="*/ 6826313 w 6826313"/>
              <a:gd name="connsiteY2" fmla="*/ 2139756 h 4508626"/>
              <a:gd name="connsiteX3" fmla="*/ 6762786 w 6826313"/>
              <a:gd name="connsiteY3" fmla="*/ 2139756 h 4508626"/>
              <a:gd name="connsiteX4" fmla="*/ 0 w 6826313"/>
              <a:gd name="connsiteY4" fmla="*/ 0 h 4508626"/>
              <a:gd name="connsiteX5" fmla="*/ 6826313 w 6826313"/>
              <a:gd name="connsiteY5" fmla="*/ 0 h 4508626"/>
              <a:gd name="connsiteX6" fmla="*/ 6826313 w 6826313"/>
              <a:gd name="connsiteY6" fmla="*/ 959382 h 4508626"/>
              <a:gd name="connsiteX7" fmla="*/ 6762786 w 6826313"/>
              <a:gd name="connsiteY7" fmla="*/ 959382 h 4508626"/>
              <a:gd name="connsiteX8" fmla="*/ 6762786 w 6826313"/>
              <a:gd name="connsiteY8" fmla="*/ 63527 h 4508626"/>
              <a:gd name="connsiteX9" fmla="*/ 63527 w 6826313"/>
              <a:gd name="connsiteY9" fmla="*/ 63527 h 4508626"/>
              <a:gd name="connsiteX10" fmla="*/ 63527 w 6826313"/>
              <a:gd name="connsiteY10" fmla="*/ 4445099 h 4508626"/>
              <a:gd name="connsiteX11" fmla="*/ 6762786 w 6826313"/>
              <a:gd name="connsiteY11" fmla="*/ 4445099 h 4508626"/>
              <a:gd name="connsiteX12" fmla="*/ 6762786 w 6826313"/>
              <a:gd name="connsiteY12" fmla="*/ 3756057 h 4508626"/>
              <a:gd name="connsiteX13" fmla="*/ 6826313 w 6826313"/>
              <a:gd name="connsiteY13" fmla="*/ 3756057 h 4508626"/>
              <a:gd name="connsiteX14" fmla="*/ 6826313 w 6826313"/>
              <a:gd name="connsiteY14" fmla="*/ 4508626 h 4508626"/>
              <a:gd name="connsiteX15" fmla="*/ 0 w 6826313"/>
              <a:gd name="connsiteY15" fmla="*/ 4508626 h 4508626"/>
              <a:gd name="connsiteX0-1" fmla="*/ 6762786 w 6826313"/>
              <a:gd name="connsiteY0-2" fmla="*/ 1876457 h 4508626"/>
              <a:gd name="connsiteX1-3" fmla="*/ 6826313 w 6826313"/>
              <a:gd name="connsiteY1-4" fmla="*/ 1876457 h 4508626"/>
              <a:gd name="connsiteX2-5" fmla="*/ 6826313 w 6826313"/>
              <a:gd name="connsiteY2-6" fmla="*/ 2476058 h 4508626"/>
              <a:gd name="connsiteX3-7" fmla="*/ 6762786 w 6826313"/>
              <a:gd name="connsiteY3-8" fmla="*/ 2139756 h 4508626"/>
              <a:gd name="connsiteX4-9" fmla="*/ 6762786 w 6826313"/>
              <a:gd name="connsiteY4-10" fmla="*/ 1876457 h 4508626"/>
              <a:gd name="connsiteX5-11" fmla="*/ 0 w 6826313"/>
              <a:gd name="connsiteY5-12" fmla="*/ 0 h 4508626"/>
              <a:gd name="connsiteX6-13" fmla="*/ 6826313 w 6826313"/>
              <a:gd name="connsiteY6-14" fmla="*/ 0 h 4508626"/>
              <a:gd name="connsiteX7-15" fmla="*/ 6826313 w 6826313"/>
              <a:gd name="connsiteY7-16" fmla="*/ 959382 h 4508626"/>
              <a:gd name="connsiteX8-17" fmla="*/ 6762786 w 6826313"/>
              <a:gd name="connsiteY8-18" fmla="*/ 959382 h 4508626"/>
              <a:gd name="connsiteX9-19" fmla="*/ 6762786 w 6826313"/>
              <a:gd name="connsiteY9-20" fmla="*/ 63527 h 4508626"/>
              <a:gd name="connsiteX10-21" fmla="*/ 63527 w 6826313"/>
              <a:gd name="connsiteY10-22" fmla="*/ 63527 h 4508626"/>
              <a:gd name="connsiteX11-23" fmla="*/ 63527 w 6826313"/>
              <a:gd name="connsiteY11-24" fmla="*/ 4445099 h 4508626"/>
              <a:gd name="connsiteX12-25" fmla="*/ 6762786 w 6826313"/>
              <a:gd name="connsiteY12-26" fmla="*/ 4445099 h 4508626"/>
              <a:gd name="connsiteX13-27" fmla="*/ 6762786 w 6826313"/>
              <a:gd name="connsiteY13-28" fmla="*/ 3756057 h 4508626"/>
              <a:gd name="connsiteX14-29" fmla="*/ 6826313 w 6826313"/>
              <a:gd name="connsiteY14-30" fmla="*/ 3756057 h 4508626"/>
              <a:gd name="connsiteX15-31" fmla="*/ 6826313 w 6826313"/>
              <a:gd name="connsiteY15-32" fmla="*/ 4508626 h 4508626"/>
              <a:gd name="connsiteX16" fmla="*/ 0 w 6826313"/>
              <a:gd name="connsiteY16" fmla="*/ 4508626 h 4508626"/>
              <a:gd name="connsiteX17" fmla="*/ 0 w 6826313"/>
              <a:gd name="connsiteY17" fmla="*/ 0 h 4508626"/>
              <a:gd name="connsiteX0-33" fmla="*/ 6762786 w 6826313"/>
              <a:gd name="connsiteY0-34" fmla="*/ 1876457 h 4508626"/>
              <a:gd name="connsiteX1-35" fmla="*/ 6826313 w 6826313"/>
              <a:gd name="connsiteY1-36" fmla="*/ 1876457 h 4508626"/>
              <a:gd name="connsiteX2-37" fmla="*/ 6826313 w 6826313"/>
              <a:gd name="connsiteY2-38" fmla="*/ 2476058 h 4508626"/>
              <a:gd name="connsiteX3-39" fmla="*/ 6762786 w 6826313"/>
              <a:gd name="connsiteY3-40" fmla="*/ 2455298 h 4508626"/>
              <a:gd name="connsiteX4-41" fmla="*/ 6762786 w 6826313"/>
              <a:gd name="connsiteY4-42" fmla="*/ 1876457 h 4508626"/>
              <a:gd name="connsiteX5-43" fmla="*/ 0 w 6826313"/>
              <a:gd name="connsiteY5-44" fmla="*/ 0 h 4508626"/>
              <a:gd name="connsiteX6-45" fmla="*/ 6826313 w 6826313"/>
              <a:gd name="connsiteY6-46" fmla="*/ 0 h 4508626"/>
              <a:gd name="connsiteX7-47" fmla="*/ 6826313 w 6826313"/>
              <a:gd name="connsiteY7-48" fmla="*/ 959382 h 4508626"/>
              <a:gd name="connsiteX8-49" fmla="*/ 6762786 w 6826313"/>
              <a:gd name="connsiteY8-50" fmla="*/ 959382 h 4508626"/>
              <a:gd name="connsiteX9-51" fmla="*/ 6762786 w 6826313"/>
              <a:gd name="connsiteY9-52" fmla="*/ 63527 h 4508626"/>
              <a:gd name="connsiteX10-53" fmla="*/ 63527 w 6826313"/>
              <a:gd name="connsiteY10-54" fmla="*/ 63527 h 4508626"/>
              <a:gd name="connsiteX11-55" fmla="*/ 63527 w 6826313"/>
              <a:gd name="connsiteY11-56" fmla="*/ 4445099 h 4508626"/>
              <a:gd name="connsiteX12-57" fmla="*/ 6762786 w 6826313"/>
              <a:gd name="connsiteY12-58" fmla="*/ 4445099 h 4508626"/>
              <a:gd name="connsiteX13-59" fmla="*/ 6762786 w 6826313"/>
              <a:gd name="connsiteY13-60" fmla="*/ 3756057 h 4508626"/>
              <a:gd name="connsiteX14-61" fmla="*/ 6826313 w 6826313"/>
              <a:gd name="connsiteY14-62" fmla="*/ 3756057 h 4508626"/>
              <a:gd name="connsiteX15-63" fmla="*/ 6826313 w 6826313"/>
              <a:gd name="connsiteY15-64" fmla="*/ 4508626 h 4508626"/>
              <a:gd name="connsiteX16-65" fmla="*/ 0 w 6826313"/>
              <a:gd name="connsiteY16-66" fmla="*/ 4508626 h 4508626"/>
              <a:gd name="connsiteX17-67" fmla="*/ 0 w 6826313"/>
              <a:gd name="connsiteY17-68" fmla="*/ 0 h 4508626"/>
              <a:gd name="connsiteX0-69" fmla="*/ 6762786 w 6826313"/>
              <a:gd name="connsiteY0-70" fmla="*/ 1876457 h 4508626"/>
              <a:gd name="connsiteX1-71" fmla="*/ 6826313 w 6826313"/>
              <a:gd name="connsiteY1-72" fmla="*/ 1876457 h 4508626"/>
              <a:gd name="connsiteX2-73" fmla="*/ 6826313 w 6826313"/>
              <a:gd name="connsiteY2-74" fmla="*/ 2476058 h 4508626"/>
              <a:gd name="connsiteX3-75" fmla="*/ 6762786 w 6826313"/>
              <a:gd name="connsiteY3-76" fmla="*/ 2476058 h 4508626"/>
              <a:gd name="connsiteX4-77" fmla="*/ 6762786 w 6826313"/>
              <a:gd name="connsiteY4-78" fmla="*/ 1876457 h 4508626"/>
              <a:gd name="connsiteX5-79" fmla="*/ 0 w 6826313"/>
              <a:gd name="connsiteY5-80" fmla="*/ 0 h 4508626"/>
              <a:gd name="connsiteX6-81" fmla="*/ 6826313 w 6826313"/>
              <a:gd name="connsiteY6-82" fmla="*/ 0 h 4508626"/>
              <a:gd name="connsiteX7-83" fmla="*/ 6826313 w 6826313"/>
              <a:gd name="connsiteY7-84" fmla="*/ 959382 h 4508626"/>
              <a:gd name="connsiteX8-85" fmla="*/ 6762786 w 6826313"/>
              <a:gd name="connsiteY8-86" fmla="*/ 959382 h 4508626"/>
              <a:gd name="connsiteX9-87" fmla="*/ 6762786 w 6826313"/>
              <a:gd name="connsiteY9-88" fmla="*/ 63527 h 4508626"/>
              <a:gd name="connsiteX10-89" fmla="*/ 63527 w 6826313"/>
              <a:gd name="connsiteY10-90" fmla="*/ 63527 h 4508626"/>
              <a:gd name="connsiteX11-91" fmla="*/ 63527 w 6826313"/>
              <a:gd name="connsiteY11-92" fmla="*/ 4445099 h 4508626"/>
              <a:gd name="connsiteX12-93" fmla="*/ 6762786 w 6826313"/>
              <a:gd name="connsiteY12-94" fmla="*/ 4445099 h 4508626"/>
              <a:gd name="connsiteX13-95" fmla="*/ 6762786 w 6826313"/>
              <a:gd name="connsiteY13-96" fmla="*/ 3756057 h 4508626"/>
              <a:gd name="connsiteX14-97" fmla="*/ 6826313 w 6826313"/>
              <a:gd name="connsiteY14-98" fmla="*/ 3756057 h 4508626"/>
              <a:gd name="connsiteX15-99" fmla="*/ 6826313 w 6826313"/>
              <a:gd name="connsiteY15-100" fmla="*/ 4508626 h 4508626"/>
              <a:gd name="connsiteX16-101" fmla="*/ 0 w 6826313"/>
              <a:gd name="connsiteY16-102" fmla="*/ 4508626 h 4508626"/>
              <a:gd name="connsiteX17-103" fmla="*/ 0 w 6826313"/>
              <a:gd name="connsiteY17-104" fmla="*/ 0 h 4508626"/>
              <a:gd name="connsiteX0-105" fmla="*/ 6762786 w 6826313"/>
              <a:gd name="connsiteY0-106" fmla="*/ 1876457 h 4508626"/>
              <a:gd name="connsiteX1-107" fmla="*/ 6826313 w 6826313"/>
              <a:gd name="connsiteY1-108" fmla="*/ 1876457 h 4508626"/>
              <a:gd name="connsiteX2-109" fmla="*/ 6826313 w 6826313"/>
              <a:gd name="connsiteY2-110" fmla="*/ 2476058 h 4508626"/>
              <a:gd name="connsiteX3-111" fmla="*/ 6762786 w 6826313"/>
              <a:gd name="connsiteY3-112" fmla="*/ 2476058 h 4508626"/>
              <a:gd name="connsiteX4-113" fmla="*/ 6762786 w 6826313"/>
              <a:gd name="connsiteY4-114" fmla="*/ 1876457 h 4508626"/>
              <a:gd name="connsiteX5-115" fmla="*/ 0 w 6826313"/>
              <a:gd name="connsiteY5-116" fmla="*/ 0 h 4508626"/>
              <a:gd name="connsiteX6-117" fmla="*/ 6826313 w 6826313"/>
              <a:gd name="connsiteY6-118" fmla="*/ 0 h 4508626"/>
              <a:gd name="connsiteX7-119" fmla="*/ 6826313 w 6826313"/>
              <a:gd name="connsiteY7-120" fmla="*/ 959382 h 4508626"/>
              <a:gd name="connsiteX8-121" fmla="*/ 6762786 w 6826313"/>
              <a:gd name="connsiteY8-122" fmla="*/ 959382 h 4508626"/>
              <a:gd name="connsiteX9-123" fmla="*/ 6762786 w 6826313"/>
              <a:gd name="connsiteY9-124" fmla="*/ 63527 h 4508626"/>
              <a:gd name="connsiteX10-125" fmla="*/ 63527 w 6826313"/>
              <a:gd name="connsiteY10-126" fmla="*/ 63527 h 4508626"/>
              <a:gd name="connsiteX11-127" fmla="*/ 63527 w 6826313"/>
              <a:gd name="connsiteY11-128" fmla="*/ 4445099 h 4508626"/>
              <a:gd name="connsiteX12-129" fmla="*/ 6762786 w 6826313"/>
              <a:gd name="connsiteY12-130" fmla="*/ 4445099 h 4508626"/>
              <a:gd name="connsiteX13-131" fmla="*/ 6762786 w 6826313"/>
              <a:gd name="connsiteY13-132" fmla="*/ 3403147 h 4508626"/>
              <a:gd name="connsiteX14-133" fmla="*/ 6826313 w 6826313"/>
              <a:gd name="connsiteY14-134" fmla="*/ 3756057 h 4508626"/>
              <a:gd name="connsiteX15-135" fmla="*/ 6826313 w 6826313"/>
              <a:gd name="connsiteY15-136" fmla="*/ 4508626 h 4508626"/>
              <a:gd name="connsiteX16-137" fmla="*/ 0 w 6826313"/>
              <a:gd name="connsiteY16-138" fmla="*/ 4508626 h 4508626"/>
              <a:gd name="connsiteX17-139" fmla="*/ 0 w 6826313"/>
              <a:gd name="connsiteY17-140" fmla="*/ 0 h 4508626"/>
              <a:gd name="connsiteX0-141" fmla="*/ 6762786 w 6829816"/>
              <a:gd name="connsiteY0-142" fmla="*/ 1876457 h 4508626"/>
              <a:gd name="connsiteX1-143" fmla="*/ 6826313 w 6829816"/>
              <a:gd name="connsiteY1-144" fmla="*/ 1876457 h 4508626"/>
              <a:gd name="connsiteX2-145" fmla="*/ 6826313 w 6829816"/>
              <a:gd name="connsiteY2-146" fmla="*/ 2476058 h 4508626"/>
              <a:gd name="connsiteX3-147" fmla="*/ 6762786 w 6829816"/>
              <a:gd name="connsiteY3-148" fmla="*/ 2476058 h 4508626"/>
              <a:gd name="connsiteX4-149" fmla="*/ 6762786 w 6829816"/>
              <a:gd name="connsiteY4-150" fmla="*/ 1876457 h 4508626"/>
              <a:gd name="connsiteX5-151" fmla="*/ 0 w 6829816"/>
              <a:gd name="connsiteY5-152" fmla="*/ 0 h 4508626"/>
              <a:gd name="connsiteX6-153" fmla="*/ 6826313 w 6829816"/>
              <a:gd name="connsiteY6-154" fmla="*/ 0 h 4508626"/>
              <a:gd name="connsiteX7-155" fmla="*/ 6826313 w 6829816"/>
              <a:gd name="connsiteY7-156" fmla="*/ 959382 h 4508626"/>
              <a:gd name="connsiteX8-157" fmla="*/ 6762786 w 6829816"/>
              <a:gd name="connsiteY8-158" fmla="*/ 959382 h 4508626"/>
              <a:gd name="connsiteX9-159" fmla="*/ 6762786 w 6829816"/>
              <a:gd name="connsiteY9-160" fmla="*/ 63527 h 4508626"/>
              <a:gd name="connsiteX10-161" fmla="*/ 63527 w 6829816"/>
              <a:gd name="connsiteY10-162" fmla="*/ 63527 h 4508626"/>
              <a:gd name="connsiteX11-163" fmla="*/ 63527 w 6829816"/>
              <a:gd name="connsiteY11-164" fmla="*/ 4445099 h 4508626"/>
              <a:gd name="connsiteX12-165" fmla="*/ 6762786 w 6829816"/>
              <a:gd name="connsiteY12-166" fmla="*/ 4445099 h 4508626"/>
              <a:gd name="connsiteX13-167" fmla="*/ 6762786 w 6829816"/>
              <a:gd name="connsiteY13-168" fmla="*/ 3403147 h 4508626"/>
              <a:gd name="connsiteX14-169" fmla="*/ 6829816 w 6829816"/>
              <a:gd name="connsiteY14-170" fmla="*/ 3415603 h 4508626"/>
              <a:gd name="connsiteX15-171" fmla="*/ 6826313 w 6829816"/>
              <a:gd name="connsiteY15-172" fmla="*/ 4508626 h 4508626"/>
              <a:gd name="connsiteX16-173" fmla="*/ 0 w 6829816"/>
              <a:gd name="connsiteY16-174" fmla="*/ 4508626 h 4508626"/>
              <a:gd name="connsiteX17-175" fmla="*/ 0 w 6829816"/>
              <a:gd name="connsiteY17-176" fmla="*/ 0 h 4508626"/>
              <a:gd name="connsiteX0-177" fmla="*/ 6762786 w 6833319"/>
              <a:gd name="connsiteY0-178" fmla="*/ 1876457 h 4508626"/>
              <a:gd name="connsiteX1-179" fmla="*/ 6826313 w 6833319"/>
              <a:gd name="connsiteY1-180" fmla="*/ 1876457 h 4508626"/>
              <a:gd name="connsiteX2-181" fmla="*/ 6826313 w 6833319"/>
              <a:gd name="connsiteY2-182" fmla="*/ 2476058 h 4508626"/>
              <a:gd name="connsiteX3-183" fmla="*/ 6762786 w 6833319"/>
              <a:gd name="connsiteY3-184" fmla="*/ 2476058 h 4508626"/>
              <a:gd name="connsiteX4-185" fmla="*/ 6762786 w 6833319"/>
              <a:gd name="connsiteY4-186" fmla="*/ 1876457 h 4508626"/>
              <a:gd name="connsiteX5-187" fmla="*/ 0 w 6833319"/>
              <a:gd name="connsiteY5-188" fmla="*/ 0 h 4508626"/>
              <a:gd name="connsiteX6-189" fmla="*/ 6826313 w 6833319"/>
              <a:gd name="connsiteY6-190" fmla="*/ 0 h 4508626"/>
              <a:gd name="connsiteX7-191" fmla="*/ 6826313 w 6833319"/>
              <a:gd name="connsiteY7-192" fmla="*/ 959382 h 4508626"/>
              <a:gd name="connsiteX8-193" fmla="*/ 6762786 w 6833319"/>
              <a:gd name="connsiteY8-194" fmla="*/ 959382 h 4508626"/>
              <a:gd name="connsiteX9-195" fmla="*/ 6762786 w 6833319"/>
              <a:gd name="connsiteY9-196" fmla="*/ 63527 h 4508626"/>
              <a:gd name="connsiteX10-197" fmla="*/ 63527 w 6833319"/>
              <a:gd name="connsiteY10-198" fmla="*/ 63527 h 4508626"/>
              <a:gd name="connsiteX11-199" fmla="*/ 63527 w 6833319"/>
              <a:gd name="connsiteY11-200" fmla="*/ 4445099 h 4508626"/>
              <a:gd name="connsiteX12-201" fmla="*/ 6762786 w 6833319"/>
              <a:gd name="connsiteY12-202" fmla="*/ 4445099 h 4508626"/>
              <a:gd name="connsiteX13-203" fmla="*/ 6762786 w 6833319"/>
              <a:gd name="connsiteY13-204" fmla="*/ 3403147 h 4508626"/>
              <a:gd name="connsiteX14-205" fmla="*/ 6833319 w 6833319"/>
              <a:gd name="connsiteY14-206" fmla="*/ 3394844 h 4508626"/>
              <a:gd name="connsiteX15-207" fmla="*/ 6826313 w 6833319"/>
              <a:gd name="connsiteY15-208" fmla="*/ 4508626 h 4508626"/>
              <a:gd name="connsiteX16-209" fmla="*/ 0 w 6833319"/>
              <a:gd name="connsiteY16-210" fmla="*/ 4508626 h 4508626"/>
              <a:gd name="connsiteX17-211" fmla="*/ 0 w 6833319"/>
              <a:gd name="connsiteY17-212" fmla="*/ 0 h 45086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  <a:cxn ang="0">
                <a:pos x="connsiteX17-67" y="connsiteY17-68"/>
              </a:cxn>
            </a:cxnLst>
            <a:rect l="l" t="t" r="r" b="b"/>
            <a:pathLst>
              <a:path w="6833319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76058"/>
                </a:lnTo>
                <a:lnTo>
                  <a:pt x="6762786" y="2476058"/>
                </a:ln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403147"/>
                </a:lnTo>
                <a:lnTo>
                  <a:pt x="6833319" y="3394844"/>
                </a:lnTo>
                <a:cubicBezTo>
                  <a:pt x="6832151" y="3759185"/>
                  <a:pt x="6827481" y="4144285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E3937A-FC90-DB01-9C81-52F1C4D98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1844" y="162513"/>
            <a:ext cx="3136701" cy="91217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C6A1F5E-6ABA-1D3D-69A3-DFDE7E35CDAB}"/>
              </a:ext>
            </a:extLst>
          </p:cNvPr>
          <p:cNvPicPr>
            <a:picLocks/>
          </p:cNvPicPr>
          <p:nvPr/>
        </p:nvPicPr>
        <p:blipFill>
          <a:blip r:embed="rId6"/>
          <a:srcRect l="27303" t="2467" r="35700" b="3811"/>
          <a:stretch>
            <a:fillRect/>
          </a:stretch>
        </p:blipFill>
        <p:spPr>
          <a:xfrm>
            <a:off x="7815438" y="1277173"/>
            <a:ext cx="3415554" cy="4303651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5.01.14"/>
  <p:tag name="AS_TITLE" val="Aspose.Slides for .NET 4.0 Client Profile"/>
  <p:tag name="AS_VERSION" val="25.1"/>
  <p:tag name="OPCH-4DEDAFCD27445B8C7E8D6285B349EEB2B13006D50D010FC2810D93038F16A2B8" val="[{&quot;GradientColorId&quot;:&quot;&quot;,&quot;IsFree&quot;:true,&quot;IsGradient&quot;:false,&quot;ImagePath&quot;:&quot;&quot;,&quot;GradientColor&quot;:null,&quot;SimpleColor&quot;:&quot;#0070C0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vecto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vector"/>
</p:tagLst>
</file>

<file path=ppt/theme/theme1.xml><?xml version="1.0" encoding="utf-8"?>
<a:theme xmlns:a="http://schemas.openxmlformats.org/drawingml/2006/main" name="Office Theme">
  <a:themeElements>
    <a:clrScheme name="浙大蓝色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003E87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2808</TotalTime>
  <Words>3122</Words>
  <Application>Microsoft Office PowerPoint</Application>
  <PresentationFormat>宽屏</PresentationFormat>
  <Paragraphs>527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HarmonyOS Sans SC</vt:lpstr>
      <vt:lpstr>等线</vt:lpstr>
      <vt:lpstr>微软雅黑</vt:lpstr>
      <vt:lpstr>Arial</vt:lpstr>
      <vt:lpstr>Calibri</vt:lpstr>
      <vt:lpstr>Calibri Light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雨杉 冀</cp:lastModifiedBy>
  <cp:revision>1029</cp:revision>
  <cp:lastPrinted>2023-12-14T09:48:00Z</cp:lastPrinted>
  <dcterms:created xsi:type="dcterms:W3CDTF">2019-10-11T01:48:00Z</dcterms:created>
  <dcterms:modified xsi:type="dcterms:W3CDTF">2026-05-25T18:29:00Z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4906065B6EC44E2087E3D933E1C47C3B</vt:lpwstr>
  </property>
  <property fmtid="{D5CDD505-2E9C-101B-9397-08002B2CF9AE}" pid="3" name="KSOProductBuildVer">
    <vt:lpwstr>2052-12.1.0.23125</vt:lpwstr>
  </property>
</Properties>
</file>